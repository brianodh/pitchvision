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Stoke – Huddersfield</c:v>
                </c:pt>
              </c:strCache>
            </c:strRef>
          </c:tx>
          <c:spPr>
            <a:solidFill>
              <a:srgbClr val="0E6E6B"/>
            </a:solidFill>
            <a:effectLst/>
          </c:spPr>
          <c:invertIfNegative val="0"/>
          <c:dLbls>
            <c:numFmt formatCode="0.000" sourceLinked="0"/>
            <c:txPr>
              <a:bodyPr/>
              <a:lstStyle/>
              <a:p>
                <a:pPr>
                  <a:defRPr b="1" i="0" strike="noStrike" sz="1050" u="none">
                    <a:solidFill>
                      <a:srgbClr val="15171C"/>
                    </a:solidFill>
                    <a:latin typeface="Arial"/>
                  </a:defRPr>
                </a:pPr>
              </a:p>
            </c:txPr>
            <c:showLegendKey val="0"/>
            <c:showVal val="1"/>
            <c:showCatName val="0"/>
            <c:showSerName val="0"/>
            <c:showPercent val="0"/>
            <c:showBubbleSize val="0"/>
            <c:showLeaderLines val="0"/>
          </c:dLbls>
          <c:cat>
            <c:multiLvlStrRef>
              <c:f>Sheet1!$A$2:$A$4</c:f>
              <c:multiLvlStrCache>
                <c:ptCount val="3"/>
                <c:lvl>
                  <c:pt idx="0">
                    <c:v>7 seconds</c:v>
                  </c:pt>
                  <c:pt idx="1">
                    <c:v>15 seconds</c:v>
                  </c:pt>
                  <c:pt idx="2">
                    <c:v>31 seconds</c:v>
                  </c:pt>
                </c:lvl>
              </c:multiLvlStrCache>
            </c:multiLvlStrRef>
          </c:cat>
          <c:val>
            <c:numRef>
              <c:f>Sheet1!$B$2:$B$4</c:f>
              <c:numCache>
                <c:formatCode>General</c:formatCode>
                <c:ptCount val="3"/>
                <c:pt idx="0">
                  <c:v>0.309</c:v>
                </c:pt>
                <c:pt idx="1">
                  <c:v>0.226</c:v>
                </c:pt>
                <c:pt idx="2">
                  <c:v>0.213</c:v>
                </c:pt>
              </c:numCache>
            </c:numRef>
          </c:val>
        </c:ser>
        <c:ser>
          <c:idx val="1"/>
          <c:order val="1"/>
          <c:tx>
            <c:strRef>
              <c:f>Sheet1!$C$1</c:f>
              <c:strCache>
                <c:ptCount val="1"/>
                <c:pt idx="0">
                  <c:v>Reading – Fulham</c:v>
                </c:pt>
              </c:strCache>
            </c:strRef>
          </c:tx>
          <c:spPr>
            <a:solidFill>
              <a:srgbClr val="7FB2AF"/>
            </a:solidFill>
            <a:effectLst/>
          </c:spPr>
          <c:invertIfNegative val="0"/>
          <c:dLbls>
            <c:numFmt formatCode="0.000" sourceLinked="0"/>
            <c:txPr>
              <a:bodyPr/>
              <a:lstStyle/>
              <a:p>
                <a:pPr>
                  <a:defRPr b="1" i="0" strike="noStrike" sz="1050" u="none">
                    <a:solidFill>
                      <a:srgbClr val="15171C"/>
                    </a:solidFill>
                    <a:latin typeface="Arial"/>
                  </a:defRPr>
                </a:pPr>
              </a:p>
            </c:txPr>
            <c:showLegendKey val="0"/>
            <c:showVal val="1"/>
            <c:showCatName val="0"/>
            <c:showSerName val="0"/>
            <c:showPercent val="0"/>
            <c:showBubbleSize val="0"/>
            <c:showLeaderLines val="0"/>
          </c:dLbls>
          <c:cat>
            <c:multiLvlStrRef>
              <c:f>Sheet1!$A$2:$A$4</c:f>
              <c:multiLvlStrCache>
                <c:ptCount val="3"/>
                <c:lvl>
                  <c:pt idx="0">
                    <c:v>7 seconds</c:v>
                  </c:pt>
                  <c:pt idx="1">
                    <c:v>15 seconds</c:v>
                  </c:pt>
                  <c:pt idx="2">
                    <c:v>31 seconds</c:v>
                  </c:pt>
                </c:lvl>
              </c:multiLvlStrCache>
            </c:multiLvlStrRef>
          </c:cat>
          <c:val>
            <c:numRef>
              <c:f>Sheet1!$C$2:$C$4</c:f>
              <c:numCache>
                <c:formatCode>General</c:formatCode>
                <c:ptCount val="3"/>
                <c:pt idx="0">
                  <c:v>0.281</c:v>
                </c:pt>
                <c:pt idx="1">
                  <c:v>0.247</c:v>
                </c:pt>
                <c:pt idx="2">
                  <c:v>0.248</c:v>
                </c:pt>
              </c:numCache>
            </c:numRef>
          </c:val>
        </c:ser>
        <c:dLbls>
          <c:numFmt formatCode="0.000" sourceLinked="0"/>
          <c:txPr>
            <a:bodyPr/>
            <a:lstStyle/>
            <a:p>
              <a:pPr>
                <a:defRPr b="1" i="0" strike="noStrike" sz="1050" u="none">
                  <a:solidFill>
                    <a:srgbClr val="15171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1" i="0" u="none" strike="noStrike">
                <a:solidFill>
                  <a:srgbClr val="15171C"/>
                </a:solidFill>
                <a:latin typeface="Arial"/>
              </a:defRPr>
            </a:pPr>
            <a:endParaRPr lang="en-US"/>
          </a:p>
        </c:txPr>
        <c:crossAx val="2094734552"/>
        <c:crosses val="autoZero"/>
        <c:auto val="1"/>
        <c:lblAlgn val="ctr"/>
        <c:noMultiLvlLbl val="1"/>
      </c:catAx>
      <c:valAx>
        <c:axId val="2094734552"/>
        <c:scaling>
          <c:orientation val="minMax"/>
          <c:max val="0.36"/>
          <c:min val="0"/>
        </c:scaling>
        <c:delete val="0"/>
        <c:axPos val="l"/>
        <c:majorGridlines>
          <c:spPr>
            <a:ln w="9525" cap="flat">
              <a:solidFill>
                <a:srgbClr val="DCD6C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A6E7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A6E77"/>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CLIFFORD | 0:00-0:31
Good afternoon, judges. We're Team PitchVision. In the next ten minutes: the problem, the question we set out to answer, how we tested it honestly, what we found, and then we'll run it live on a match it has never seen. The one-line version: we built an AI that watches a football match and tells you exactly when each thing happened, so nobody has to sit through ninety minutes to find three moments.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CLIFFORD | 0:31-1:22
Here's the problem in plain terms. A football match lasts ninety minutes. The parts anyone cares about add up to about ninety seconds. Somebody already filmed it, usually on one sideline camera or a parent's phone, but nobody has time to watch it again. A coach wants the dozen moments that decide next Saturday, and finding them means dragging a slider back and forth for an hour. Parents want the clip where their team scored, and what they get is a ninety-minute file, so they watch none of it. Professional clubs pay people to tag every pass by hand. Grassroots clubs go without. The footage already exists. What's missing is any way to find the moments inside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CLIFFORD | 1:22-2:18
So here's the task. The model looks at one frame every second, and for each second answers one question: did something happen right here, and which of twelve things was it — a pass, a shot, a tackle, a throw-in. What comes out is a timestamped list: a table of contents for a football match. That led us to the question we actually studied. How much video either side of a moment should the model look at, in order to place that moment accurately? Our hunch was that a short look keeps the timing sharp, while a long look buries the moment in everything around it — like being asked what happened at one exact second and answering by summarising the whole minute. Phanice will take you through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PHANICE | 2:18-3:31
Thanks Clifford. The model is simpler than people expect. It does four things. It takes one frame a second. It turns that picture into a list of numbers describing what's in it, using a standard image model. Then — and this is the part our experiment changes — it looks at a window of a few seconds either side of the moment it's judging. Finally it scores each of the twelve event types for that second. The red box is the only thing we vary in the entire study: how wide that window is. What's striking is the size. The whole model is about two hundred thousand numbers — a single phone photo has more pixels than our model has parameters. One training run takes about eight seconds on a free Colab GPU, which is why we could afford fifteen of them. And it scores a match roughly twenty thousand times faster than real time. That matters: this has to run cheaply on ordinary hardware, or grassroots clubs can't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PHANICE | 3:31-4:32
Now the experiment. Good experiments change one thing and hold everything else still. We compared three settings: a short seven-second look, a fifteen-second baseline, and a long thirty-one-second look. Same footage, same settings, same training. Only the window changed. The data is real Championship broadcast matches, professionally labelled: four to learn from, one to check progress, and two we deliberately did not open until the very end. Three things kept us honest. Every setting was trained five separate times from different random starting points, so a result only counts if it holds up five times out of five. We compared every number against what pure random guessing scores on the same data, to be sure we were measuring skill. And those last two matches were opened exactly once, at the end, with no tuning afterwards. Kevin will tell you what came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 | 4:32-5:38
Thanks Phanice. These are the scores on the two matches the model had never seen. Higher is better. Teal is one match, lighter is the other, and the pattern is the same in both: seven seconds is clearly ahead, and it drops as the window gets longer. Three things. First, this held five times out of five on both unseen matches — not one lucky run. Second, and this is the number I'd point you to: pure guesswork scores about 0.23 here, and only the seven-second bars are meaningfully above it. The fifteen and thirty-one second models land level with random guessing on footage they've never seen. So the window isn't a minor tuning detail — it's the difference between a model that works and one that doesn't. Third, the advantage was biggest on the strictest test, pinning the exact second, which is what the product needs. So the answer is: less is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 | 5:38-6:52
Now what didn't work, because that matters as much. Three of our smaller claims did not survive that second unseen match. We expected the longest window to be clearly worse than baseline — true on one match, a tie on the other. We expected our advantage to be biggest on the strictest timing test — true on two matches, flat on the third. And we thought shorter windows would time events more precisely, but that reversed on the third match, so we dropped the claim from the report. We also caught a flaw in our own first scoring method: it was generous enough that even random guessing looked respectable. We fixed it and report both versions. None of this touches our main finding, which held everywhere. But we'd rather show you the cracks than have you find them. It's also why we published the random-guessing baseline next to every single number in the report, so anyone reading it can see exactly how much of our score is skill. Brian will show you it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BRIAN | 6:52-8:28
Thanks Kevin. Everything so far is research — let me show you what actually comes out the other end. I'm starting it now on a match the model was never trained on — just the first ten minutes, to keep us on time — and it will process while I talk. It's the same model as in the report, and nothing has been tuned for this clip. [START THE RUN]
While that works, here's why it matters commercially. One upload, and two very different people get something they can't get today. A coach or analyst gets a searchable timeline and simple statistics without rewatching ninety minutes to find three moments. Players, parents and fans get an automatic highlight reel and something shareable. We added that second audience deliberately: clubs already have tools, even expensive ones, but fans have nothing at all — and every clip a parent shares brings the next club to us.
[BACK TO THE SCREEN] And here it is. A timeline: each line is something the model spotted, with the moment it happened. The bar is the model's own score, and as the earlier slides showed, it isn't perfect. But instead of a ninety-minute file, you get a list you can jump around in. Let me filter it down to just the crosses — and there they are, each with a time you can go straight to.
--- DEMO (Brian) ---
Stay on this slide until [START THE RUN]; then switch to the Colab tab and run cell 4. [BACK TO THE SCREEN] = run cells 5 and 6 in Colab, then switch back to the deck and advance to slide 9. Stored-run fallback = cell 8. Full procedure: PitchVision_Demo_Runbook.md. Never debug on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BRIAN | 8:28-8:59
So that's the direction: one upload, two audiences, both currently getting nothing. As for what's next, three things. Our own trend line says we should try windows even shorter than seven seconds. We need more matches and more leagues to settle the questions our three couldn't. And critically, our footage is broadcast television, while the real goal is a phone on a tripod at a local ground. That's the gap we close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BRIAN | 8:59-9:18
So, to close: we asked how much context an action-spotting model needs, tested it across three matches and five repeats, and found that less context gives better timing on footage it had never seen. Thank you — we're happy to take your questions.
--- TOTAL ~9:18 at 140 wpm (9:38 at 135). Cap 10:00. Every presenter clears the 2-minute minimum.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hidden slide. Reach it in slideshow mode by typing 11 and pressing Enter. Use only if both the live run and the stored run fail. Paste the dry-run screenshots into it beforehand.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71C"/>
        </a:solidFill>
      </p:bgPr>
    </p:bg>
    <p:spTree>
      <p:nvGrpSpPr>
        <p:cNvPr id="1" name=""/>
        <p:cNvGrpSpPr/>
        <p:nvPr/>
      </p:nvGrpSpPr>
      <p:grpSpPr>
        <a:xfrm>
          <a:off x="0" y="0"/>
          <a:ext cx="0" cy="0"/>
          <a:chOff x="0" y="0"/>
          <a:chExt cx="0" cy="0"/>
        </a:xfrm>
      </p:grpSpPr>
      <p:sp>
        <p:nvSpPr>
          <p:cNvPr id="2" name="Text 0"/>
          <p:cNvSpPr txBox="1"/>
          <p:nvPr/>
        </p:nvSpPr>
        <p:spPr>
          <a:xfrm>
            <a:off x="11414455" y="6446520"/>
            <a:ext cx="365760" cy="274320"/>
          </a:xfrm>
          <a:prstGeom prst="rect">
            <a:avLst/>
          </a:prstGeom>
          <a:noFill/>
          <a:ln/>
        </p:spPr>
        <p:txBody>
          <a:bodyPr wrap="square" lIns="0" tIns="0" rIns="0" bIns="0" rtlCol="0" anchor="ctr"/>
          <a:lstStyle/>
          <a:p>
            <a:pPr algn="r" indent="0" marL="0">
              <a:buNone/>
            </a:pPr>
            <a:r>
              <a:rPr lang="en-US" sz="950" dirty="0">
                <a:solidFill>
                  <a:srgbClr val="6A6E77"/>
                </a:solidFill>
                <a:latin typeface="Calibri" pitchFamily="34" charset="0"/>
                <a:ea typeface="Calibri" pitchFamily="34" charset="-122"/>
                <a:cs typeface="Calibri" pitchFamily="34" charset="-120"/>
              </a:rPr>
              <a:t>1</a:t>
            </a:r>
            <a:endParaRPr lang="en-US" sz="950" dirty="0"/>
          </a:p>
        </p:txBody>
      </p:sp>
      <p:sp>
        <p:nvSpPr>
          <p:cNvPr id="3" name="Text 1"/>
          <p:cNvSpPr txBox="1"/>
          <p:nvPr/>
        </p:nvSpPr>
        <p:spPr>
          <a:xfrm>
            <a:off x="566928" y="6446520"/>
            <a:ext cx="2743200" cy="274320"/>
          </a:xfrm>
          <a:prstGeom prst="rect">
            <a:avLst/>
          </a:prstGeom>
          <a:noFill/>
          <a:ln/>
        </p:spPr>
        <p:txBody>
          <a:bodyPr wrap="square" lIns="0" tIns="0" rIns="0" bIns="0" rtlCol="0" anchor="ctr"/>
          <a:lstStyle/>
          <a:p>
            <a:pPr indent="0" marL="0">
              <a:buNone/>
            </a:pPr>
            <a:r>
              <a:rPr lang="en-US" sz="950" dirty="0">
                <a:solidFill>
                  <a:srgbClr val="6A6E77"/>
                </a:solidFill>
                <a:latin typeface="Calibri" pitchFamily="34" charset="0"/>
                <a:ea typeface="Calibri" pitchFamily="34" charset="-122"/>
                <a:cs typeface="Calibri" pitchFamily="34" charset="-120"/>
              </a:rPr>
              <a:t>PitchVision</a:t>
            </a:r>
            <a:endParaRPr lang="en-US" sz="950" dirty="0"/>
          </a:p>
        </p:txBody>
      </p:sp>
      <p:sp>
        <p:nvSpPr>
          <p:cNvPr id="5" name="Shape 2"/>
          <p:cNvSpPr/>
          <p:nvPr/>
        </p:nvSpPr>
        <p:spPr>
          <a:xfrm>
            <a:off x="0" y="0"/>
            <a:ext cx="164592" cy="6858000"/>
          </a:xfrm>
          <a:prstGeom prst="rect">
            <a:avLst/>
          </a:prstGeom>
          <a:solidFill>
            <a:srgbClr val="D6412F"/>
          </a:solidFill>
          <a:ln/>
        </p:spPr>
      </p:sp>
      <p:sp>
        <p:nvSpPr>
          <p:cNvPr id="6" name="Text 3"/>
          <p:cNvSpPr txBox="1"/>
          <p:nvPr/>
        </p:nvSpPr>
        <p:spPr>
          <a:xfrm>
            <a:off x="685800" y="640080"/>
            <a:ext cx="8229600" cy="365760"/>
          </a:xfrm>
          <a:prstGeom prst="rect">
            <a:avLst/>
          </a:prstGeom>
          <a:noFill/>
          <a:ln/>
        </p:spPr>
        <p:txBody>
          <a:bodyPr wrap="square" lIns="0" tIns="0" rIns="0" bIns="0" rtlCol="0" anchor="ctr"/>
          <a:lstStyle/>
          <a:p>
            <a:pPr indent="0" marL="0">
              <a:buNone/>
            </a:pPr>
            <a:r>
              <a:rPr lang="en-US" sz="1200" b="1" spc="250" kern="0" dirty="0">
                <a:solidFill>
                  <a:srgbClr val="D6412F"/>
                </a:solidFill>
                <a:latin typeface="Calibri" pitchFamily="34" charset="0"/>
                <a:ea typeface="Calibri" pitchFamily="34" charset="-122"/>
                <a:cs typeface="Calibri" pitchFamily="34" charset="-120"/>
              </a:rPr>
              <a:t>PARC 2026 AI LEAGUE   ·   FINAL PRESENTATION</a:t>
            </a:r>
            <a:endParaRPr lang="en-US" sz="1200" dirty="0"/>
          </a:p>
        </p:txBody>
      </p:sp>
      <p:sp>
        <p:nvSpPr>
          <p:cNvPr id="7" name="Text 4"/>
          <p:cNvSpPr txBox="1"/>
          <p:nvPr/>
        </p:nvSpPr>
        <p:spPr>
          <a:xfrm>
            <a:off x="658368" y="1828800"/>
            <a:ext cx="9144000" cy="1325880"/>
          </a:xfrm>
          <a:prstGeom prst="rect">
            <a:avLst/>
          </a:prstGeom>
          <a:noFill/>
          <a:ln/>
        </p:spPr>
        <p:txBody>
          <a:bodyPr wrap="square" lIns="0" tIns="0" rIns="0" bIns="0" rtlCol="0" anchor="ctr"/>
          <a:lstStyle/>
          <a:p>
            <a:pPr indent="0" marL="0">
              <a:buNone/>
            </a:pPr>
            <a:r>
              <a:rPr lang="en-US" sz="6200" b="1" dirty="0">
                <a:solidFill>
                  <a:srgbClr val="FFFFFF"/>
                </a:solidFill>
                <a:latin typeface="Trebuchet MS" pitchFamily="34" charset="0"/>
                <a:ea typeface="Trebuchet MS" pitchFamily="34" charset="-122"/>
                <a:cs typeface="Trebuchet MS" pitchFamily="34" charset="-120"/>
              </a:rPr>
              <a:t>PitchVision</a:t>
            </a:r>
            <a:endParaRPr lang="en-US" sz="6200" dirty="0"/>
          </a:p>
        </p:txBody>
      </p:sp>
      <p:sp>
        <p:nvSpPr>
          <p:cNvPr id="8" name="Text 5"/>
          <p:cNvSpPr txBox="1"/>
          <p:nvPr/>
        </p:nvSpPr>
        <p:spPr>
          <a:xfrm>
            <a:off x="685800" y="3108960"/>
            <a:ext cx="9601200" cy="640080"/>
          </a:xfrm>
          <a:prstGeom prst="rect">
            <a:avLst/>
          </a:prstGeom>
          <a:noFill/>
          <a:ln/>
        </p:spPr>
        <p:txBody>
          <a:bodyPr wrap="square" lIns="0" tIns="0" rIns="0" bIns="0" rtlCol="0" anchor="ctr"/>
          <a:lstStyle/>
          <a:p>
            <a:pPr indent="0" marL="0">
              <a:buNone/>
            </a:pPr>
            <a:r>
              <a:rPr lang="en-US" sz="1900" dirty="0">
                <a:solidFill>
                  <a:srgbClr val="D9D4CC"/>
                </a:solidFill>
                <a:latin typeface="Calibri" pitchFamily="34" charset="0"/>
                <a:ea typeface="Calibri" pitchFamily="34" charset="-122"/>
                <a:cs typeface="Calibri" pitchFamily="34" charset="-120"/>
              </a:rPr>
              <a:t>How much should an AI watch, to know exactly when something happened?</a:t>
            </a:r>
            <a:endParaRPr lang="en-US" sz="1900" dirty="0"/>
          </a:p>
        </p:txBody>
      </p:sp>
      <p:sp>
        <p:nvSpPr>
          <p:cNvPr id="9" name="Shape 6"/>
          <p:cNvSpPr/>
          <p:nvPr/>
        </p:nvSpPr>
        <p:spPr>
          <a:xfrm>
            <a:off x="685800" y="3977640"/>
            <a:ext cx="10789920" cy="10973"/>
          </a:xfrm>
          <a:prstGeom prst="rect">
            <a:avLst/>
          </a:prstGeom>
          <a:solidFill>
            <a:srgbClr val="3A3D45"/>
          </a:solidFill>
          <a:ln/>
        </p:spPr>
      </p:sp>
      <p:sp>
        <p:nvSpPr>
          <p:cNvPr id="10" name="Text 7"/>
          <p:cNvSpPr txBox="1"/>
          <p:nvPr/>
        </p:nvSpPr>
        <p:spPr>
          <a:xfrm>
            <a:off x="685800" y="4224528"/>
            <a:ext cx="25603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Brian Ouma</a:t>
            </a:r>
            <a:endParaRPr lang="en-US" sz="1300" dirty="0"/>
          </a:p>
        </p:txBody>
      </p:sp>
      <p:sp>
        <p:nvSpPr>
          <p:cNvPr id="11" name="Text 8"/>
          <p:cNvSpPr txBox="1"/>
          <p:nvPr/>
        </p:nvSpPr>
        <p:spPr>
          <a:xfrm>
            <a:off x="685800" y="4517136"/>
            <a:ext cx="2560320" cy="274320"/>
          </a:xfrm>
          <a:prstGeom prst="rect">
            <a:avLst/>
          </a:prstGeom>
          <a:noFill/>
          <a:ln/>
        </p:spPr>
        <p:txBody>
          <a:bodyPr wrap="square" lIns="0" tIns="0" rIns="0" bIns="0" rtlCol="0" anchor="ctr"/>
          <a:lstStyle/>
          <a:p>
            <a:pPr indent="0" marL="0">
              <a:buNone/>
            </a:pPr>
            <a:r>
              <a:rPr lang="en-US" sz="1050" dirty="0">
                <a:solidFill>
                  <a:srgbClr val="8D919A"/>
                </a:solidFill>
                <a:latin typeface="Calibri" pitchFamily="34" charset="0"/>
                <a:ea typeface="Calibri" pitchFamily="34" charset="-122"/>
                <a:cs typeface="Calibri" pitchFamily="34" charset="-120"/>
              </a:rPr>
              <a:t>Team &amp; AI Lead</a:t>
            </a:r>
            <a:endParaRPr lang="en-US" sz="1050" dirty="0"/>
          </a:p>
        </p:txBody>
      </p:sp>
      <p:sp>
        <p:nvSpPr>
          <p:cNvPr id="12" name="Text 9"/>
          <p:cNvSpPr txBox="1"/>
          <p:nvPr/>
        </p:nvSpPr>
        <p:spPr>
          <a:xfrm>
            <a:off x="3410712" y="4224528"/>
            <a:ext cx="25603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Phanice Amani</a:t>
            </a:r>
            <a:endParaRPr lang="en-US" sz="1300" dirty="0"/>
          </a:p>
        </p:txBody>
      </p:sp>
      <p:sp>
        <p:nvSpPr>
          <p:cNvPr id="13" name="Text 10"/>
          <p:cNvSpPr txBox="1"/>
          <p:nvPr/>
        </p:nvSpPr>
        <p:spPr>
          <a:xfrm>
            <a:off x="3410712" y="4517136"/>
            <a:ext cx="2560320" cy="274320"/>
          </a:xfrm>
          <a:prstGeom prst="rect">
            <a:avLst/>
          </a:prstGeom>
          <a:noFill/>
          <a:ln/>
        </p:spPr>
        <p:txBody>
          <a:bodyPr wrap="square" lIns="0" tIns="0" rIns="0" bIns="0" rtlCol="0" anchor="ctr"/>
          <a:lstStyle/>
          <a:p>
            <a:pPr indent="0" marL="0">
              <a:buNone/>
            </a:pPr>
            <a:r>
              <a:rPr lang="en-US" sz="1050" dirty="0">
                <a:solidFill>
                  <a:srgbClr val="8D919A"/>
                </a:solidFill>
                <a:latin typeface="Calibri" pitchFamily="34" charset="0"/>
                <a:ea typeface="Calibri" pitchFamily="34" charset="-122"/>
                <a:cs typeface="Calibri" pitchFamily="34" charset="-120"/>
              </a:rPr>
              <a:t>Data &amp; Evaluation</a:t>
            </a:r>
            <a:endParaRPr lang="en-US" sz="1050" dirty="0"/>
          </a:p>
        </p:txBody>
      </p:sp>
      <p:sp>
        <p:nvSpPr>
          <p:cNvPr id="14" name="Text 11"/>
          <p:cNvSpPr txBox="1"/>
          <p:nvPr/>
        </p:nvSpPr>
        <p:spPr>
          <a:xfrm>
            <a:off x="6135624" y="4224528"/>
            <a:ext cx="25603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Clifford Onyango</a:t>
            </a:r>
            <a:endParaRPr lang="en-US" sz="1300" dirty="0"/>
          </a:p>
        </p:txBody>
      </p:sp>
      <p:sp>
        <p:nvSpPr>
          <p:cNvPr id="15" name="Text 12"/>
          <p:cNvSpPr txBox="1"/>
          <p:nvPr/>
        </p:nvSpPr>
        <p:spPr>
          <a:xfrm>
            <a:off x="6135624" y="4517136"/>
            <a:ext cx="2560320" cy="274320"/>
          </a:xfrm>
          <a:prstGeom prst="rect">
            <a:avLst/>
          </a:prstGeom>
          <a:noFill/>
          <a:ln/>
        </p:spPr>
        <p:txBody>
          <a:bodyPr wrap="square" lIns="0" tIns="0" rIns="0" bIns="0" rtlCol="0" anchor="ctr"/>
          <a:lstStyle/>
          <a:p>
            <a:pPr indent="0" marL="0">
              <a:buNone/>
            </a:pPr>
            <a:r>
              <a:rPr lang="en-US" sz="1050" dirty="0">
                <a:solidFill>
                  <a:srgbClr val="8D919A"/>
                </a:solidFill>
                <a:latin typeface="Calibri" pitchFamily="34" charset="0"/>
                <a:ea typeface="Calibri" pitchFamily="34" charset="-122"/>
                <a:cs typeface="Calibri" pitchFamily="34" charset="-120"/>
              </a:rPr>
              <a:t>Product &amp; Frontend</a:t>
            </a:r>
            <a:endParaRPr lang="en-US" sz="1050" dirty="0"/>
          </a:p>
        </p:txBody>
      </p:sp>
      <p:sp>
        <p:nvSpPr>
          <p:cNvPr id="16" name="Text 13"/>
          <p:cNvSpPr txBox="1"/>
          <p:nvPr/>
        </p:nvSpPr>
        <p:spPr>
          <a:xfrm>
            <a:off x="8860536" y="4224528"/>
            <a:ext cx="25603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Kevin Chege</a:t>
            </a:r>
            <a:endParaRPr lang="en-US" sz="1300" dirty="0"/>
          </a:p>
        </p:txBody>
      </p:sp>
      <p:sp>
        <p:nvSpPr>
          <p:cNvPr id="17" name="Text 14"/>
          <p:cNvSpPr txBox="1"/>
          <p:nvPr/>
        </p:nvSpPr>
        <p:spPr>
          <a:xfrm>
            <a:off x="8860536" y="4517136"/>
            <a:ext cx="2560320" cy="274320"/>
          </a:xfrm>
          <a:prstGeom prst="rect">
            <a:avLst/>
          </a:prstGeom>
          <a:noFill/>
          <a:ln/>
        </p:spPr>
        <p:txBody>
          <a:bodyPr wrap="square" lIns="0" tIns="0" rIns="0" bIns="0" rtlCol="0" anchor="ctr"/>
          <a:lstStyle/>
          <a:p>
            <a:pPr indent="0" marL="0">
              <a:buNone/>
            </a:pPr>
            <a:r>
              <a:rPr lang="en-US" sz="1050" dirty="0">
                <a:solidFill>
                  <a:srgbClr val="8D919A"/>
                </a:solidFill>
                <a:latin typeface="Calibri" pitchFamily="34" charset="0"/>
                <a:ea typeface="Calibri" pitchFamily="34" charset="-122"/>
                <a:cs typeface="Calibri" pitchFamily="34" charset="-120"/>
              </a:rPr>
              <a:t>Backend &amp; Infrastructure</a:t>
            </a:r>
            <a:endParaRPr lang="en-US" sz="1050" dirty="0"/>
          </a:p>
        </p:txBody>
      </p:sp>
      <p:sp>
        <p:nvSpPr>
          <p:cNvPr id="18" name="Shape 15"/>
          <p:cNvSpPr/>
          <p:nvPr/>
        </p:nvSpPr>
        <p:spPr>
          <a:xfrm>
            <a:off x="685800" y="5257800"/>
            <a:ext cx="10789920" cy="777240"/>
          </a:xfrm>
          <a:prstGeom prst="roundRect">
            <a:avLst>
              <a:gd name="adj" fmla="val 7059"/>
            </a:avLst>
          </a:prstGeom>
          <a:solidFill>
            <a:srgbClr val="1F222A"/>
          </a:solidFill>
          <a:ln/>
        </p:spPr>
      </p:sp>
      <p:sp>
        <p:nvSpPr>
          <p:cNvPr id="19" name="Text 16"/>
          <p:cNvSpPr txBox="1"/>
          <p:nvPr/>
        </p:nvSpPr>
        <p:spPr>
          <a:xfrm>
            <a:off x="960120" y="5257800"/>
            <a:ext cx="10241280" cy="777240"/>
          </a:xfrm>
          <a:prstGeom prst="rect">
            <a:avLst/>
          </a:prstGeom>
          <a:noFill/>
          <a:ln/>
        </p:spPr>
        <p:txBody>
          <a:bodyPr wrap="square" lIns="0" tIns="0" rIns="0" bIns="0" rtlCol="0" anchor="ctr"/>
          <a:lstStyle/>
          <a:p>
            <a:pPr indent="0" marL="0">
              <a:buNone/>
            </a:pPr>
            <a:r>
              <a:rPr lang="en-US" sz="1400" b="1" dirty="0">
                <a:solidFill>
                  <a:srgbClr val="D6412F"/>
                </a:solidFill>
                <a:latin typeface="Calibri" pitchFamily="34" charset="0"/>
                <a:ea typeface="Calibri" pitchFamily="34" charset="-122"/>
                <a:cs typeface="Calibri" pitchFamily="34" charset="-120"/>
              </a:rPr>
              <a:t>Today:  </a:t>
            </a:r>
            <a:pPr indent="0" marL="0">
              <a:buNone/>
            </a:pPr>
            <a:r>
              <a:rPr lang="en-US" sz="1400" dirty="0">
                <a:solidFill>
                  <a:srgbClr val="D9D4CC"/>
                </a:solidFill>
                <a:latin typeface="Calibri" pitchFamily="34" charset="0"/>
                <a:ea typeface="Calibri" pitchFamily="34" charset="-122"/>
                <a:cs typeface="Calibri" pitchFamily="34" charset="-120"/>
              </a:rPr>
              <a:t>the problem  →  what we built  →  what we tested  →  what we found  →  a live demo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F"/>
        </a:solidFill>
      </p:bgPr>
    </p:bg>
    <p:spTree>
      <p:nvGrpSpPr>
        <p:cNvPr id="1" name=""/>
        <p:cNvGrpSpPr/>
        <p:nvPr/>
      </p:nvGrpSpPr>
      <p:grpSpPr>
        <a:xfrm>
          <a:off x="0" y="0"/>
          <a:ext cx="0" cy="0"/>
          <a:chOff x="0" y="0"/>
          <a:chExt cx="0" cy="0"/>
        </a:xfrm>
      </p:grpSpPr>
      <p:sp>
        <p:nvSpPr>
          <p:cNvPr id="2" name="Text 0"/>
          <p:cNvSpPr txBox="1"/>
          <p:nvPr/>
        </p:nvSpPr>
        <p:spPr>
          <a:xfrm>
            <a:off x="11414455" y="6446520"/>
            <a:ext cx="365760" cy="274320"/>
          </a:xfrm>
          <a:prstGeom prst="rect">
            <a:avLst/>
          </a:prstGeom>
          <a:noFill/>
          <a:ln/>
        </p:spPr>
        <p:txBody>
          <a:bodyPr wrap="square" lIns="0" tIns="0" rIns="0" bIns="0" rtlCol="0" anchor="ctr"/>
          <a:lstStyle/>
          <a:p>
            <a:pPr algn="r" indent="0" marL="0">
              <a:buNone/>
            </a:pPr>
            <a:r>
              <a:rPr lang="en-US" sz="950" dirty="0">
                <a:solidFill>
                  <a:srgbClr val="6A6E77"/>
                </a:solidFill>
                <a:latin typeface="Calibri" pitchFamily="34" charset="0"/>
                <a:ea typeface="Calibri" pitchFamily="34" charset="-122"/>
                <a:cs typeface="Calibri" pitchFamily="34" charset="-120"/>
              </a:rPr>
              <a:t>2</a:t>
            </a:r>
            <a:endParaRPr lang="en-US" sz="950" dirty="0"/>
          </a:p>
        </p:txBody>
      </p:sp>
      <p:sp>
        <p:nvSpPr>
          <p:cNvPr id="3" name="Text 1"/>
          <p:cNvSpPr txBox="1"/>
          <p:nvPr/>
        </p:nvSpPr>
        <p:spPr>
          <a:xfrm>
            <a:off x="566928" y="6446520"/>
            <a:ext cx="2743200" cy="274320"/>
          </a:xfrm>
          <a:prstGeom prst="rect">
            <a:avLst/>
          </a:prstGeom>
          <a:noFill/>
          <a:ln/>
        </p:spPr>
        <p:txBody>
          <a:bodyPr wrap="square" lIns="0" tIns="0" rIns="0" bIns="0" rtlCol="0" anchor="ctr"/>
          <a:lstStyle/>
          <a:p>
            <a:pPr indent="0" marL="0">
              <a:buNone/>
            </a:pPr>
            <a:r>
              <a:rPr lang="en-US" sz="950" dirty="0">
                <a:solidFill>
                  <a:srgbClr val="6A6E77"/>
                </a:solidFill>
                <a:latin typeface="Calibri" pitchFamily="34" charset="0"/>
                <a:ea typeface="Calibri" pitchFamily="34" charset="-122"/>
                <a:cs typeface="Calibri" pitchFamily="34" charset="-120"/>
              </a:rPr>
              <a:t>PitchVision</a:t>
            </a:r>
            <a:endParaRPr lang="en-US" sz="950" dirty="0"/>
          </a:p>
        </p:txBody>
      </p:sp>
      <p:sp>
        <p:nvSpPr>
          <p:cNvPr id="5" name="Shape 2"/>
          <p:cNvSpPr/>
          <p:nvPr/>
        </p:nvSpPr>
        <p:spPr>
          <a:xfrm>
            <a:off x="566928" y="475488"/>
            <a:ext cx="457200" cy="54864"/>
          </a:xfrm>
          <a:prstGeom prst="rect">
            <a:avLst/>
          </a:prstGeom>
          <a:solidFill>
            <a:srgbClr val="D6412F"/>
          </a:solidFill>
          <a:ln/>
        </p:spPr>
      </p:sp>
      <p:sp>
        <p:nvSpPr>
          <p:cNvPr id="6" name="Text 3"/>
          <p:cNvSpPr txBox="1"/>
          <p:nvPr/>
        </p:nvSpPr>
        <p:spPr>
          <a:xfrm>
            <a:off x="566928" y="621792"/>
            <a:ext cx="8229600" cy="274320"/>
          </a:xfrm>
          <a:prstGeom prst="rect">
            <a:avLst/>
          </a:prstGeom>
          <a:noFill/>
          <a:ln/>
        </p:spPr>
        <p:txBody>
          <a:bodyPr wrap="square" lIns="0" tIns="0" rIns="0" bIns="0" rtlCol="0" anchor="ctr"/>
          <a:lstStyle/>
          <a:p>
            <a:pPr indent="0" marL="0">
              <a:buNone/>
            </a:pPr>
            <a:r>
              <a:rPr lang="en-US" sz="1150" b="1" spc="220" kern="0" dirty="0">
                <a:solidFill>
                  <a:srgbClr val="D6412F"/>
                </a:solidFill>
                <a:latin typeface="Calibri" pitchFamily="34" charset="0"/>
                <a:ea typeface="Calibri" pitchFamily="34" charset="-122"/>
                <a:cs typeface="Calibri" pitchFamily="34" charset="-120"/>
              </a:rPr>
              <a:t>THE PROBLEM</a:t>
            </a:r>
            <a:endParaRPr lang="en-US" sz="1150" dirty="0"/>
          </a:p>
        </p:txBody>
      </p:sp>
      <p:sp>
        <p:nvSpPr>
          <p:cNvPr id="7" name="Text 4"/>
          <p:cNvSpPr txBox="1"/>
          <p:nvPr/>
        </p:nvSpPr>
        <p:spPr>
          <a:xfrm>
            <a:off x="566928" y="932688"/>
            <a:ext cx="10607040" cy="868680"/>
          </a:xfrm>
          <a:prstGeom prst="rect">
            <a:avLst/>
          </a:prstGeom>
          <a:noFill/>
          <a:ln/>
        </p:spPr>
        <p:txBody>
          <a:bodyPr wrap="square" lIns="0" tIns="0" rIns="0" bIns="0" rtlCol="0" anchor="ctr"/>
          <a:lstStyle/>
          <a:p>
            <a:pPr indent="0" marL="0">
              <a:lnSpc>
                <a:spcPct val="95000"/>
              </a:lnSpc>
              <a:buNone/>
            </a:pPr>
            <a:r>
              <a:rPr lang="en-US" sz="3100" b="1" dirty="0">
                <a:solidFill>
                  <a:srgbClr val="15171C"/>
                </a:solidFill>
                <a:latin typeface="Trebuchet MS" pitchFamily="34" charset="0"/>
                <a:ea typeface="Trebuchet MS" pitchFamily="34" charset="-122"/>
                <a:cs typeface="Trebuchet MS" pitchFamily="34" charset="-120"/>
              </a:rPr>
              <a:t>A football match is 90 minutes. The good bits are about 90 seconds.</a:t>
            </a:r>
            <a:endParaRPr lang="en-US" sz="3100" dirty="0"/>
          </a:p>
        </p:txBody>
      </p:sp>
      <p:sp>
        <p:nvSpPr>
          <p:cNvPr id="8" name="Text 5"/>
          <p:cNvSpPr txBox="1"/>
          <p:nvPr/>
        </p:nvSpPr>
        <p:spPr>
          <a:xfrm>
            <a:off x="566928" y="1874520"/>
            <a:ext cx="10607040" cy="365760"/>
          </a:xfrm>
          <a:prstGeom prst="rect">
            <a:avLst/>
          </a:prstGeom>
          <a:noFill/>
          <a:ln/>
        </p:spPr>
        <p:txBody>
          <a:bodyPr wrap="square" lIns="0" tIns="0" rIns="0" bIns="0" rtlCol="0" anchor="t"/>
          <a:lstStyle/>
          <a:p>
            <a:pPr algn="l" indent="0" marL="0">
              <a:lnSpc>
                <a:spcPct val="118000"/>
              </a:lnSpc>
              <a:buNone/>
            </a:pPr>
            <a:r>
              <a:rPr lang="en-US" sz="1550" dirty="0">
                <a:solidFill>
                  <a:srgbClr val="15171C"/>
                </a:solidFill>
                <a:latin typeface="Calibri" pitchFamily="34" charset="0"/>
                <a:ea typeface="Calibri" pitchFamily="34" charset="-122"/>
                <a:cs typeface="Calibri" pitchFamily="34" charset="-120"/>
              </a:rPr>
              <a:t>Somebody filmed the match. Nobody has time to watch it again.</a:t>
            </a:r>
            <a:endParaRPr lang="en-US" sz="1550" dirty="0"/>
          </a:p>
        </p:txBody>
      </p:sp>
      <p:sp>
        <p:nvSpPr>
          <p:cNvPr id="9" name="Shape 6"/>
          <p:cNvSpPr/>
          <p:nvPr/>
        </p:nvSpPr>
        <p:spPr>
          <a:xfrm>
            <a:off x="566928" y="2468880"/>
            <a:ext cx="3346704" cy="2331720"/>
          </a:xfrm>
          <a:prstGeom prst="roundRect">
            <a:avLst>
              <a:gd name="adj" fmla="val 2353"/>
            </a:avLst>
          </a:prstGeom>
          <a:solidFill>
            <a:srgbClr val="FFFFFF"/>
          </a:solidFill>
          <a:ln w="12700">
            <a:solidFill>
              <a:srgbClr val="DCD6CC"/>
            </a:solidFill>
            <a:prstDash val="solid"/>
          </a:ln>
          <a:effectLst>
            <a:outerShdw sx="100000" sy="100000" kx="0" ky="0" algn="bl" rotWithShape="0" blurRad="101600" dist="25400" dir="5400000">
              <a:srgbClr val="15171C">
                <a:alpha val="7000"/>
              </a:srgbClr>
            </a:outerShdw>
          </a:effectLst>
        </p:spPr>
      </p:sp>
      <p:sp>
        <p:nvSpPr>
          <p:cNvPr id="10" name="Shape 7"/>
          <p:cNvSpPr/>
          <p:nvPr/>
        </p:nvSpPr>
        <p:spPr>
          <a:xfrm>
            <a:off x="841248" y="2724912"/>
            <a:ext cx="566928" cy="566928"/>
          </a:xfrm>
          <a:prstGeom prst="roundRect">
            <a:avLst>
              <a:gd name="adj" fmla="val 8065"/>
            </a:avLst>
          </a:prstGeom>
          <a:solidFill>
            <a:srgbClr val="0E6E6B"/>
          </a:solidFill>
          <a:ln/>
        </p:spPr>
      </p:sp>
      <p:pic>
        <p:nvPicPr>
          <p:cNvPr id="11" name="Image 0" descr="/home/claude/final_deck/icons/stopwatch.png">    </p:cNvPr>
          <p:cNvPicPr>
            <a:picLocks noChangeAspect="1"/>
          </p:cNvPicPr>
          <p:nvPr/>
        </p:nvPicPr>
        <p:blipFill>
          <a:blip r:embed="rId1"/>
          <a:stretch>
            <a:fillRect/>
          </a:stretch>
        </p:blipFill>
        <p:spPr>
          <a:xfrm>
            <a:off x="994319" y="2877983"/>
            <a:ext cx="260787" cy="260787"/>
          </a:xfrm>
          <a:prstGeom prst="rect">
            <a:avLst/>
          </a:prstGeom>
        </p:spPr>
      </p:pic>
      <p:sp>
        <p:nvSpPr>
          <p:cNvPr id="12" name="Text 8"/>
          <p:cNvSpPr txBox="1"/>
          <p:nvPr/>
        </p:nvSpPr>
        <p:spPr>
          <a:xfrm>
            <a:off x="841248" y="3456432"/>
            <a:ext cx="2798064" cy="365760"/>
          </a:xfrm>
          <a:prstGeom prst="rect">
            <a:avLst/>
          </a:prstGeom>
          <a:noFill/>
          <a:ln/>
        </p:spPr>
        <p:txBody>
          <a:bodyPr wrap="square" lIns="0" tIns="0" rIns="0" bIns="0" rtlCol="0" anchor="ctr"/>
          <a:lstStyle/>
          <a:p>
            <a:pPr indent="0" marL="0">
              <a:buNone/>
            </a:pPr>
            <a:r>
              <a:rPr lang="en-US" sz="1700" b="1" dirty="0">
                <a:solidFill>
                  <a:srgbClr val="15171C"/>
                </a:solidFill>
                <a:latin typeface="Trebuchet MS" pitchFamily="34" charset="0"/>
                <a:ea typeface="Trebuchet MS" pitchFamily="34" charset="-122"/>
                <a:cs typeface="Trebuchet MS" pitchFamily="34" charset="-120"/>
              </a:rPr>
              <a:t>The coach</a:t>
            </a:r>
            <a:endParaRPr lang="en-US" sz="1700" dirty="0"/>
          </a:p>
        </p:txBody>
      </p:sp>
      <p:sp>
        <p:nvSpPr>
          <p:cNvPr id="13" name="Text 9"/>
          <p:cNvSpPr txBox="1"/>
          <p:nvPr/>
        </p:nvSpPr>
        <p:spPr>
          <a:xfrm>
            <a:off x="841248" y="3858768"/>
            <a:ext cx="2798064" cy="868680"/>
          </a:xfrm>
          <a:prstGeom prst="rect">
            <a:avLst/>
          </a:prstGeom>
          <a:noFill/>
          <a:ln/>
        </p:spPr>
        <p:txBody>
          <a:bodyPr wrap="square" lIns="0" tIns="0" rIns="0" bIns="0" rtlCol="0" anchor="t"/>
          <a:lstStyle/>
          <a:p>
            <a:pPr algn="l" indent="0" marL="0">
              <a:lnSpc>
                <a:spcPct val="118000"/>
              </a:lnSpc>
              <a:buNone/>
            </a:pPr>
            <a:r>
              <a:rPr lang="en-US" sz="1250" dirty="0">
                <a:solidFill>
                  <a:srgbClr val="6A6E77"/>
                </a:solidFill>
                <a:latin typeface="Calibri" pitchFamily="34" charset="0"/>
                <a:ea typeface="Calibri" pitchFamily="34" charset="-122"/>
                <a:cs typeface="Calibri" pitchFamily="34" charset="-120"/>
              </a:rPr>
              <a:t>Wants the 12 moments that decide Saturday. Finding them means scrubbing through the whole match by hand.</a:t>
            </a:r>
            <a:endParaRPr lang="en-US" sz="1250" dirty="0"/>
          </a:p>
        </p:txBody>
      </p:sp>
      <p:sp>
        <p:nvSpPr>
          <p:cNvPr id="14" name="Shape 10"/>
          <p:cNvSpPr/>
          <p:nvPr/>
        </p:nvSpPr>
        <p:spPr>
          <a:xfrm>
            <a:off x="4187952" y="2468880"/>
            <a:ext cx="3346704" cy="2331720"/>
          </a:xfrm>
          <a:prstGeom prst="roundRect">
            <a:avLst>
              <a:gd name="adj" fmla="val 2353"/>
            </a:avLst>
          </a:prstGeom>
          <a:solidFill>
            <a:srgbClr val="FFFFFF"/>
          </a:solidFill>
          <a:ln w="12700">
            <a:solidFill>
              <a:srgbClr val="DCD6CC"/>
            </a:solidFill>
            <a:prstDash val="solid"/>
          </a:ln>
          <a:effectLst>
            <a:outerShdw sx="100000" sy="100000" kx="0" ky="0" algn="bl" rotWithShape="0" blurRad="101600" dist="25400" dir="5400000">
              <a:srgbClr val="15171C">
                <a:alpha val="7000"/>
              </a:srgbClr>
            </a:outerShdw>
          </a:effectLst>
        </p:spPr>
      </p:sp>
      <p:sp>
        <p:nvSpPr>
          <p:cNvPr id="15" name="Shape 11"/>
          <p:cNvSpPr/>
          <p:nvPr/>
        </p:nvSpPr>
        <p:spPr>
          <a:xfrm>
            <a:off x="4462272" y="2724912"/>
            <a:ext cx="566928" cy="566928"/>
          </a:xfrm>
          <a:prstGeom prst="roundRect">
            <a:avLst>
              <a:gd name="adj" fmla="val 8065"/>
            </a:avLst>
          </a:prstGeom>
          <a:solidFill>
            <a:srgbClr val="D6412F"/>
          </a:solidFill>
          <a:ln/>
        </p:spPr>
      </p:sp>
      <p:pic>
        <p:nvPicPr>
          <p:cNvPr id="16" name="Image 1" descr="/home/claude/final_deck/icons/users2.png">    </p:cNvPr>
          <p:cNvPicPr>
            <a:picLocks noChangeAspect="1"/>
          </p:cNvPicPr>
          <p:nvPr/>
        </p:nvPicPr>
        <p:blipFill>
          <a:blip r:embed="rId2"/>
          <a:stretch>
            <a:fillRect/>
          </a:stretch>
        </p:blipFill>
        <p:spPr>
          <a:xfrm>
            <a:off x="4615343" y="2877983"/>
            <a:ext cx="260787" cy="260787"/>
          </a:xfrm>
          <a:prstGeom prst="rect">
            <a:avLst/>
          </a:prstGeom>
        </p:spPr>
      </p:pic>
      <p:sp>
        <p:nvSpPr>
          <p:cNvPr id="17" name="Text 12"/>
          <p:cNvSpPr txBox="1"/>
          <p:nvPr/>
        </p:nvSpPr>
        <p:spPr>
          <a:xfrm>
            <a:off x="4462272" y="3456432"/>
            <a:ext cx="2798064" cy="365760"/>
          </a:xfrm>
          <a:prstGeom prst="rect">
            <a:avLst/>
          </a:prstGeom>
          <a:noFill/>
          <a:ln/>
        </p:spPr>
        <p:txBody>
          <a:bodyPr wrap="square" lIns="0" tIns="0" rIns="0" bIns="0" rtlCol="0" anchor="ctr"/>
          <a:lstStyle/>
          <a:p>
            <a:pPr indent="0" marL="0">
              <a:buNone/>
            </a:pPr>
            <a:r>
              <a:rPr lang="en-US" sz="1700" b="1" dirty="0">
                <a:solidFill>
                  <a:srgbClr val="15171C"/>
                </a:solidFill>
                <a:latin typeface="Trebuchet MS" pitchFamily="34" charset="0"/>
                <a:ea typeface="Trebuchet MS" pitchFamily="34" charset="-122"/>
                <a:cs typeface="Trebuchet MS" pitchFamily="34" charset="-120"/>
              </a:rPr>
              <a:t>The parents &amp; fans</a:t>
            </a:r>
            <a:endParaRPr lang="en-US" sz="1700" dirty="0"/>
          </a:p>
        </p:txBody>
      </p:sp>
      <p:sp>
        <p:nvSpPr>
          <p:cNvPr id="18" name="Text 13"/>
          <p:cNvSpPr txBox="1"/>
          <p:nvPr/>
        </p:nvSpPr>
        <p:spPr>
          <a:xfrm>
            <a:off x="4462272" y="3858768"/>
            <a:ext cx="2798064" cy="868680"/>
          </a:xfrm>
          <a:prstGeom prst="rect">
            <a:avLst/>
          </a:prstGeom>
          <a:noFill/>
          <a:ln/>
        </p:spPr>
        <p:txBody>
          <a:bodyPr wrap="square" lIns="0" tIns="0" rIns="0" bIns="0" rtlCol="0" anchor="t"/>
          <a:lstStyle/>
          <a:p>
            <a:pPr algn="l" indent="0" marL="0">
              <a:lnSpc>
                <a:spcPct val="118000"/>
              </a:lnSpc>
              <a:buNone/>
            </a:pPr>
            <a:r>
              <a:rPr lang="en-US" sz="1250" dirty="0">
                <a:solidFill>
                  <a:srgbClr val="6A6E77"/>
                </a:solidFill>
                <a:latin typeface="Calibri" pitchFamily="34" charset="0"/>
                <a:ea typeface="Calibri" pitchFamily="34" charset="-122"/>
                <a:cs typeface="Calibri" pitchFamily="34" charset="-120"/>
              </a:rPr>
              <a:t>Want the clip where their team scored. They get a 90-minute video file, so they watch none of it.</a:t>
            </a:r>
            <a:endParaRPr lang="en-US" sz="1250" dirty="0"/>
          </a:p>
        </p:txBody>
      </p:sp>
      <p:sp>
        <p:nvSpPr>
          <p:cNvPr id="19" name="Shape 14"/>
          <p:cNvSpPr/>
          <p:nvPr/>
        </p:nvSpPr>
        <p:spPr>
          <a:xfrm>
            <a:off x="7808976" y="2468880"/>
            <a:ext cx="3346704" cy="2331720"/>
          </a:xfrm>
          <a:prstGeom prst="roundRect">
            <a:avLst>
              <a:gd name="adj" fmla="val 2353"/>
            </a:avLst>
          </a:prstGeom>
          <a:solidFill>
            <a:srgbClr val="FFFFFF"/>
          </a:solidFill>
          <a:ln w="12700">
            <a:solidFill>
              <a:srgbClr val="DCD6CC"/>
            </a:solidFill>
            <a:prstDash val="solid"/>
          </a:ln>
          <a:effectLst>
            <a:outerShdw sx="100000" sy="100000" kx="0" ky="0" algn="bl" rotWithShape="0" blurRad="101600" dist="25400" dir="5400000">
              <a:srgbClr val="15171C">
                <a:alpha val="7000"/>
              </a:srgbClr>
            </a:outerShdw>
          </a:effectLst>
        </p:spPr>
      </p:sp>
      <p:sp>
        <p:nvSpPr>
          <p:cNvPr id="20" name="Shape 15"/>
          <p:cNvSpPr/>
          <p:nvPr/>
        </p:nvSpPr>
        <p:spPr>
          <a:xfrm>
            <a:off x="8083296" y="2724912"/>
            <a:ext cx="566928" cy="566928"/>
          </a:xfrm>
          <a:prstGeom prst="roundRect">
            <a:avLst>
              <a:gd name="adj" fmla="val 8065"/>
            </a:avLst>
          </a:prstGeom>
          <a:solidFill>
            <a:srgbClr val="0E6E6B"/>
          </a:solidFill>
          <a:ln/>
        </p:spPr>
      </p:sp>
      <p:pic>
        <p:nvPicPr>
          <p:cNvPr id="21" name="Image 2" descr="/home/claude/final_deck/icons/eye.png">    </p:cNvPr>
          <p:cNvPicPr>
            <a:picLocks noChangeAspect="1"/>
          </p:cNvPicPr>
          <p:nvPr/>
        </p:nvPicPr>
        <p:blipFill>
          <a:blip r:embed="rId3"/>
          <a:stretch>
            <a:fillRect/>
          </a:stretch>
        </p:blipFill>
        <p:spPr>
          <a:xfrm>
            <a:off x="8236367" y="2877983"/>
            <a:ext cx="260787" cy="260787"/>
          </a:xfrm>
          <a:prstGeom prst="rect">
            <a:avLst/>
          </a:prstGeom>
        </p:spPr>
      </p:pic>
      <p:sp>
        <p:nvSpPr>
          <p:cNvPr id="22" name="Text 16"/>
          <p:cNvSpPr txBox="1"/>
          <p:nvPr/>
        </p:nvSpPr>
        <p:spPr>
          <a:xfrm>
            <a:off x="8083296" y="3456432"/>
            <a:ext cx="2798064" cy="365760"/>
          </a:xfrm>
          <a:prstGeom prst="rect">
            <a:avLst/>
          </a:prstGeom>
          <a:noFill/>
          <a:ln/>
        </p:spPr>
        <p:txBody>
          <a:bodyPr wrap="square" lIns="0" tIns="0" rIns="0" bIns="0" rtlCol="0" anchor="ctr"/>
          <a:lstStyle/>
          <a:p>
            <a:pPr indent="0" marL="0">
              <a:buNone/>
            </a:pPr>
            <a:r>
              <a:rPr lang="en-US" sz="1700" b="1" dirty="0">
                <a:solidFill>
                  <a:srgbClr val="15171C"/>
                </a:solidFill>
                <a:latin typeface="Trebuchet MS" pitchFamily="34" charset="0"/>
                <a:ea typeface="Trebuchet MS" pitchFamily="34" charset="-122"/>
                <a:cs typeface="Trebuchet MS" pitchFamily="34" charset="-120"/>
              </a:rPr>
              <a:t>The analyst</a:t>
            </a:r>
            <a:endParaRPr lang="en-US" sz="1700" dirty="0"/>
          </a:p>
        </p:txBody>
      </p:sp>
      <p:sp>
        <p:nvSpPr>
          <p:cNvPr id="23" name="Text 17"/>
          <p:cNvSpPr txBox="1"/>
          <p:nvPr/>
        </p:nvSpPr>
        <p:spPr>
          <a:xfrm>
            <a:off x="8083296" y="3858768"/>
            <a:ext cx="2798064" cy="868680"/>
          </a:xfrm>
          <a:prstGeom prst="rect">
            <a:avLst/>
          </a:prstGeom>
          <a:noFill/>
          <a:ln/>
        </p:spPr>
        <p:txBody>
          <a:bodyPr wrap="square" lIns="0" tIns="0" rIns="0" bIns="0" rtlCol="0" anchor="t"/>
          <a:lstStyle/>
          <a:p>
            <a:pPr algn="l" indent="0" marL="0">
              <a:lnSpc>
                <a:spcPct val="118000"/>
              </a:lnSpc>
              <a:buNone/>
            </a:pPr>
            <a:r>
              <a:rPr lang="en-US" sz="1250" dirty="0">
                <a:solidFill>
                  <a:srgbClr val="6A6E77"/>
                </a:solidFill>
                <a:latin typeface="Calibri" pitchFamily="34" charset="0"/>
                <a:ea typeface="Calibri" pitchFamily="34" charset="-122"/>
                <a:cs typeface="Calibri" pitchFamily="34" charset="-120"/>
              </a:rPr>
              <a:t>Professional clubs pay people to tag every pass and shot. Grassroots clubs simply go without.</a:t>
            </a:r>
            <a:endParaRPr lang="en-US" sz="1250" dirty="0"/>
          </a:p>
        </p:txBody>
      </p:sp>
      <p:sp>
        <p:nvSpPr>
          <p:cNvPr id="24" name="Shape 18"/>
          <p:cNvSpPr/>
          <p:nvPr/>
        </p:nvSpPr>
        <p:spPr>
          <a:xfrm>
            <a:off x="566928" y="5120640"/>
            <a:ext cx="11064240" cy="868680"/>
          </a:xfrm>
          <a:prstGeom prst="roundRect">
            <a:avLst>
              <a:gd name="adj" fmla="val 6316"/>
            </a:avLst>
          </a:prstGeom>
          <a:solidFill>
            <a:srgbClr val="15171C"/>
          </a:solidFill>
          <a:ln/>
        </p:spPr>
      </p:sp>
      <p:sp>
        <p:nvSpPr>
          <p:cNvPr id="25" name="Text 19"/>
          <p:cNvSpPr txBox="1"/>
          <p:nvPr/>
        </p:nvSpPr>
        <p:spPr>
          <a:xfrm>
            <a:off x="914400" y="5120640"/>
            <a:ext cx="10424160" cy="86868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The footage already exists. What is missing is a way to find the moments inside it.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F"/>
        </a:solidFill>
      </p:bgPr>
    </p:bg>
    <p:spTree>
      <p:nvGrpSpPr>
        <p:cNvPr id="1" name=""/>
        <p:cNvGrpSpPr/>
        <p:nvPr/>
      </p:nvGrpSpPr>
      <p:grpSpPr>
        <a:xfrm>
          <a:off x="0" y="0"/>
          <a:ext cx="0" cy="0"/>
          <a:chOff x="0" y="0"/>
          <a:chExt cx="0" cy="0"/>
        </a:xfrm>
      </p:grpSpPr>
      <p:sp>
        <p:nvSpPr>
          <p:cNvPr id="2" name="Text 0"/>
          <p:cNvSpPr txBox="1"/>
          <p:nvPr/>
        </p:nvSpPr>
        <p:spPr>
          <a:xfrm>
            <a:off x="11414455" y="6446520"/>
            <a:ext cx="365760" cy="274320"/>
          </a:xfrm>
          <a:prstGeom prst="rect">
            <a:avLst/>
          </a:prstGeom>
          <a:noFill/>
          <a:ln/>
        </p:spPr>
        <p:txBody>
          <a:bodyPr wrap="square" lIns="0" tIns="0" rIns="0" bIns="0" rtlCol="0" anchor="ctr"/>
          <a:lstStyle/>
          <a:p>
            <a:pPr algn="r" indent="0" marL="0">
              <a:buNone/>
            </a:pPr>
            <a:r>
              <a:rPr lang="en-US" sz="950" dirty="0">
                <a:solidFill>
                  <a:srgbClr val="6A6E77"/>
                </a:solidFill>
                <a:latin typeface="Calibri" pitchFamily="34" charset="0"/>
                <a:ea typeface="Calibri" pitchFamily="34" charset="-122"/>
                <a:cs typeface="Calibri" pitchFamily="34" charset="-120"/>
              </a:rPr>
              <a:t>3</a:t>
            </a:r>
            <a:endParaRPr lang="en-US" sz="950" dirty="0"/>
          </a:p>
        </p:txBody>
      </p:sp>
      <p:sp>
        <p:nvSpPr>
          <p:cNvPr id="3" name="Text 1"/>
          <p:cNvSpPr txBox="1"/>
          <p:nvPr/>
        </p:nvSpPr>
        <p:spPr>
          <a:xfrm>
            <a:off x="566928" y="6446520"/>
            <a:ext cx="2743200" cy="274320"/>
          </a:xfrm>
          <a:prstGeom prst="rect">
            <a:avLst/>
          </a:prstGeom>
          <a:noFill/>
          <a:ln/>
        </p:spPr>
        <p:txBody>
          <a:bodyPr wrap="square" lIns="0" tIns="0" rIns="0" bIns="0" rtlCol="0" anchor="ctr"/>
          <a:lstStyle/>
          <a:p>
            <a:pPr indent="0" marL="0">
              <a:buNone/>
            </a:pPr>
            <a:r>
              <a:rPr lang="en-US" sz="950" dirty="0">
                <a:solidFill>
                  <a:srgbClr val="6A6E77"/>
                </a:solidFill>
                <a:latin typeface="Calibri" pitchFamily="34" charset="0"/>
                <a:ea typeface="Calibri" pitchFamily="34" charset="-122"/>
                <a:cs typeface="Calibri" pitchFamily="34" charset="-120"/>
              </a:rPr>
              <a:t>PitchVision</a:t>
            </a:r>
            <a:endParaRPr lang="en-US" sz="950" dirty="0"/>
          </a:p>
        </p:txBody>
      </p:sp>
      <p:sp>
        <p:nvSpPr>
          <p:cNvPr id="5" name="Shape 2"/>
          <p:cNvSpPr/>
          <p:nvPr/>
        </p:nvSpPr>
        <p:spPr>
          <a:xfrm>
            <a:off x="566928" y="475488"/>
            <a:ext cx="457200" cy="54864"/>
          </a:xfrm>
          <a:prstGeom prst="rect">
            <a:avLst/>
          </a:prstGeom>
          <a:solidFill>
            <a:srgbClr val="D6412F"/>
          </a:solidFill>
          <a:ln/>
        </p:spPr>
      </p:sp>
      <p:sp>
        <p:nvSpPr>
          <p:cNvPr id="6" name="Text 3"/>
          <p:cNvSpPr txBox="1"/>
          <p:nvPr/>
        </p:nvSpPr>
        <p:spPr>
          <a:xfrm>
            <a:off x="566928" y="621792"/>
            <a:ext cx="8229600" cy="274320"/>
          </a:xfrm>
          <a:prstGeom prst="rect">
            <a:avLst/>
          </a:prstGeom>
          <a:noFill/>
          <a:ln/>
        </p:spPr>
        <p:txBody>
          <a:bodyPr wrap="square" lIns="0" tIns="0" rIns="0" bIns="0" rtlCol="0" anchor="ctr"/>
          <a:lstStyle/>
          <a:p>
            <a:pPr indent="0" marL="0">
              <a:buNone/>
            </a:pPr>
            <a:r>
              <a:rPr lang="en-US" sz="1150" b="1" spc="220" kern="0" dirty="0">
                <a:solidFill>
                  <a:srgbClr val="D6412F"/>
                </a:solidFill>
                <a:latin typeface="Calibri" pitchFamily="34" charset="0"/>
                <a:ea typeface="Calibri" pitchFamily="34" charset="-122"/>
                <a:cs typeface="Calibri" pitchFamily="34" charset="-120"/>
              </a:rPr>
              <a:t>1 · THE TASK AND OUR QUESTION</a:t>
            </a:r>
            <a:endParaRPr lang="en-US" sz="1150" dirty="0"/>
          </a:p>
        </p:txBody>
      </p:sp>
      <p:sp>
        <p:nvSpPr>
          <p:cNvPr id="7" name="Text 4"/>
          <p:cNvSpPr txBox="1"/>
          <p:nvPr/>
        </p:nvSpPr>
        <p:spPr>
          <a:xfrm>
            <a:off x="566928" y="932688"/>
            <a:ext cx="10607040" cy="868680"/>
          </a:xfrm>
          <a:prstGeom prst="rect">
            <a:avLst/>
          </a:prstGeom>
          <a:noFill/>
          <a:ln/>
        </p:spPr>
        <p:txBody>
          <a:bodyPr wrap="square" lIns="0" tIns="0" rIns="0" bIns="0" rtlCol="0" anchor="ctr"/>
          <a:lstStyle/>
          <a:p>
            <a:pPr indent="0" marL="0">
              <a:lnSpc>
                <a:spcPct val="95000"/>
              </a:lnSpc>
              <a:buNone/>
            </a:pPr>
            <a:r>
              <a:rPr lang="en-US" sz="3100" b="1" dirty="0">
                <a:solidFill>
                  <a:srgbClr val="15171C"/>
                </a:solidFill>
                <a:latin typeface="Trebuchet MS" pitchFamily="34" charset="0"/>
                <a:ea typeface="Trebuchet MS" pitchFamily="34" charset="-122"/>
                <a:cs typeface="Trebuchet MS" pitchFamily="34" charset="-120"/>
              </a:rPr>
              <a:t>We teach the model to drop a pin on the exact second something happens.</a:t>
            </a:r>
            <a:endParaRPr lang="en-US" sz="3100" dirty="0"/>
          </a:p>
        </p:txBody>
      </p:sp>
      <p:sp>
        <p:nvSpPr>
          <p:cNvPr id="8" name="Shape 5"/>
          <p:cNvSpPr/>
          <p:nvPr/>
        </p:nvSpPr>
        <p:spPr>
          <a:xfrm>
            <a:off x="566928" y="1920240"/>
            <a:ext cx="6492240" cy="1783080"/>
          </a:xfrm>
          <a:prstGeom prst="roundRect">
            <a:avLst>
              <a:gd name="adj" fmla="val 3077"/>
            </a:avLst>
          </a:prstGeom>
          <a:solidFill>
            <a:srgbClr val="FFFFFF"/>
          </a:solidFill>
          <a:ln w="12700">
            <a:solidFill>
              <a:srgbClr val="DCD6CC"/>
            </a:solidFill>
            <a:prstDash val="solid"/>
          </a:ln>
          <a:effectLst>
            <a:outerShdw sx="100000" sy="100000" kx="0" ky="0" algn="bl" rotWithShape="0" blurRad="101600" dist="25400" dir="5400000">
              <a:srgbClr val="15171C">
                <a:alpha val="7000"/>
              </a:srgbClr>
            </a:outerShdw>
          </a:effectLst>
        </p:spPr>
      </p:sp>
      <p:sp>
        <p:nvSpPr>
          <p:cNvPr id="9" name="Shape 6"/>
          <p:cNvSpPr/>
          <p:nvPr/>
        </p:nvSpPr>
        <p:spPr>
          <a:xfrm>
            <a:off x="841248" y="2176272"/>
            <a:ext cx="502920" cy="502920"/>
          </a:xfrm>
          <a:prstGeom prst="roundRect">
            <a:avLst>
              <a:gd name="adj" fmla="val 9091"/>
            </a:avLst>
          </a:prstGeom>
          <a:solidFill>
            <a:srgbClr val="0E6E6B"/>
          </a:solidFill>
          <a:ln/>
        </p:spPr>
      </p:sp>
      <p:pic>
        <p:nvPicPr>
          <p:cNvPr id="10" name="Image 0" descr="/home/claude/final_deck/icons/ball2.png">    </p:cNvPr>
          <p:cNvPicPr>
            <a:picLocks noChangeAspect="1"/>
          </p:cNvPicPr>
          <p:nvPr/>
        </p:nvPicPr>
        <p:blipFill>
          <a:blip r:embed="rId1"/>
          <a:stretch>
            <a:fillRect/>
          </a:stretch>
        </p:blipFill>
        <p:spPr>
          <a:xfrm>
            <a:off x="977036" y="2312060"/>
            <a:ext cx="231343" cy="231343"/>
          </a:xfrm>
          <a:prstGeom prst="rect">
            <a:avLst/>
          </a:prstGeom>
        </p:spPr>
      </p:pic>
      <p:sp>
        <p:nvSpPr>
          <p:cNvPr id="11" name="Text 7"/>
          <p:cNvSpPr txBox="1"/>
          <p:nvPr/>
        </p:nvSpPr>
        <p:spPr>
          <a:xfrm>
            <a:off x="1481328" y="2212848"/>
            <a:ext cx="4572000" cy="365760"/>
          </a:xfrm>
          <a:prstGeom prst="rect">
            <a:avLst/>
          </a:prstGeom>
          <a:noFill/>
          <a:ln/>
        </p:spPr>
        <p:txBody>
          <a:bodyPr wrap="square" lIns="0" tIns="0" rIns="0" bIns="0" rtlCol="0" anchor="ctr"/>
          <a:lstStyle/>
          <a:p>
            <a:pPr indent="0" marL="0">
              <a:buNone/>
            </a:pPr>
            <a:r>
              <a:rPr lang="en-US" sz="1600" b="1" dirty="0">
                <a:solidFill>
                  <a:srgbClr val="15171C"/>
                </a:solidFill>
                <a:latin typeface="Trebuchet MS" pitchFamily="34" charset="0"/>
                <a:ea typeface="Trebuchet MS" pitchFamily="34" charset="-122"/>
                <a:cs typeface="Trebuchet MS" pitchFamily="34" charset="-120"/>
              </a:rPr>
              <a:t>What the model does</a:t>
            </a:r>
            <a:endParaRPr lang="en-US" sz="1600" dirty="0"/>
          </a:p>
        </p:txBody>
      </p:sp>
      <p:sp>
        <p:nvSpPr>
          <p:cNvPr id="12" name="Text 8"/>
          <p:cNvSpPr txBox="1"/>
          <p:nvPr/>
        </p:nvSpPr>
        <p:spPr>
          <a:xfrm>
            <a:off x="841248" y="2724912"/>
            <a:ext cx="5943600" cy="914400"/>
          </a:xfrm>
          <a:prstGeom prst="rect">
            <a:avLst/>
          </a:prstGeom>
          <a:noFill/>
          <a:ln/>
        </p:spPr>
        <p:txBody>
          <a:bodyPr wrap="square" lIns="0" tIns="0" rIns="0" bIns="0" rtlCol="0" anchor="t"/>
          <a:lstStyle/>
          <a:p>
            <a:pPr algn="l" indent="0" marL="0">
              <a:lnSpc>
                <a:spcPct val="118000"/>
              </a:lnSpc>
              <a:buNone/>
            </a:pPr>
            <a:r>
              <a:rPr lang="en-US" sz="1300" dirty="0">
                <a:solidFill>
                  <a:srgbClr val="6A6E77"/>
                </a:solidFill>
                <a:latin typeface="Calibri" pitchFamily="34" charset="0"/>
                <a:ea typeface="Calibri" pitchFamily="34" charset="-122"/>
                <a:cs typeface="Calibri" pitchFamily="34" charset="-120"/>
              </a:rPr>
              <a:t>It watches one frame every second and, for each second, answers a simple question: did a pass, a shot, a tackle or one of 12 ball events happen right here? The output is a timestamped list — a table of contents for the match.</a:t>
            </a:r>
            <a:endParaRPr lang="en-US" sz="1300" dirty="0"/>
          </a:p>
        </p:txBody>
      </p:sp>
      <p:sp>
        <p:nvSpPr>
          <p:cNvPr id="13" name="Shape 9"/>
          <p:cNvSpPr/>
          <p:nvPr/>
        </p:nvSpPr>
        <p:spPr>
          <a:xfrm>
            <a:off x="7315200" y="1920240"/>
            <a:ext cx="2011680" cy="1783080"/>
          </a:xfrm>
          <a:prstGeom prst="roundRect">
            <a:avLst>
              <a:gd name="adj" fmla="val 3077"/>
            </a:avLst>
          </a:prstGeom>
          <a:solidFill>
            <a:srgbClr val="15171C"/>
          </a:solidFill>
          <a:ln/>
        </p:spPr>
      </p:sp>
      <p:sp>
        <p:nvSpPr>
          <p:cNvPr id="14" name="Text 10"/>
          <p:cNvSpPr txBox="1"/>
          <p:nvPr/>
        </p:nvSpPr>
        <p:spPr>
          <a:xfrm>
            <a:off x="7315200" y="2194560"/>
            <a:ext cx="2011680" cy="685800"/>
          </a:xfrm>
          <a:prstGeom prst="rect">
            <a:avLst/>
          </a:prstGeom>
          <a:noFill/>
          <a:ln/>
        </p:spPr>
        <p:txBody>
          <a:bodyPr wrap="square" lIns="0" tIns="0" rIns="0" bIns="0"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12</a:t>
            </a:r>
            <a:endParaRPr lang="en-US" sz="3400" dirty="0"/>
          </a:p>
        </p:txBody>
      </p:sp>
      <p:sp>
        <p:nvSpPr>
          <p:cNvPr id="15" name="Text 11"/>
          <p:cNvSpPr txBox="1"/>
          <p:nvPr/>
        </p:nvSpPr>
        <p:spPr>
          <a:xfrm>
            <a:off x="7315200" y="2926080"/>
            <a:ext cx="2011680" cy="457200"/>
          </a:xfrm>
          <a:prstGeom prst="rect">
            <a:avLst/>
          </a:prstGeom>
          <a:noFill/>
          <a:ln/>
        </p:spPr>
        <p:txBody>
          <a:bodyPr wrap="square" lIns="0" tIns="0" rIns="0" bIns="0" rtlCol="0" anchor="ctr"/>
          <a:lstStyle/>
          <a:p>
            <a:pPr algn="ctr" indent="0" marL="0">
              <a:buNone/>
            </a:pPr>
            <a:r>
              <a:rPr lang="en-US" sz="1150" dirty="0">
                <a:solidFill>
                  <a:srgbClr val="9EA2AB"/>
                </a:solidFill>
                <a:latin typeface="Calibri" pitchFamily="34" charset="0"/>
                <a:ea typeface="Calibri" pitchFamily="34" charset="-122"/>
                <a:cs typeface="Calibri" pitchFamily="34" charset="-120"/>
              </a:rPr>
              <a:t>event types</a:t>
            </a:r>
            <a:endParaRPr lang="en-US" sz="1150" dirty="0"/>
          </a:p>
        </p:txBody>
      </p:sp>
      <p:sp>
        <p:nvSpPr>
          <p:cNvPr id="16" name="Shape 12"/>
          <p:cNvSpPr/>
          <p:nvPr/>
        </p:nvSpPr>
        <p:spPr>
          <a:xfrm>
            <a:off x="9509760" y="1920240"/>
            <a:ext cx="2011680" cy="1783080"/>
          </a:xfrm>
          <a:prstGeom prst="roundRect">
            <a:avLst>
              <a:gd name="adj" fmla="val 3077"/>
            </a:avLst>
          </a:prstGeom>
          <a:solidFill>
            <a:srgbClr val="15171C"/>
          </a:solidFill>
          <a:ln/>
        </p:spPr>
      </p:sp>
      <p:sp>
        <p:nvSpPr>
          <p:cNvPr id="17" name="Text 13"/>
          <p:cNvSpPr txBox="1"/>
          <p:nvPr/>
        </p:nvSpPr>
        <p:spPr>
          <a:xfrm>
            <a:off x="9509760" y="2194560"/>
            <a:ext cx="2011680" cy="685800"/>
          </a:xfrm>
          <a:prstGeom prst="rect">
            <a:avLst/>
          </a:prstGeom>
          <a:noFill/>
          <a:ln/>
        </p:spPr>
        <p:txBody>
          <a:bodyPr wrap="square" lIns="0" tIns="0" rIns="0" bIns="0"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1</a:t>
            </a:r>
            <a:endParaRPr lang="en-US" sz="3400" dirty="0"/>
          </a:p>
        </p:txBody>
      </p:sp>
      <p:sp>
        <p:nvSpPr>
          <p:cNvPr id="18" name="Text 14"/>
          <p:cNvSpPr txBox="1"/>
          <p:nvPr/>
        </p:nvSpPr>
        <p:spPr>
          <a:xfrm>
            <a:off x="9509760" y="2926080"/>
            <a:ext cx="2011680" cy="457200"/>
          </a:xfrm>
          <a:prstGeom prst="rect">
            <a:avLst/>
          </a:prstGeom>
          <a:noFill/>
          <a:ln/>
        </p:spPr>
        <p:txBody>
          <a:bodyPr wrap="square" lIns="0" tIns="0" rIns="0" bIns="0" rtlCol="0" anchor="ctr"/>
          <a:lstStyle/>
          <a:p>
            <a:pPr algn="ctr" indent="0" marL="0">
              <a:buNone/>
            </a:pPr>
            <a:r>
              <a:rPr lang="en-US" sz="1150" dirty="0">
                <a:solidFill>
                  <a:srgbClr val="9EA2AB"/>
                </a:solidFill>
                <a:latin typeface="Calibri" pitchFamily="34" charset="0"/>
                <a:ea typeface="Calibri" pitchFamily="34" charset="-122"/>
                <a:cs typeface="Calibri" pitchFamily="34" charset="-120"/>
              </a:rPr>
              <a:t>decision per second</a:t>
            </a:r>
            <a:endParaRPr lang="en-US" sz="1150" dirty="0"/>
          </a:p>
        </p:txBody>
      </p:sp>
      <p:sp>
        <p:nvSpPr>
          <p:cNvPr id="19" name="Shape 15"/>
          <p:cNvSpPr/>
          <p:nvPr/>
        </p:nvSpPr>
        <p:spPr>
          <a:xfrm>
            <a:off x="566928" y="3931920"/>
            <a:ext cx="11064240" cy="1417320"/>
          </a:xfrm>
          <a:prstGeom prst="roundRect">
            <a:avLst>
              <a:gd name="adj" fmla="val 3871"/>
            </a:avLst>
          </a:prstGeom>
          <a:solidFill>
            <a:srgbClr val="FFFFFF"/>
          </a:solidFill>
          <a:ln w="12700">
            <a:solidFill>
              <a:srgbClr val="DCD6CC"/>
            </a:solidFill>
            <a:prstDash val="solid"/>
          </a:ln>
          <a:effectLst>
            <a:outerShdw sx="100000" sy="100000" kx="0" ky="0" algn="bl" rotWithShape="0" blurRad="101600" dist="25400" dir="5400000">
              <a:srgbClr val="15171C">
                <a:alpha val="7000"/>
              </a:srgbClr>
            </a:outerShdw>
          </a:effectLst>
        </p:spPr>
      </p:sp>
      <p:sp>
        <p:nvSpPr>
          <p:cNvPr id="20" name="Shape 16"/>
          <p:cNvSpPr/>
          <p:nvPr/>
        </p:nvSpPr>
        <p:spPr>
          <a:xfrm>
            <a:off x="868680" y="4206240"/>
            <a:ext cx="502920" cy="502920"/>
          </a:xfrm>
          <a:prstGeom prst="roundRect">
            <a:avLst>
              <a:gd name="adj" fmla="val 9091"/>
            </a:avLst>
          </a:prstGeom>
          <a:solidFill>
            <a:srgbClr val="D6412F"/>
          </a:solidFill>
          <a:ln/>
        </p:spPr>
      </p:sp>
      <p:pic>
        <p:nvPicPr>
          <p:cNvPr id="21" name="Image 1" descr="/home/claude/final_deck/icons/question2.png">    </p:cNvPr>
          <p:cNvPicPr>
            <a:picLocks noChangeAspect="1"/>
          </p:cNvPicPr>
          <p:nvPr/>
        </p:nvPicPr>
        <p:blipFill>
          <a:blip r:embed="rId2"/>
          <a:stretch>
            <a:fillRect/>
          </a:stretch>
        </p:blipFill>
        <p:spPr>
          <a:xfrm>
            <a:off x="1004468" y="4342028"/>
            <a:ext cx="231343" cy="231343"/>
          </a:xfrm>
          <a:prstGeom prst="rect">
            <a:avLst/>
          </a:prstGeom>
        </p:spPr>
      </p:pic>
      <p:sp>
        <p:nvSpPr>
          <p:cNvPr id="22" name="Text 17"/>
          <p:cNvSpPr txBox="1"/>
          <p:nvPr/>
        </p:nvSpPr>
        <p:spPr>
          <a:xfrm>
            <a:off x="1536192" y="4224528"/>
            <a:ext cx="7315200" cy="292608"/>
          </a:xfrm>
          <a:prstGeom prst="rect">
            <a:avLst/>
          </a:prstGeom>
          <a:noFill/>
          <a:ln/>
        </p:spPr>
        <p:txBody>
          <a:bodyPr wrap="square" lIns="0" tIns="0" rIns="0" bIns="0" rtlCol="0" anchor="ctr"/>
          <a:lstStyle/>
          <a:p>
            <a:pPr indent="0" marL="0">
              <a:buNone/>
            </a:pPr>
            <a:r>
              <a:rPr lang="en-US" sz="1200" b="1" spc="160" kern="0" dirty="0">
                <a:solidFill>
                  <a:srgbClr val="D6412F"/>
                </a:solidFill>
                <a:latin typeface="Calibri" pitchFamily="34" charset="0"/>
                <a:ea typeface="Calibri" pitchFamily="34" charset="-122"/>
                <a:cs typeface="Calibri" pitchFamily="34" charset="-120"/>
              </a:rPr>
              <a:t>Our research question</a:t>
            </a:r>
            <a:endParaRPr lang="en-US" sz="1200" dirty="0"/>
          </a:p>
        </p:txBody>
      </p:sp>
      <p:sp>
        <p:nvSpPr>
          <p:cNvPr id="23" name="Text 18"/>
          <p:cNvSpPr txBox="1"/>
          <p:nvPr/>
        </p:nvSpPr>
        <p:spPr>
          <a:xfrm>
            <a:off x="1536192" y="4535424"/>
            <a:ext cx="9692640" cy="731520"/>
          </a:xfrm>
          <a:prstGeom prst="rect">
            <a:avLst/>
          </a:prstGeom>
          <a:noFill/>
          <a:ln/>
        </p:spPr>
        <p:txBody>
          <a:bodyPr wrap="square" lIns="0" tIns="0" rIns="0" bIns="0" rtlCol="0" anchor="ctr"/>
          <a:lstStyle/>
          <a:p>
            <a:pPr indent="0" marL="0">
              <a:lnSpc>
                <a:spcPct val="105000"/>
              </a:lnSpc>
              <a:buNone/>
            </a:pPr>
            <a:r>
              <a:rPr lang="en-US" sz="1800" i="1" dirty="0">
                <a:solidFill>
                  <a:srgbClr val="15171C"/>
                </a:solidFill>
                <a:latin typeface="Trebuchet MS" pitchFamily="34" charset="0"/>
                <a:ea typeface="Trebuchet MS" pitchFamily="34" charset="-122"/>
                <a:cs typeface="Trebuchet MS" pitchFamily="34" charset="-120"/>
              </a:rPr>
              <a:t>“How much video either side of a moment should the model look at, to place that moment accurately?”</a:t>
            </a:r>
            <a:endParaRPr lang="en-US" sz="1800" dirty="0"/>
          </a:p>
        </p:txBody>
      </p:sp>
      <p:sp>
        <p:nvSpPr>
          <p:cNvPr id="24" name="Text 19"/>
          <p:cNvSpPr txBox="1"/>
          <p:nvPr/>
        </p:nvSpPr>
        <p:spPr>
          <a:xfrm>
            <a:off x="566928" y="5559552"/>
            <a:ext cx="11064240" cy="685800"/>
          </a:xfrm>
          <a:prstGeom prst="rect">
            <a:avLst/>
          </a:prstGeom>
          <a:noFill/>
          <a:ln/>
        </p:spPr>
        <p:txBody>
          <a:bodyPr wrap="square" lIns="0" tIns="0" rIns="0" bIns="0" rtlCol="0" anchor="t"/>
          <a:lstStyle/>
          <a:p>
            <a:pPr algn="l" indent="0" marL="0">
              <a:lnSpc>
                <a:spcPct val="118000"/>
              </a:lnSpc>
              <a:buNone/>
            </a:pPr>
            <a:r>
              <a:rPr lang="en-US" sz="1300" b="1" dirty="0">
                <a:solidFill>
                  <a:srgbClr val="15171C"/>
                </a:solidFill>
                <a:latin typeface="Calibri" pitchFamily="34" charset="0"/>
                <a:ea typeface="Calibri" pitchFamily="34" charset="-122"/>
                <a:cs typeface="Calibri" pitchFamily="34" charset="-120"/>
              </a:rPr>
              <a:t>Our hunch:</a:t>
            </a:r>
            <a:pPr algn="l" indent="0" marL="0">
              <a:lnSpc>
                <a:spcPct val="118000"/>
              </a:lnSpc>
              <a:buNone/>
            </a:pPr>
            <a:r>
              <a:rPr lang="en-US" sz="1300" dirty="0">
                <a:solidFill>
                  <a:srgbClr val="15171C"/>
                </a:solidFill>
                <a:latin typeface="Calibri" pitchFamily="34" charset="0"/>
                <a:ea typeface="Calibri" pitchFamily="34" charset="-122"/>
                <a:cs typeface="Calibri" pitchFamily="34" charset="-120"/>
              </a:rPr>
              <a:t> a short look keeps the timing sharp. A long look buries the moment in everything around it — like describing one second of a match by summarising the whole minute.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F"/>
        </a:solidFill>
      </p:bgPr>
    </p:bg>
    <p:spTree>
      <p:nvGrpSpPr>
        <p:cNvPr id="1" name=""/>
        <p:cNvGrpSpPr/>
        <p:nvPr/>
      </p:nvGrpSpPr>
      <p:grpSpPr>
        <a:xfrm>
          <a:off x="0" y="0"/>
          <a:ext cx="0" cy="0"/>
          <a:chOff x="0" y="0"/>
          <a:chExt cx="0" cy="0"/>
        </a:xfrm>
      </p:grpSpPr>
      <p:sp>
        <p:nvSpPr>
          <p:cNvPr id="2" name="Text 0"/>
          <p:cNvSpPr txBox="1"/>
          <p:nvPr/>
        </p:nvSpPr>
        <p:spPr>
          <a:xfrm>
            <a:off x="11414455" y="6446520"/>
            <a:ext cx="365760" cy="274320"/>
          </a:xfrm>
          <a:prstGeom prst="rect">
            <a:avLst/>
          </a:prstGeom>
          <a:noFill/>
          <a:ln/>
        </p:spPr>
        <p:txBody>
          <a:bodyPr wrap="square" lIns="0" tIns="0" rIns="0" bIns="0" rtlCol="0" anchor="ctr"/>
          <a:lstStyle/>
          <a:p>
            <a:pPr algn="r" indent="0" marL="0">
              <a:buNone/>
            </a:pPr>
            <a:r>
              <a:rPr lang="en-US" sz="950" dirty="0">
                <a:solidFill>
                  <a:srgbClr val="6A6E77"/>
                </a:solidFill>
                <a:latin typeface="Calibri" pitchFamily="34" charset="0"/>
                <a:ea typeface="Calibri" pitchFamily="34" charset="-122"/>
                <a:cs typeface="Calibri" pitchFamily="34" charset="-120"/>
              </a:rPr>
              <a:t>4</a:t>
            </a:r>
            <a:endParaRPr lang="en-US" sz="950" dirty="0"/>
          </a:p>
        </p:txBody>
      </p:sp>
      <p:sp>
        <p:nvSpPr>
          <p:cNvPr id="3" name="Text 1"/>
          <p:cNvSpPr txBox="1"/>
          <p:nvPr/>
        </p:nvSpPr>
        <p:spPr>
          <a:xfrm>
            <a:off x="566928" y="6446520"/>
            <a:ext cx="2743200" cy="274320"/>
          </a:xfrm>
          <a:prstGeom prst="rect">
            <a:avLst/>
          </a:prstGeom>
          <a:noFill/>
          <a:ln/>
        </p:spPr>
        <p:txBody>
          <a:bodyPr wrap="square" lIns="0" tIns="0" rIns="0" bIns="0" rtlCol="0" anchor="ctr"/>
          <a:lstStyle/>
          <a:p>
            <a:pPr indent="0" marL="0">
              <a:buNone/>
            </a:pPr>
            <a:r>
              <a:rPr lang="en-US" sz="950" dirty="0">
                <a:solidFill>
                  <a:srgbClr val="6A6E77"/>
                </a:solidFill>
                <a:latin typeface="Calibri" pitchFamily="34" charset="0"/>
                <a:ea typeface="Calibri" pitchFamily="34" charset="-122"/>
                <a:cs typeface="Calibri" pitchFamily="34" charset="-120"/>
              </a:rPr>
              <a:t>PitchVision</a:t>
            </a:r>
            <a:endParaRPr lang="en-US" sz="950" dirty="0"/>
          </a:p>
        </p:txBody>
      </p:sp>
      <p:sp>
        <p:nvSpPr>
          <p:cNvPr id="5" name="Shape 2"/>
          <p:cNvSpPr/>
          <p:nvPr/>
        </p:nvSpPr>
        <p:spPr>
          <a:xfrm>
            <a:off x="566928" y="475488"/>
            <a:ext cx="457200" cy="54864"/>
          </a:xfrm>
          <a:prstGeom prst="rect">
            <a:avLst/>
          </a:prstGeom>
          <a:solidFill>
            <a:srgbClr val="D6412F"/>
          </a:solidFill>
          <a:ln/>
        </p:spPr>
      </p:sp>
      <p:sp>
        <p:nvSpPr>
          <p:cNvPr id="6" name="Text 3"/>
          <p:cNvSpPr txBox="1"/>
          <p:nvPr/>
        </p:nvSpPr>
        <p:spPr>
          <a:xfrm>
            <a:off x="566928" y="621792"/>
            <a:ext cx="8229600" cy="274320"/>
          </a:xfrm>
          <a:prstGeom prst="rect">
            <a:avLst/>
          </a:prstGeom>
          <a:noFill/>
          <a:ln/>
        </p:spPr>
        <p:txBody>
          <a:bodyPr wrap="square" lIns="0" tIns="0" rIns="0" bIns="0" rtlCol="0" anchor="ctr"/>
          <a:lstStyle/>
          <a:p>
            <a:pPr indent="0" marL="0">
              <a:buNone/>
            </a:pPr>
            <a:r>
              <a:rPr lang="en-US" sz="1150" b="1" spc="220" kern="0" dirty="0">
                <a:solidFill>
                  <a:srgbClr val="D6412F"/>
                </a:solidFill>
                <a:latin typeface="Calibri" pitchFamily="34" charset="0"/>
                <a:ea typeface="Calibri" pitchFamily="34" charset="-122"/>
                <a:cs typeface="Calibri" pitchFamily="34" charset="-120"/>
              </a:rPr>
              <a:t>2 · THE MODEL</a:t>
            </a:r>
            <a:endParaRPr lang="en-US" sz="1150" dirty="0"/>
          </a:p>
        </p:txBody>
      </p:sp>
      <p:sp>
        <p:nvSpPr>
          <p:cNvPr id="7" name="Text 4"/>
          <p:cNvSpPr txBox="1"/>
          <p:nvPr/>
        </p:nvSpPr>
        <p:spPr>
          <a:xfrm>
            <a:off x="566928" y="932688"/>
            <a:ext cx="10607040" cy="868680"/>
          </a:xfrm>
          <a:prstGeom prst="rect">
            <a:avLst/>
          </a:prstGeom>
          <a:noFill/>
          <a:ln/>
        </p:spPr>
        <p:txBody>
          <a:bodyPr wrap="square" lIns="0" tIns="0" rIns="0" bIns="0" rtlCol="0" anchor="ctr"/>
          <a:lstStyle/>
          <a:p>
            <a:pPr indent="0" marL="0">
              <a:lnSpc>
                <a:spcPct val="95000"/>
              </a:lnSpc>
              <a:buNone/>
            </a:pPr>
            <a:r>
              <a:rPr lang="en-US" sz="3100" b="1" dirty="0">
                <a:solidFill>
                  <a:srgbClr val="15171C"/>
                </a:solidFill>
                <a:latin typeface="Trebuchet MS" pitchFamily="34" charset="0"/>
                <a:ea typeface="Trebuchet MS" pitchFamily="34" charset="-122"/>
                <a:cs typeface="Trebuchet MS" pitchFamily="34" charset="-120"/>
              </a:rPr>
              <a:t>Small on purpose — it has to run on a laptop, not a data centre.</a:t>
            </a:r>
            <a:endParaRPr lang="en-US" sz="3100" dirty="0"/>
          </a:p>
        </p:txBody>
      </p:sp>
      <p:sp>
        <p:nvSpPr>
          <p:cNvPr id="8" name="Shape 5"/>
          <p:cNvSpPr/>
          <p:nvPr/>
        </p:nvSpPr>
        <p:spPr>
          <a:xfrm>
            <a:off x="566928" y="1965960"/>
            <a:ext cx="2578608" cy="1371600"/>
          </a:xfrm>
          <a:prstGeom prst="roundRect">
            <a:avLst>
              <a:gd name="adj" fmla="val 4000"/>
            </a:avLst>
          </a:prstGeom>
          <a:solidFill>
            <a:srgbClr val="FFFFFF"/>
          </a:solidFill>
          <a:ln w="12700">
            <a:solidFill>
              <a:srgbClr val="DCD6CC"/>
            </a:solidFill>
            <a:prstDash val="solid"/>
          </a:ln>
        </p:spPr>
      </p:sp>
      <p:sp>
        <p:nvSpPr>
          <p:cNvPr id="9" name="Shape 6"/>
          <p:cNvSpPr/>
          <p:nvPr/>
        </p:nvSpPr>
        <p:spPr>
          <a:xfrm>
            <a:off x="786384" y="2212848"/>
            <a:ext cx="457200" cy="457200"/>
          </a:xfrm>
          <a:prstGeom prst="roundRect">
            <a:avLst>
              <a:gd name="adj" fmla="val 10000"/>
            </a:avLst>
          </a:prstGeom>
          <a:solidFill>
            <a:srgbClr val="0E6E6B"/>
          </a:solidFill>
          <a:ln/>
        </p:spPr>
      </p:sp>
      <p:pic>
        <p:nvPicPr>
          <p:cNvPr id="10" name="Image 0" descr="/home/claude/final_deck/icons/play.png">    </p:cNvPr>
          <p:cNvPicPr>
            <a:picLocks noChangeAspect="1"/>
          </p:cNvPicPr>
          <p:nvPr/>
        </p:nvPicPr>
        <p:blipFill>
          <a:blip r:embed="rId1"/>
          <a:stretch>
            <a:fillRect/>
          </a:stretch>
        </p:blipFill>
        <p:spPr>
          <a:xfrm>
            <a:off x="909828" y="2336292"/>
            <a:ext cx="210312" cy="210312"/>
          </a:xfrm>
          <a:prstGeom prst="rect">
            <a:avLst/>
          </a:prstGeom>
        </p:spPr>
      </p:pic>
      <p:sp>
        <p:nvSpPr>
          <p:cNvPr id="11" name="Text 7"/>
          <p:cNvSpPr txBox="1"/>
          <p:nvPr/>
        </p:nvSpPr>
        <p:spPr>
          <a:xfrm>
            <a:off x="1353312" y="2103120"/>
            <a:ext cx="1618488" cy="1097280"/>
          </a:xfrm>
          <a:prstGeom prst="rect">
            <a:avLst/>
          </a:prstGeom>
          <a:noFill/>
          <a:ln/>
        </p:spPr>
        <p:txBody>
          <a:bodyPr wrap="square" lIns="0" tIns="0" rIns="0" bIns="0" rtlCol="0" anchor="ctr"/>
          <a:lstStyle/>
          <a:p>
            <a:pPr indent="0" marL="0">
              <a:lnSpc>
                <a:spcPct val="100000"/>
              </a:lnSpc>
              <a:buNone/>
            </a:pPr>
            <a:r>
              <a:rPr lang="en-US" sz="1250" b="1" dirty="0">
                <a:solidFill>
                  <a:srgbClr val="15171C"/>
                </a:solidFill>
                <a:latin typeface="Calibri" pitchFamily="34" charset="0"/>
                <a:ea typeface="Calibri" pitchFamily="34" charset="-122"/>
                <a:cs typeface="Calibri" pitchFamily="34" charset="-120"/>
              </a:rPr>
              <a:t>One frame</a:t>
            </a:r>
            <a:endParaRPr lang="en-US" sz="1250" dirty="0"/>
          </a:p>
          <a:p>
            <a:pPr indent="0" marL="0">
              <a:lnSpc>
                <a:spcPct val="100000"/>
              </a:lnSpc>
              <a:buNone/>
            </a:pPr>
            <a:r>
              <a:rPr lang="en-US" sz="1250" b="1" dirty="0">
                <a:solidFill>
                  <a:srgbClr val="15171C"/>
                </a:solidFill>
                <a:latin typeface="Calibri" pitchFamily="34" charset="0"/>
                <a:ea typeface="Calibri" pitchFamily="34" charset="-122"/>
                <a:cs typeface="Calibri" pitchFamily="34" charset="-120"/>
              </a:rPr>
              <a:t>per second</a:t>
            </a:r>
            <a:endParaRPr lang="en-US" sz="1250" dirty="0"/>
          </a:p>
        </p:txBody>
      </p:sp>
      <p:sp>
        <p:nvSpPr>
          <p:cNvPr id="12" name="Text 8"/>
          <p:cNvSpPr txBox="1"/>
          <p:nvPr/>
        </p:nvSpPr>
        <p:spPr>
          <a:xfrm>
            <a:off x="3154680" y="2377440"/>
            <a:ext cx="237744" cy="457200"/>
          </a:xfrm>
          <a:prstGeom prst="rect">
            <a:avLst/>
          </a:prstGeom>
          <a:noFill/>
          <a:ln/>
        </p:spPr>
        <p:txBody>
          <a:bodyPr wrap="square" lIns="0" tIns="0" rIns="0" bIns="0" rtlCol="0" anchor="ctr"/>
          <a:lstStyle/>
          <a:p>
            <a:pPr algn="ctr" indent="0" marL="0">
              <a:buNone/>
            </a:pPr>
            <a:r>
              <a:rPr lang="en-US" sz="1700" b="1" dirty="0">
                <a:solidFill>
                  <a:srgbClr val="6A6E77"/>
                </a:solidFill>
                <a:latin typeface="Calibri" pitchFamily="34" charset="0"/>
                <a:ea typeface="Calibri" pitchFamily="34" charset="-122"/>
                <a:cs typeface="Calibri" pitchFamily="34" charset="-120"/>
              </a:rPr>
              <a:t>→</a:t>
            </a:r>
            <a:endParaRPr lang="en-US" sz="1700" dirty="0"/>
          </a:p>
        </p:txBody>
      </p:sp>
      <p:sp>
        <p:nvSpPr>
          <p:cNvPr id="13" name="Shape 9"/>
          <p:cNvSpPr/>
          <p:nvPr/>
        </p:nvSpPr>
        <p:spPr>
          <a:xfrm>
            <a:off x="3401568" y="1965960"/>
            <a:ext cx="2578608" cy="1371600"/>
          </a:xfrm>
          <a:prstGeom prst="roundRect">
            <a:avLst>
              <a:gd name="adj" fmla="val 4000"/>
            </a:avLst>
          </a:prstGeom>
          <a:solidFill>
            <a:srgbClr val="FFFFFF"/>
          </a:solidFill>
          <a:ln w="12700">
            <a:solidFill>
              <a:srgbClr val="DCD6CC"/>
            </a:solidFill>
            <a:prstDash val="solid"/>
          </a:ln>
        </p:spPr>
      </p:sp>
      <p:sp>
        <p:nvSpPr>
          <p:cNvPr id="14" name="Shape 10"/>
          <p:cNvSpPr/>
          <p:nvPr/>
        </p:nvSpPr>
        <p:spPr>
          <a:xfrm>
            <a:off x="3621024" y="2212848"/>
            <a:ext cx="457200" cy="457200"/>
          </a:xfrm>
          <a:prstGeom prst="roundRect">
            <a:avLst>
              <a:gd name="adj" fmla="val 10000"/>
            </a:avLst>
          </a:prstGeom>
          <a:solidFill>
            <a:srgbClr val="0E6E6B"/>
          </a:solidFill>
          <a:ln/>
        </p:spPr>
      </p:sp>
      <p:pic>
        <p:nvPicPr>
          <p:cNvPr id="15" name="Image 1" descr="/home/claude/final_deck/icons/eye.png">    </p:cNvPr>
          <p:cNvPicPr>
            <a:picLocks noChangeAspect="1"/>
          </p:cNvPicPr>
          <p:nvPr/>
        </p:nvPicPr>
        <p:blipFill>
          <a:blip r:embed="rId2"/>
          <a:stretch>
            <a:fillRect/>
          </a:stretch>
        </p:blipFill>
        <p:spPr>
          <a:xfrm>
            <a:off x="3744468" y="2336292"/>
            <a:ext cx="210312" cy="210312"/>
          </a:xfrm>
          <a:prstGeom prst="rect">
            <a:avLst/>
          </a:prstGeom>
        </p:spPr>
      </p:pic>
      <p:sp>
        <p:nvSpPr>
          <p:cNvPr id="16" name="Text 11"/>
          <p:cNvSpPr txBox="1"/>
          <p:nvPr/>
        </p:nvSpPr>
        <p:spPr>
          <a:xfrm>
            <a:off x="4187952" y="2103120"/>
            <a:ext cx="1618488" cy="1097280"/>
          </a:xfrm>
          <a:prstGeom prst="rect">
            <a:avLst/>
          </a:prstGeom>
          <a:noFill/>
          <a:ln/>
        </p:spPr>
        <p:txBody>
          <a:bodyPr wrap="square" lIns="0" tIns="0" rIns="0" bIns="0" rtlCol="0" anchor="ctr"/>
          <a:lstStyle/>
          <a:p>
            <a:pPr indent="0" marL="0">
              <a:lnSpc>
                <a:spcPct val="100000"/>
              </a:lnSpc>
              <a:buNone/>
            </a:pPr>
            <a:r>
              <a:rPr lang="en-US" sz="1250" b="1" dirty="0">
                <a:solidFill>
                  <a:srgbClr val="15171C"/>
                </a:solidFill>
                <a:latin typeface="Calibri" pitchFamily="34" charset="0"/>
                <a:ea typeface="Calibri" pitchFamily="34" charset="-122"/>
                <a:cs typeface="Calibri" pitchFamily="34" charset="-120"/>
              </a:rPr>
              <a:t>Describe the</a:t>
            </a:r>
            <a:endParaRPr lang="en-US" sz="1250" dirty="0"/>
          </a:p>
          <a:p>
            <a:pPr indent="0" marL="0">
              <a:lnSpc>
                <a:spcPct val="100000"/>
              </a:lnSpc>
              <a:buNone/>
            </a:pPr>
            <a:r>
              <a:rPr lang="en-US" sz="1250" b="1" dirty="0">
                <a:solidFill>
                  <a:srgbClr val="15171C"/>
                </a:solidFill>
                <a:latin typeface="Calibri" pitchFamily="34" charset="0"/>
                <a:ea typeface="Calibri" pitchFamily="34" charset="-122"/>
                <a:cs typeface="Calibri" pitchFamily="34" charset="-120"/>
              </a:rPr>
              <a:t>picture in numbers</a:t>
            </a:r>
            <a:endParaRPr lang="en-US" sz="1250" dirty="0"/>
          </a:p>
        </p:txBody>
      </p:sp>
      <p:sp>
        <p:nvSpPr>
          <p:cNvPr id="17" name="Text 12"/>
          <p:cNvSpPr txBox="1"/>
          <p:nvPr/>
        </p:nvSpPr>
        <p:spPr>
          <a:xfrm>
            <a:off x="5989320" y="2377440"/>
            <a:ext cx="237744" cy="457200"/>
          </a:xfrm>
          <a:prstGeom prst="rect">
            <a:avLst/>
          </a:prstGeom>
          <a:noFill/>
          <a:ln/>
        </p:spPr>
        <p:txBody>
          <a:bodyPr wrap="square" lIns="0" tIns="0" rIns="0" bIns="0" rtlCol="0" anchor="ctr"/>
          <a:lstStyle/>
          <a:p>
            <a:pPr algn="ctr" indent="0" marL="0">
              <a:buNone/>
            </a:pPr>
            <a:r>
              <a:rPr lang="en-US" sz="1700" b="1" dirty="0">
                <a:solidFill>
                  <a:srgbClr val="6A6E77"/>
                </a:solidFill>
                <a:latin typeface="Calibri" pitchFamily="34" charset="0"/>
                <a:ea typeface="Calibri" pitchFamily="34" charset="-122"/>
                <a:cs typeface="Calibri" pitchFamily="34" charset="-120"/>
              </a:rPr>
              <a:t>→</a:t>
            </a:r>
            <a:endParaRPr lang="en-US" sz="1700" dirty="0"/>
          </a:p>
        </p:txBody>
      </p:sp>
      <p:sp>
        <p:nvSpPr>
          <p:cNvPr id="18" name="Shape 13"/>
          <p:cNvSpPr/>
          <p:nvPr/>
        </p:nvSpPr>
        <p:spPr>
          <a:xfrm>
            <a:off x="6236208" y="1965960"/>
            <a:ext cx="2578608" cy="1371600"/>
          </a:xfrm>
          <a:prstGeom prst="roundRect">
            <a:avLst>
              <a:gd name="adj" fmla="val 4000"/>
            </a:avLst>
          </a:prstGeom>
          <a:solidFill>
            <a:srgbClr val="D6412F"/>
          </a:solidFill>
          <a:ln/>
        </p:spPr>
      </p:sp>
      <p:sp>
        <p:nvSpPr>
          <p:cNvPr id="19" name="Shape 14"/>
          <p:cNvSpPr/>
          <p:nvPr/>
        </p:nvSpPr>
        <p:spPr>
          <a:xfrm>
            <a:off x="6455664" y="2212848"/>
            <a:ext cx="457200" cy="457200"/>
          </a:xfrm>
          <a:prstGeom prst="roundRect">
            <a:avLst>
              <a:gd name="adj" fmla="val 10000"/>
            </a:avLst>
          </a:prstGeom>
          <a:solidFill>
            <a:srgbClr val="9E2C1E"/>
          </a:solidFill>
          <a:ln/>
        </p:spPr>
      </p:sp>
      <p:pic>
        <p:nvPicPr>
          <p:cNvPr id="20" name="Image 2" descr="/home/claude/final_deck/icons/brain.png">    </p:cNvPr>
          <p:cNvPicPr>
            <a:picLocks noChangeAspect="1"/>
          </p:cNvPicPr>
          <p:nvPr/>
        </p:nvPicPr>
        <p:blipFill>
          <a:blip r:embed="rId3"/>
          <a:stretch>
            <a:fillRect/>
          </a:stretch>
        </p:blipFill>
        <p:spPr>
          <a:xfrm>
            <a:off x="6579108" y="2336292"/>
            <a:ext cx="210312" cy="210312"/>
          </a:xfrm>
          <a:prstGeom prst="rect">
            <a:avLst/>
          </a:prstGeom>
        </p:spPr>
      </p:pic>
      <p:sp>
        <p:nvSpPr>
          <p:cNvPr id="21" name="Text 15"/>
          <p:cNvSpPr txBox="1"/>
          <p:nvPr/>
        </p:nvSpPr>
        <p:spPr>
          <a:xfrm>
            <a:off x="7022592" y="2103120"/>
            <a:ext cx="1618488" cy="1097280"/>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Look at W seconds</a:t>
            </a:r>
            <a:endParaRPr lang="en-US" sz="1250" dirty="0"/>
          </a:p>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around this moment</a:t>
            </a:r>
            <a:endParaRPr lang="en-US" sz="1250" dirty="0"/>
          </a:p>
        </p:txBody>
      </p:sp>
      <p:sp>
        <p:nvSpPr>
          <p:cNvPr id="22" name="Text 16"/>
          <p:cNvSpPr txBox="1"/>
          <p:nvPr/>
        </p:nvSpPr>
        <p:spPr>
          <a:xfrm>
            <a:off x="8823960" y="2377440"/>
            <a:ext cx="237744" cy="457200"/>
          </a:xfrm>
          <a:prstGeom prst="rect">
            <a:avLst/>
          </a:prstGeom>
          <a:noFill/>
          <a:ln/>
        </p:spPr>
        <p:txBody>
          <a:bodyPr wrap="square" lIns="0" tIns="0" rIns="0" bIns="0" rtlCol="0" anchor="ctr"/>
          <a:lstStyle/>
          <a:p>
            <a:pPr algn="ctr" indent="0" marL="0">
              <a:buNone/>
            </a:pPr>
            <a:r>
              <a:rPr lang="en-US" sz="1700" b="1" dirty="0">
                <a:solidFill>
                  <a:srgbClr val="6A6E77"/>
                </a:solidFill>
                <a:latin typeface="Calibri" pitchFamily="34" charset="0"/>
                <a:ea typeface="Calibri" pitchFamily="34" charset="-122"/>
                <a:cs typeface="Calibri" pitchFamily="34" charset="-120"/>
              </a:rPr>
              <a:t>→</a:t>
            </a:r>
            <a:endParaRPr lang="en-US" sz="1700" dirty="0"/>
          </a:p>
        </p:txBody>
      </p:sp>
      <p:sp>
        <p:nvSpPr>
          <p:cNvPr id="23" name="Shape 17"/>
          <p:cNvSpPr/>
          <p:nvPr/>
        </p:nvSpPr>
        <p:spPr>
          <a:xfrm>
            <a:off x="9070848" y="1965960"/>
            <a:ext cx="2578608" cy="1371600"/>
          </a:xfrm>
          <a:prstGeom prst="roundRect">
            <a:avLst>
              <a:gd name="adj" fmla="val 4000"/>
            </a:avLst>
          </a:prstGeom>
          <a:solidFill>
            <a:srgbClr val="FFFFFF"/>
          </a:solidFill>
          <a:ln w="12700">
            <a:solidFill>
              <a:srgbClr val="DCD6CC"/>
            </a:solidFill>
            <a:prstDash val="solid"/>
          </a:ln>
        </p:spPr>
      </p:sp>
      <p:sp>
        <p:nvSpPr>
          <p:cNvPr id="24" name="Shape 18"/>
          <p:cNvSpPr/>
          <p:nvPr/>
        </p:nvSpPr>
        <p:spPr>
          <a:xfrm>
            <a:off x="9290304" y="2212848"/>
            <a:ext cx="457200" cy="457200"/>
          </a:xfrm>
          <a:prstGeom prst="roundRect">
            <a:avLst>
              <a:gd name="adj" fmla="val 10000"/>
            </a:avLst>
          </a:prstGeom>
          <a:solidFill>
            <a:srgbClr val="0E6E6B"/>
          </a:solidFill>
          <a:ln/>
        </p:spPr>
      </p:sp>
      <p:pic>
        <p:nvPicPr>
          <p:cNvPr id="25" name="Image 3" descr="/home/claude/final_deck/icons/list.png">    </p:cNvPr>
          <p:cNvPicPr>
            <a:picLocks noChangeAspect="1"/>
          </p:cNvPicPr>
          <p:nvPr/>
        </p:nvPicPr>
        <p:blipFill>
          <a:blip r:embed="rId4"/>
          <a:stretch>
            <a:fillRect/>
          </a:stretch>
        </p:blipFill>
        <p:spPr>
          <a:xfrm>
            <a:off x="9413748" y="2336292"/>
            <a:ext cx="210312" cy="210312"/>
          </a:xfrm>
          <a:prstGeom prst="rect">
            <a:avLst/>
          </a:prstGeom>
        </p:spPr>
      </p:pic>
      <p:sp>
        <p:nvSpPr>
          <p:cNvPr id="26" name="Text 19"/>
          <p:cNvSpPr txBox="1"/>
          <p:nvPr/>
        </p:nvSpPr>
        <p:spPr>
          <a:xfrm>
            <a:off x="9857232" y="2103120"/>
            <a:ext cx="1618488" cy="1097280"/>
          </a:xfrm>
          <a:prstGeom prst="rect">
            <a:avLst/>
          </a:prstGeom>
          <a:noFill/>
          <a:ln/>
        </p:spPr>
        <p:txBody>
          <a:bodyPr wrap="square" lIns="0" tIns="0" rIns="0" bIns="0" rtlCol="0" anchor="ctr"/>
          <a:lstStyle/>
          <a:p>
            <a:pPr indent="0" marL="0">
              <a:lnSpc>
                <a:spcPct val="100000"/>
              </a:lnSpc>
              <a:buNone/>
            </a:pPr>
            <a:r>
              <a:rPr lang="en-US" sz="1250" b="1" dirty="0">
                <a:solidFill>
                  <a:srgbClr val="15171C"/>
                </a:solidFill>
                <a:latin typeface="Calibri" pitchFamily="34" charset="0"/>
                <a:ea typeface="Calibri" pitchFamily="34" charset="-122"/>
                <a:cs typeface="Calibri" pitchFamily="34" charset="-120"/>
              </a:rPr>
              <a:t>Score all 12</a:t>
            </a:r>
            <a:endParaRPr lang="en-US" sz="1250" dirty="0"/>
          </a:p>
          <a:p>
            <a:pPr indent="0" marL="0">
              <a:lnSpc>
                <a:spcPct val="100000"/>
              </a:lnSpc>
              <a:buNone/>
            </a:pPr>
            <a:r>
              <a:rPr lang="en-US" sz="1250" b="1" dirty="0">
                <a:solidFill>
                  <a:srgbClr val="15171C"/>
                </a:solidFill>
                <a:latin typeface="Calibri" pitchFamily="34" charset="0"/>
                <a:ea typeface="Calibri" pitchFamily="34" charset="-122"/>
                <a:cs typeface="Calibri" pitchFamily="34" charset="-120"/>
              </a:rPr>
              <a:t>event types</a:t>
            </a:r>
            <a:endParaRPr lang="en-US" sz="1250" dirty="0"/>
          </a:p>
        </p:txBody>
      </p:sp>
      <p:sp>
        <p:nvSpPr>
          <p:cNvPr id="27" name="Text 20"/>
          <p:cNvSpPr txBox="1"/>
          <p:nvPr/>
        </p:nvSpPr>
        <p:spPr>
          <a:xfrm>
            <a:off x="566928" y="3429000"/>
            <a:ext cx="10607040" cy="365760"/>
          </a:xfrm>
          <a:prstGeom prst="rect">
            <a:avLst/>
          </a:prstGeom>
          <a:noFill/>
          <a:ln/>
        </p:spPr>
        <p:txBody>
          <a:bodyPr wrap="square" lIns="0" tIns="0" rIns="0" bIns="0" rtlCol="0" anchor="t"/>
          <a:lstStyle/>
          <a:p>
            <a:pPr algn="l" indent="0" marL="0">
              <a:lnSpc>
                <a:spcPct val="118000"/>
              </a:lnSpc>
              <a:buNone/>
            </a:pPr>
            <a:r>
              <a:rPr lang="en-US" sz="1250" i="1" dirty="0">
                <a:solidFill>
                  <a:srgbClr val="6A6E77"/>
                </a:solidFill>
                <a:latin typeface="Calibri" pitchFamily="34" charset="0"/>
                <a:ea typeface="Calibri" pitchFamily="34" charset="-122"/>
                <a:cs typeface="Calibri" pitchFamily="34" charset="-120"/>
              </a:rPr>
              <a:t>Red is the one thing our experiment changes: </a:t>
            </a:r>
            <a:pPr algn="l" indent="0" marL="0">
              <a:lnSpc>
                <a:spcPct val="118000"/>
              </a:lnSpc>
              <a:buNone/>
            </a:pPr>
            <a:r>
              <a:rPr lang="en-US" sz="1250" b="1" i="1" dirty="0">
                <a:solidFill>
                  <a:srgbClr val="6A6E77"/>
                </a:solidFill>
                <a:latin typeface="Calibri" pitchFamily="34" charset="0"/>
                <a:ea typeface="Calibri" pitchFamily="34" charset="-122"/>
                <a:cs typeface="Calibri" pitchFamily="34" charset="-120"/>
              </a:rPr>
              <a:t>W</a:t>
            </a:r>
            <a:pPr algn="l" indent="0" marL="0">
              <a:lnSpc>
                <a:spcPct val="118000"/>
              </a:lnSpc>
              <a:buNone/>
            </a:pPr>
            <a:r>
              <a:rPr lang="en-US" sz="1250" i="1" dirty="0">
                <a:solidFill>
                  <a:srgbClr val="6A6E77"/>
                </a:solidFill>
                <a:latin typeface="Calibri" pitchFamily="34" charset="0"/>
                <a:ea typeface="Calibri" pitchFamily="34" charset="-122"/>
                <a:cs typeface="Calibri" pitchFamily="34" charset="-120"/>
              </a:rPr>
              <a:t>, the width of the window it looks at.</a:t>
            </a:r>
            <a:endParaRPr lang="en-US" sz="1250" dirty="0"/>
          </a:p>
        </p:txBody>
      </p:sp>
      <p:sp>
        <p:nvSpPr>
          <p:cNvPr id="28" name="Shape 21"/>
          <p:cNvSpPr/>
          <p:nvPr/>
        </p:nvSpPr>
        <p:spPr>
          <a:xfrm>
            <a:off x="566928" y="3950208"/>
            <a:ext cx="3346704" cy="1691640"/>
          </a:xfrm>
          <a:prstGeom prst="roundRect">
            <a:avLst>
              <a:gd name="adj" fmla="val 3243"/>
            </a:avLst>
          </a:prstGeom>
          <a:solidFill>
            <a:srgbClr val="FFFFFF"/>
          </a:solidFill>
          <a:ln w="12700">
            <a:solidFill>
              <a:srgbClr val="DCD6CC"/>
            </a:solidFill>
            <a:prstDash val="solid"/>
          </a:ln>
          <a:effectLst>
            <a:outerShdw sx="100000" sy="100000" kx="0" ky="0" algn="bl" rotWithShape="0" blurRad="101600" dist="25400" dir="5400000">
              <a:srgbClr val="15171C">
                <a:alpha val="7000"/>
              </a:srgbClr>
            </a:outerShdw>
          </a:effectLst>
        </p:spPr>
      </p:sp>
      <p:sp>
        <p:nvSpPr>
          <p:cNvPr id="29" name="Shape 22"/>
          <p:cNvSpPr/>
          <p:nvPr/>
        </p:nvSpPr>
        <p:spPr>
          <a:xfrm>
            <a:off x="841248" y="4187952"/>
            <a:ext cx="457200" cy="457200"/>
          </a:xfrm>
          <a:prstGeom prst="roundRect">
            <a:avLst>
              <a:gd name="adj" fmla="val 10000"/>
            </a:avLst>
          </a:prstGeom>
          <a:solidFill>
            <a:srgbClr val="15171C"/>
          </a:solidFill>
          <a:ln/>
        </p:spPr>
      </p:sp>
      <p:pic>
        <p:nvPicPr>
          <p:cNvPr id="30" name="Image 4" descr="/home/claude/final_deck/icons/laptop.png">    </p:cNvPr>
          <p:cNvPicPr>
            <a:picLocks noChangeAspect="1"/>
          </p:cNvPicPr>
          <p:nvPr/>
        </p:nvPicPr>
        <p:blipFill>
          <a:blip r:embed="rId5"/>
          <a:stretch>
            <a:fillRect/>
          </a:stretch>
        </p:blipFill>
        <p:spPr>
          <a:xfrm>
            <a:off x="964692" y="4311396"/>
            <a:ext cx="210312" cy="210312"/>
          </a:xfrm>
          <a:prstGeom prst="rect">
            <a:avLst/>
          </a:prstGeom>
        </p:spPr>
      </p:pic>
      <p:sp>
        <p:nvSpPr>
          <p:cNvPr id="31" name="Text 23"/>
          <p:cNvSpPr txBox="1"/>
          <p:nvPr/>
        </p:nvSpPr>
        <p:spPr>
          <a:xfrm>
            <a:off x="1408176" y="4206240"/>
            <a:ext cx="2249424" cy="411480"/>
          </a:xfrm>
          <a:prstGeom prst="rect">
            <a:avLst/>
          </a:prstGeom>
          <a:noFill/>
          <a:ln/>
        </p:spPr>
        <p:txBody>
          <a:bodyPr wrap="square" lIns="0" tIns="0" rIns="0" bIns="0" rtlCol="0" anchor="ctr"/>
          <a:lstStyle/>
          <a:p>
            <a:pPr indent="0" marL="0">
              <a:buNone/>
            </a:pPr>
            <a:r>
              <a:rPr lang="en-US" sz="1550" b="1" dirty="0">
                <a:solidFill>
                  <a:srgbClr val="15171C"/>
                </a:solidFill>
                <a:latin typeface="Trebuchet MS" pitchFamily="34" charset="0"/>
                <a:ea typeface="Trebuchet MS" pitchFamily="34" charset="-122"/>
                <a:cs typeface="Trebuchet MS" pitchFamily="34" charset="-120"/>
              </a:rPr>
              <a:t>206,028 numbers</a:t>
            </a:r>
            <a:endParaRPr lang="en-US" sz="1550" dirty="0"/>
          </a:p>
        </p:txBody>
      </p:sp>
      <p:sp>
        <p:nvSpPr>
          <p:cNvPr id="32" name="Text 24"/>
          <p:cNvSpPr txBox="1"/>
          <p:nvPr/>
        </p:nvSpPr>
        <p:spPr>
          <a:xfrm>
            <a:off x="841248" y="4773168"/>
            <a:ext cx="2798064" cy="777240"/>
          </a:xfrm>
          <a:prstGeom prst="rect">
            <a:avLst/>
          </a:prstGeom>
          <a:noFill/>
          <a:ln/>
        </p:spPr>
        <p:txBody>
          <a:bodyPr wrap="square" lIns="0" tIns="0" rIns="0" bIns="0" rtlCol="0" anchor="t"/>
          <a:lstStyle/>
          <a:p>
            <a:pPr algn="l" indent="0" marL="0">
              <a:lnSpc>
                <a:spcPct val="118000"/>
              </a:lnSpc>
              <a:buNone/>
            </a:pPr>
            <a:r>
              <a:rPr lang="en-US" sz="1200" dirty="0">
                <a:solidFill>
                  <a:srgbClr val="6A6E77"/>
                </a:solidFill>
                <a:latin typeface="Calibri" pitchFamily="34" charset="0"/>
                <a:ea typeface="Calibri" pitchFamily="34" charset="-122"/>
                <a:cs typeface="Calibri" pitchFamily="34" charset="-120"/>
              </a:rPr>
              <a:t>The whole model. A modern phone photo has more pixels than that.</a:t>
            </a:r>
            <a:endParaRPr lang="en-US" sz="1200" dirty="0"/>
          </a:p>
        </p:txBody>
      </p:sp>
      <p:sp>
        <p:nvSpPr>
          <p:cNvPr id="33" name="Shape 25"/>
          <p:cNvSpPr/>
          <p:nvPr/>
        </p:nvSpPr>
        <p:spPr>
          <a:xfrm>
            <a:off x="4187952" y="3950208"/>
            <a:ext cx="3346704" cy="1691640"/>
          </a:xfrm>
          <a:prstGeom prst="roundRect">
            <a:avLst>
              <a:gd name="adj" fmla="val 3243"/>
            </a:avLst>
          </a:prstGeom>
          <a:solidFill>
            <a:srgbClr val="FFFFFF"/>
          </a:solidFill>
          <a:ln w="12700">
            <a:solidFill>
              <a:srgbClr val="DCD6CC"/>
            </a:solidFill>
            <a:prstDash val="solid"/>
          </a:ln>
          <a:effectLst>
            <a:outerShdw sx="100000" sy="100000" kx="0" ky="0" algn="bl" rotWithShape="0" blurRad="101600" dist="25400" dir="5400000">
              <a:srgbClr val="15171C">
                <a:alpha val="7000"/>
              </a:srgbClr>
            </a:outerShdw>
          </a:effectLst>
        </p:spPr>
      </p:sp>
      <p:sp>
        <p:nvSpPr>
          <p:cNvPr id="34" name="Shape 26"/>
          <p:cNvSpPr/>
          <p:nvPr/>
        </p:nvSpPr>
        <p:spPr>
          <a:xfrm>
            <a:off x="4462272" y="4187952"/>
            <a:ext cx="457200" cy="457200"/>
          </a:xfrm>
          <a:prstGeom prst="roundRect">
            <a:avLst>
              <a:gd name="adj" fmla="val 10000"/>
            </a:avLst>
          </a:prstGeom>
          <a:solidFill>
            <a:srgbClr val="15171C"/>
          </a:solidFill>
          <a:ln/>
        </p:spPr>
      </p:sp>
      <p:pic>
        <p:nvPicPr>
          <p:cNvPr id="35" name="Image 5" descr="/home/claude/final_deck/icons/clock2.png">    </p:cNvPr>
          <p:cNvPicPr>
            <a:picLocks noChangeAspect="1"/>
          </p:cNvPicPr>
          <p:nvPr/>
        </p:nvPicPr>
        <p:blipFill>
          <a:blip r:embed="rId6"/>
          <a:stretch>
            <a:fillRect/>
          </a:stretch>
        </p:blipFill>
        <p:spPr>
          <a:xfrm>
            <a:off x="4585716" y="4311396"/>
            <a:ext cx="210312" cy="210312"/>
          </a:xfrm>
          <a:prstGeom prst="rect">
            <a:avLst/>
          </a:prstGeom>
        </p:spPr>
      </p:pic>
      <p:sp>
        <p:nvSpPr>
          <p:cNvPr id="36" name="Text 27"/>
          <p:cNvSpPr txBox="1"/>
          <p:nvPr/>
        </p:nvSpPr>
        <p:spPr>
          <a:xfrm>
            <a:off x="5029200" y="4206240"/>
            <a:ext cx="2249424" cy="411480"/>
          </a:xfrm>
          <a:prstGeom prst="rect">
            <a:avLst/>
          </a:prstGeom>
          <a:noFill/>
          <a:ln/>
        </p:spPr>
        <p:txBody>
          <a:bodyPr wrap="square" lIns="0" tIns="0" rIns="0" bIns="0" rtlCol="0" anchor="ctr"/>
          <a:lstStyle/>
          <a:p>
            <a:pPr indent="0" marL="0">
              <a:buNone/>
            </a:pPr>
            <a:r>
              <a:rPr lang="en-US" sz="1550" b="1" dirty="0">
                <a:solidFill>
                  <a:srgbClr val="15171C"/>
                </a:solidFill>
                <a:latin typeface="Trebuchet MS" pitchFamily="34" charset="0"/>
                <a:ea typeface="Trebuchet MS" pitchFamily="34" charset="-122"/>
                <a:cs typeface="Trebuchet MS" pitchFamily="34" charset="-120"/>
              </a:rPr>
              <a:t>8 seconds to train</a:t>
            </a:r>
            <a:endParaRPr lang="en-US" sz="1550" dirty="0"/>
          </a:p>
        </p:txBody>
      </p:sp>
      <p:sp>
        <p:nvSpPr>
          <p:cNvPr id="37" name="Text 28"/>
          <p:cNvSpPr txBox="1"/>
          <p:nvPr/>
        </p:nvSpPr>
        <p:spPr>
          <a:xfrm>
            <a:off x="4462272" y="4773168"/>
            <a:ext cx="2798064" cy="777240"/>
          </a:xfrm>
          <a:prstGeom prst="rect">
            <a:avLst/>
          </a:prstGeom>
          <a:noFill/>
          <a:ln/>
        </p:spPr>
        <p:txBody>
          <a:bodyPr wrap="square" lIns="0" tIns="0" rIns="0" bIns="0" rtlCol="0" anchor="t"/>
          <a:lstStyle/>
          <a:p>
            <a:pPr algn="l" indent="0" marL="0">
              <a:lnSpc>
                <a:spcPct val="118000"/>
              </a:lnSpc>
              <a:buNone/>
            </a:pPr>
            <a:r>
              <a:rPr lang="en-US" sz="1200" dirty="0">
                <a:solidFill>
                  <a:srgbClr val="6A6E77"/>
                </a:solidFill>
                <a:latin typeface="Calibri" pitchFamily="34" charset="0"/>
                <a:ea typeface="Calibri" pitchFamily="34" charset="-122"/>
                <a:cs typeface="Calibri" pitchFamily="34" charset="-120"/>
              </a:rPr>
              <a:t>One full training run, on a free Colab GPU. We ran 15 of them.</a:t>
            </a:r>
            <a:endParaRPr lang="en-US" sz="1200" dirty="0"/>
          </a:p>
        </p:txBody>
      </p:sp>
      <p:sp>
        <p:nvSpPr>
          <p:cNvPr id="38" name="Shape 29"/>
          <p:cNvSpPr/>
          <p:nvPr/>
        </p:nvSpPr>
        <p:spPr>
          <a:xfrm>
            <a:off x="7808976" y="3950208"/>
            <a:ext cx="3346704" cy="1691640"/>
          </a:xfrm>
          <a:prstGeom prst="roundRect">
            <a:avLst>
              <a:gd name="adj" fmla="val 3243"/>
            </a:avLst>
          </a:prstGeom>
          <a:solidFill>
            <a:srgbClr val="FFFFFF"/>
          </a:solidFill>
          <a:ln w="12700">
            <a:solidFill>
              <a:srgbClr val="DCD6CC"/>
            </a:solidFill>
            <a:prstDash val="solid"/>
          </a:ln>
          <a:effectLst>
            <a:outerShdw sx="100000" sy="100000" kx="0" ky="0" algn="bl" rotWithShape="0" blurRad="101600" dist="25400" dir="5400000">
              <a:srgbClr val="15171C">
                <a:alpha val="7000"/>
              </a:srgbClr>
            </a:outerShdw>
          </a:effectLst>
        </p:spPr>
      </p:sp>
      <p:sp>
        <p:nvSpPr>
          <p:cNvPr id="39" name="Shape 30"/>
          <p:cNvSpPr/>
          <p:nvPr/>
        </p:nvSpPr>
        <p:spPr>
          <a:xfrm>
            <a:off x="8083296" y="4187952"/>
            <a:ext cx="457200" cy="457200"/>
          </a:xfrm>
          <a:prstGeom prst="roundRect">
            <a:avLst>
              <a:gd name="adj" fmla="val 10000"/>
            </a:avLst>
          </a:prstGeom>
          <a:solidFill>
            <a:srgbClr val="15171C"/>
          </a:solidFill>
          <a:ln/>
        </p:spPr>
      </p:sp>
      <p:pic>
        <p:nvPicPr>
          <p:cNvPr id="40" name="Image 6" descr="/home/claude/final_deck/icons/magic.png">    </p:cNvPr>
          <p:cNvPicPr>
            <a:picLocks noChangeAspect="1"/>
          </p:cNvPicPr>
          <p:nvPr/>
        </p:nvPicPr>
        <p:blipFill>
          <a:blip r:embed="rId7"/>
          <a:stretch>
            <a:fillRect/>
          </a:stretch>
        </p:blipFill>
        <p:spPr>
          <a:xfrm>
            <a:off x="8206740" y="4311396"/>
            <a:ext cx="210312" cy="210312"/>
          </a:xfrm>
          <a:prstGeom prst="rect">
            <a:avLst/>
          </a:prstGeom>
        </p:spPr>
      </p:pic>
      <p:sp>
        <p:nvSpPr>
          <p:cNvPr id="41" name="Text 31"/>
          <p:cNvSpPr txBox="1"/>
          <p:nvPr/>
        </p:nvSpPr>
        <p:spPr>
          <a:xfrm>
            <a:off x="8650224" y="4206240"/>
            <a:ext cx="2249424" cy="411480"/>
          </a:xfrm>
          <a:prstGeom prst="rect">
            <a:avLst/>
          </a:prstGeom>
          <a:noFill/>
          <a:ln/>
        </p:spPr>
        <p:txBody>
          <a:bodyPr wrap="square" lIns="0" tIns="0" rIns="0" bIns="0" rtlCol="0" anchor="ctr"/>
          <a:lstStyle/>
          <a:p>
            <a:pPr indent="0" marL="0">
              <a:buNone/>
            </a:pPr>
            <a:r>
              <a:rPr lang="en-US" sz="1550" b="1" dirty="0">
                <a:solidFill>
                  <a:srgbClr val="15171C"/>
                </a:solidFill>
                <a:latin typeface="Trebuchet MS" pitchFamily="34" charset="0"/>
                <a:ea typeface="Trebuchet MS" pitchFamily="34" charset="-122"/>
                <a:cs typeface="Trebuchet MS" pitchFamily="34" charset="-120"/>
              </a:rPr>
              <a:t>20,000× real time</a:t>
            </a:r>
            <a:endParaRPr lang="en-US" sz="1550" dirty="0"/>
          </a:p>
        </p:txBody>
      </p:sp>
      <p:sp>
        <p:nvSpPr>
          <p:cNvPr id="42" name="Text 32"/>
          <p:cNvSpPr txBox="1"/>
          <p:nvPr/>
        </p:nvSpPr>
        <p:spPr>
          <a:xfrm>
            <a:off x="8083296" y="4773168"/>
            <a:ext cx="2798064" cy="777240"/>
          </a:xfrm>
          <a:prstGeom prst="rect">
            <a:avLst/>
          </a:prstGeom>
          <a:noFill/>
          <a:ln/>
        </p:spPr>
        <p:txBody>
          <a:bodyPr wrap="square" lIns="0" tIns="0" rIns="0" bIns="0" rtlCol="0" anchor="t"/>
          <a:lstStyle/>
          <a:p>
            <a:pPr algn="l" indent="0" marL="0">
              <a:lnSpc>
                <a:spcPct val="118000"/>
              </a:lnSpc>
              <a:buNone/>
            </a:pPr>
            <a:r>
              <a:rPr lang="en-US" sz="1200" dirty="0">
                <a:solidFill>
                  <a:srgbClr val="6A6E77"/>
                </a:solidFill>
                <a:latin typeface="Calibri" pitchFamily="34" charset="0"/>
                <a:ea typeface="Calibri" pitchFamily="34" charset="-122"/>
                <a:cs typeface="Calibri" pitchFamily="34" charset="-120"/>
              </a:rPr>
              <a:t>It scores a 90-minute match faster than you could skip to the second half.</a:t>
            </a:r>
            <a:endParaRPr lang="en-US" sz="1200" dirty="0"/>
          </a:p>
        </p:txBody>
      </p:sp>
      <p:sp>
        <p:nvSpPr>
          <p:cNvPr id="43" name="Text 33"/>
          <p:cNvSpPr txBox="1"/>
          <p:nvPr/>
        </p:nvSpPr>
        <p:spPr>
          <a:xfrm>
            <a:off x="566928" y="5806440"/>
            <a:ext cx="10607040" cy="365760"/>
          </a:xfrm>
          <a:prstGeom prst="rect">
            <a:avLst/>
          </a:prstGeom>
          <a:noFill/>
          <a:ln/>
        </p:spPr>
        <p:txBody>
          <a:bodyPr wrap="square" lIns="0" tIns="0" rIns="0" bIns="0" rtlCol="0" anchor="t"/>
          <a:lstStyle/>
          <a:p>
            <a:pPr algn="l" indent="0" marL="0">
              <a:lnSpc>
                <a:spcPct val="118000"/>
              </a:lnSpc>
              <a:buNone/>
            </a:pPr>
            <a:r>
              <a:rPr lang="en-US" sz="1100" i="1" dirty="0">
                <a:solidFill>
                  <a:srgbClr val="6A6E77"/>
                </a:solidFill>
                <a:latin typeface="Calibri" pitchFamily="34" charset="0"/>
                <a:ea typeface="Calibri" pitchFamily="34" charset="-122"/>
                <a:cs typeface="Calibri" pitchFamily="34" charset="-120"/>
              </a:rPr>
              <a:t>Built on PyTorch, following Giancola et al. (SoccerNet, CVPR Workshops 2018) and Lea et al. (2017).</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F"/>
        </a:solidFill>
      </p:bgPr>
    </p:bg>
    <p:spTree>
      <p:nvGrpSpPr>
        <p:cNvPr id="1" name=""/>
        <p:cNvGrpSpPr/>
        <p:nvPr/>
      </p:nvGrpSpPr>
      <p:grpSpPr>
        <a:xfrm>
          <a:off x="0" y="0"/>
          <a:ext cx="0" cy="0"/>
          <a:chOff x="0" y="0"/>
          <a:chExt cx="0" cy="0"/>
        </a:xfrm>
      </p:grpSpPr>
      <p:sp>
        <p:nvSpPr>
          <p:cNvPr id="2" name="Text 0"/>
          <p:cNvSpPr txBox="1"/>
          <p:nvPr/>
        </p:nvSpPr>
        <p:spPr>
          <a:xfrm>
            <a:off x="11414455" y="6446520"/>
            <a:ext cx="365760" cy="274320"/>
          </a:xfrm>
          <a:prstGeom prst="rect">
            <a:avLst/>
          </a:prstGeom>
          <a:noFill/>
          <a:ln/>
        </p:spPr>
        <p:txBody>
          <a:bodyPr wrap="square" lIns="0" tIns="0" rIns="0" bIns="0" rtlCol="0" anchor="ctr"/>
          <a:lstStyle/>
          <a:p>
            <a:pPr algn="r" indent="0" marL="0">
              <a:buNone/>
            </a:pPr>
            <a:r>
              <a:rPr lang="en-US" sz="950" dirty="0">
                <a:solidFill>
                  <a:srgbClr val="6A6E77"/>
                </a:solidFill>
                <a:latin typeface="Calibri" pitchFamily="34" charset="0"/>
                <a:ea typeface="Calibri" pitchFamily="34" charset="-122"/>
                <a:cs typeface="Calibri" pitchFamily="34" charset="-120"/>
              </a:rPr>
              <a:t>5</a:t>
            </a:r>
            <a:endParaRPr lang="en-US" sz="950" dirty="0"/>
          </a:p>
        </p:txBody>
      </p:sp>
      <p:sp>
        <p:nvSpPr>
          <p:cNvPr id="3" name="Text 1"/>
          <p:cNvSpPr txBox="1"/>
          <p:nvPr/>
        </p:nvSpPr>
        <p:spPr>
          <a:xfrm>
            <a:off x="566928" y="6446520"/>
            <a:ext cx="2743200" cy="274320"/>
          </a:xfrm>
          <a:prstGeom prst="rect">
            <a:avLst/>
          </a:prstGeom>
          <a:noFill/>
          <a:ln/>
        </p:spPr>
        <p:txBody>
          <a:bodyPr wrap="square" lIns="0" tIns="0" rIns="0" bIns="0" rtlCol="0" anchor="ctr"/>
          <a:lstStyle/>
          <a:p>
            <a:pPr indent="0" marL="0">
              <a:buNone/>
            </a:pPr>
            <a:r>
              <a:rPr lang="en-US" sz="950" dirty="0">
                <a:solidFill>
                  <a:srgbClr val="6A6E77"/>
                </a:solidFill>
                <a:latin typeface="Calibri" pitchFamily="34" charset="0"/>
                <a:ea typeface="Calibri" pitchFamily="34" charset="-122"/>
                <a:cs typeface="Calibri" pitchFamily="34" charset="-120"/>
              </a:rPr>
              <a:t>PitchVision</a:t>
            </a:r>
            <a:endParaRPr lang="en-US" sz="950" dirty="0"/>
          </a:p>
        </p:txBody>
      </p:sp>
      <p:sp>
        <p:nvSpPr>
          <p:cNvPr id="5" name="Shape 2"/>
          <p:cNvSpPr/>
          <p:nvPr/>
        </p:nvSpPr>
        <p:spPr>
          <a:xfrm>
            <a:off x="566928" y="475488"/>
            <a:ext cx="457200" cy="54864"/>
          </a:xfrm>
          <a:prstGeom prst="rect">
            <a:avLst/>
          </a:prstGeom>
          <a:solidFill>
            <a:srgbClr val="D6412F"/>
          </a:solidFill>
          <a:ln/>
        </p:spPr>
      </p:sp>
      <p:sp>
        <p:nvSpPr>
          <p:cNvPr id="6" name="Text 3"/>
          <p:cNvSpPr txBox="1"/>
          <p:nvPr/>
        </p:nvSpPr>
        <p:spPr>
          <a:xfrm>
            <a:off x="566928" y="621792"/>
            <a:ext cx="8229600" cy="274320"/>
          </a:xfrm>
          <a:prstGeom prst="rect">
            <a:avLst/>
          </a:prstGeom>
          <a:noFill/>
          <a:ln/>
        </p:spPr>
        <p:txBody>
          <a:bodyPr wrap="square" lIns="0" tIns="0" rIns="0" bIns="0" rtlCol="0" anchor="ctr"/>
          <a:lstStyle/>
          <a:p>
            <a:pPr indent="0" marL="0">
              <a:buNone/>
            </a:pPr>
            <a:r>
              <a:rPr lang="en-US" sz="1150" b="1" spc="220" kern="0" dirty="0">
                <a:solidFill>
                  <a:srgbClr val="D6412F"/>
                </a:solidFill>
                <a:latin typeface="Calibri" pitchFamily="34" charset="0"/>
                <a:ea typeface="Calibri" pitchFamily="34" charset="-122"/>
                <a:cs typeface="Calibri" pitchFamily="34" charset="-120"/>
              </a:rPr>
              <a:t>3 · THE EXPERIMENT</a:t>
            </a:r>
            <a:endParaRPr lang="en-US" sz="1150" dirty="0"/>
          </a:p>
        </p:txBody>
      </p:sp>
      <p:sp>
        <p:nvSpPr>
          <p:cNvPr id="7" name="Text 4"/>
          <p:cNvSpPr txBox="1"/>
          <p:nvPr/>
        </p:nvSpPr>
        <p:spPr>
          <a:xfrm>
            <a:off x="566928" y="932688"/>
            <a:ext cx="10607040" cy="868680"/>
          </a:xfrm>
          <a:prstGeom prst="rect">
            <a:avLst/>
          </a:prstGeom>
          <a:noFill/>
          <a:ln/>
        </p:spPr>
        <p:txBody>
          <a:bodyPr wrap="square" lIns="0" tIns="0" rIns="0" bIns="0" rtlCol="0" anchor="ctr"/>
          <a:lstStyle/>
          <a:p>
            <a:pPr indent="0" marL="0">
              <a:lnSpc>
                <a:spcPct val="95000"/>
              </a:lnSpc>
              <a:buNone/>
            </a:pPr>
            <a:r>
              <a:rPr lang="en-US" sz="3100" b="1" dirty="0">
                <a:solidFill>
                  <a:srgbClr val="15171C"/>
                </a:solidFill>
                <a:latin typeface="Trebuchet MS" pitchFamily="34" charset="0"/>
                <a:ea typeface="Trebuchet MS" pitchFamily="34" charset="-122"/>
                <a:cs typeface="Trebuchet MS" pitchFamily="34" charset="-120"/>
              </a:rPr>
              <a:t>Change one thing. Hold everything else still. Repeat five times.</a:t>
            </a:r>
            <a:endParaRPr lang="en-US" sz="3100" dirty="0"/>
          </a:p>
        </p:txBody>
      </p:sp>
      <p:sp>
        <p:nvSpPr>
          <p:cNvPr id="8" name="Shape 5"/>
          <p:cNvSpPr/>
          <p:nvPr/>
        </p:nvSpPr>
        <p:spPr>
          <a:xfrm>
            <a:off x="566928" y="1920240"/>
            <a:ext cx="2286000" cy="1234440"/>
          </a:xfrm>
          <a:prstGeom prst="roundRect">
            <a:avLst>
              <a:gd name="adj" fmla="val 4444"/>
            </a:avLst>
          </a:prstGeom>
          <a:solidFill>
            <a:srgbClr val="0E6E6B"/>
          </a:solidFill>
          <a:ln/>
        </p:spPr>
      </p:sp>
      <p:sp>
        <p:nvSpPr>
          <p:cNvPr id="9" name="Text 6"/>
          <p:cNvSpPr txBox="1"/>
          <p:nvPr/>
        </p:nvSpPr>
        <p:spPr>
          <a:xfrm>
            <a:off x="566928" y="2121408"/>
            <a:ext cx="22860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7 seconds</a:t>
            </a:r>
            <a:endParaRPr lang="en-US" sz="2000" dirty="0"/>
          </a:p>
        </p:txBody>
      </p:sp>
      <p:sp>
        <p:nvSpPr>
          <p:cNvPr id="10" name="Text 7"/>
          <p:cNvSpPr txBox="1"/>
          <p:nvPr/>
        </p:nvSpPr>
        <p:spPr>
          <a:xfrm>
            <a:off x="566928" y="2560320"/>
            <a:ext cx="2286000" cy="320040"/>
          </a:xfrm>
          <a:prstGeom prst="rect">
            <a:avLst/>
          </a:prstGeom>
          <a:noFill/>
          <a:ln/>
        </p:spPr>
        <p:txBody>
          <a:bodyPr wrap="square" lIns="0" tIns="0" rIns="0" bIns="0" rtlCol="0" anchor="ctr"/>
          <a:lstStyle/>
          <a:p>
            <a:pPr algn="ctr" indent="0" marL="0">
              <a:buNone/>
            </a:pPr>
            <a:r>
              <a:rPr lang="en-US" sz="1200" dirty="0">
                <a:solidFill>
                  <a:srgbClr val="E8E4DE"/>
                </a:solidFill>
                <a:latin typeface="Calibri" pitchFamily="34" charset="0"/>
                <a:ea typeface="Calibri" pitchFamily="34" charset="-122"/>
                <a:cs typeface="Calibri" pitchFamily="34" charset="-120"/>
              </a:rPr>
              <a:t>a short look</a:t>
            </a:r>
            <a:endParaRPr lang="en-US" sz="1200" dirty="0"/>
          </a:p>
        </p:txBody>
      </p:sp>
      <p:sp>
        <p:nvSpPr>
          <p:cNvPr id="11" name="Shape 8"/>
          <p:cNvSpPr/>
          <p:nvPr/>
        </p:nvSpPr>
        <p:spPr>
          <a:xfrm>
            <a:off x="3054096" y="1920240"/>
            <a:ext cx="2286000" cy="1234440"/>
          </a:xfrm>
          <a:prstGeom prst="roundRect">
            <a:avLst>
              <a:gd name="adj" fmla="val 4444"/>
            </a:avLst>
          </a:prstGeom>
          <a:solidFill>
            <a:srgbClr val="6A6E77"/>
          </a:solidFill>
          <a:ln/>
        </p:spPr>
      </p:sp>
      <p:sp>
        <p:nvSpPr>
          <p:cNvPr id="12" name="Text 9"/>
          <p:cNvSpPr txBox="1"/>
          <p:nvPr/>
        </p:nvSpPr>
        <p:spPr>
          <a:xfrm>
            <a:off x="3054096" y="2121408"/>
            <a:ext cx="22860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15 seconds</a:t>
            </a:r>
            <a:endParaRPr lang="en-US" sz="2000" dirty="0"/>
          </a:p>
        </p:txBody>
      </p:sp>
      <p:sp>
        <p:nvSpPr>
          <p:cNvPr id="13" name="Text 10"/>
          <p:cNvSpPr txBox="1"/>
          <p:nvPr/>
        </p:nvSpPr>
        <p:spPr>
          <a:xfrm>
            <a:off x="3054096" y="2560320"/>
            <a:ext cx="2286000" cy="320040"/>
          </a:xfrm>
          <a:prstGeom prst="rect">
            <a:avLst/>
          </a:prstGeom>
          <a:noFill/>
          <a:ln/>
        </p:spPr>
        <p:txBody>
          <a:bodyPr wrap="square" lIns="0" tIns="0" rIns="0" bIns="0" rtlCol="0" anchor="ctr"/>
          <a:lstStyle/>
          <a:p>
            <a:pPr algn="ctr" indent="0" marL="0">
              <a:buNone/>
            </a:pPr>
            <a:r>
              <a:rPr lang="en-US" sz="1200" dirty="0">
                <a:solidFill>
                  <a:srgbClr val="E8E4DE"/>
                </a:solidFill>
                <a:latin typeface="Calibri" pitchFamily="34" charset="0"/>
                <a:ea typeface="Calibri" pitchFamily="34" charset="-122"/>
                <a:cs typeface="Calibri" pitchFamily="34" charset="-120"/>
              </a:rPr>
              <a:t>our baseline</a:t>
            </a:r>
            <a:endParaRPr lang="en-US" sz="1200" dirty="0"/>
          </a:p>
        </p:txBody>
      </p:sp>
      <p:sp>
        <p:nvSpPr>
          <p:cNvPr id="14" name="Shape 11"/>
          <p:cNvSpPr/>
          <p:nvPr/>
        </p:nvSpPr>
        <p:spPr>
          <a:xfrm>
            <a:off x="5541264" y="1920240"/>
            <a:ext cx="2286000" cy="1234440"/>
          </a:xfrm>
          <a:prstGeom prst="roundRect">
            <a:avLst>
              <a:gd name="adj" fmla="val 4444"/>
            </a:avLst>
          </a:prstGeom>
          <a:solidFill>
            <a:srgbClr val="15171C"/>
          </a:solidFill>
          <a:ln/>
        </p:spPr>
      </p:sp>
      <p:sp>
        <p:nvSpPr>
          <p:cNvPr id="15" name="Text 12"/>
          <p:cNvSpPr txBox="1"/>
          <p:nvPr/>
        </p:nvSpPr>
        <p:spPr>
          <a:xfrm>
            <a:off x="5541264" y="2121408"/>
            <a:ext cx="22860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31 seconds</a:t>
            </a:r>
            <a:endParaRPr lang="en-US" sz="2000" dirty="0"/>
          </a:p>
        </p:txBody>
      </p:sp>
      <p:sp>
        <p:nvSpPr>
          <p:cNvPr id="16" name="Text 13"/>
          <p:cNvSpPr txBox="1"/>
          <p:nvPr/>
        </p:nvSpPr>
        <p:spPr>
          <a:xfrm>
            <a:off x="5541264" y="2560320"/>
            <a:ext cx="2286000" cy="320040"/>
          </a:xfrm>
          <a:prstGeom prst="rect">
            <a:avLst/>
          </a:prstGeom>
          <a:noFill/>
          <a:ln/>
        </p:spPr>
        <p:txBody>
          <a:bodyPr wrap="square" lIns="0" tIns="0" rIns="0" bIns="0" rtlCol="0" anchor="ctr"/>
          <a:lstStyle/>
          <a:p>
            <a:pPr algn="ctr" indent="0" marL="0">
              <a:buNone/>
            </a:pPr>
            <a:r>
              <a:rPr lang="en-US" sz="1200" dirty="0">
                <a:solidFill>
                  <a:srgbClr val="E8E4DE"/>
                </a:solidFill>
                <a:latin typeface="Calibri" pitchFamily="34" charset="0"/>
                <a:ea typeface="Calibri" pitchFamily="34" charset="-122"/>
                <a:cs typeface="Calibri" pitchFamily="34" charset="-120"/>
              </a:rPr>
              <a:t>a long look</a:t>
            </a:r>
            <a:endParaRPr lang="en-US" sz="1200" dirty="0"/>
          </a:p>
        </p:txBody>
      </p:sp>
      <p:sp>
        <p:nvSpPr>
          <p:cNvPr id="17" name="Shape 14"/>
          <p:cNvSpPr/>
          <p:nvPr/>
        </p:nvSpPr>
        <p:spPr>
          <a:xfrm>
            <a:off x="8138160" y="1920240"/>
            <a:ext cx="3493008" cy="1234440"/>
          </a:xfrm>
          <a:prstGeom prst="roundRect">
            <a:avLst>
              <a:gd name="adj" fmla="val 4444"/>
            </a:avLst>
          </a:prstGeom>
          <a:solidFill>
            <a:srgbClr val="FFFFFF"/>
          </a:solidFill>
          <a:ln w="12700">
            <a:solidFill>
              <a:srgbClr val="DCD6CC"/>
            </a:solidFill>
            <a:prstDash val="solid"/>
          </a:ln>
          <a:effectLst>
            <a:outerShdw sx="100000" sy="100000" kx="0" ky="0" algn="bl" rotWithShape="0" blurRad="101600" dist="25400" dir="5400000">
              <a:srgbClr val="15171C">
                <a:alpha val="7000"/>
              </a:srgbClr>
            </a:outerShdw>
          </a:effectLst>
        </p:spPr>
      </p:sp>
      <p:sp>
        <p:nvSpPr>
          <p:cNvPr id="18" name="Text 15"/>
          <p:cNvSpPr txBox="1"/>
          <p:nvPr/>
        </p:nvSpPr>
        <p:spPr>
          <a:xfrm>
            <a:off x="8366760" y="2084832"/>
            <a:ext cx="3063240" cy="914400"/>
          </a:xfrm>
          <a:prstGeom prst="rect">
            <a:avLst/>
          </a:prstGeom>
          <a:noFill/>
          <a:ln/>
        </p:spPr>
        <p:txBody>
          <a:bodyPr wrap="square" lIns="0" tIns="0" rIns="0" bIns="0" rtlCol="0" anchor="t"/>
          <a:lstStyle/>
          <a:p>
            <a:pPr algn="l" indent="0" marL="0">
              <a:lnSpc>
                <a:spcPct val="118000"/>
              </a:lnSpc>
              <a:buNone/>
            </a:pPr>
            <a:r>
              <a:rPr lang="en-US" sz="1200" dirty="0">
                <a:solidFill>
                  <a:srgbClr val="15171C"/>
                </a:solidFill>
                <a:latin typeface="Calibri" pitchFamily="34" charset="0"/>
                <a:ea typeface="Calibri" pitchFamily="34" charset="-122"/>
                <a:cs typeface="Calibri" pitchFamily="34" charset="-120"/>
              </a:rPr>
              <a:t>Everything else identical: same footage, same settings, same number of training rounds. </a:t>
            </a:r>
            <a:pPr algn="l" indent="0" marL="0">
              <a:lnSpc>
                <a:spcPct val="118000"/>
              </a:lnSpc>
              <a:buNone/>
            </a:pPr>
            <a:r>
              <a:rPr lang="en-US" sz="1200" b="1" dirty="0">
                <a:solidFill>
                  <a:srgbClr val="15171C"/>
                </a:solidFill>
                <a:latin typeface="Calibri" pitchFamily="34" charset="0"/>
                <a:ea typeface="Calibri" pitchFamily="34" charset="-122"/>
                <a:cs typeface="Calibri" pitchFamily="34" charset="-120"/>
              </a:rPr>
              <a:t>Only W changes.</a:t>
            </a:r>
            <a:endParaRPr lang="en-US" sz="1200" dirty="0"/>
          </a:p>
        </p:txBody>
      </p:sp>
      <p:sp>
        <p:nvSpPr>
          <p:cNvPr id="19" name="Shape 16"/>
          <p:cNvSpPr/>
          <p:nvPr/>
        </p:nvSpPr>
        <p:spPr>
          <a:xfrm>
            <a:off x="566928" y="3401568"/>
            <a:ext cx="5486400" cy="2377440"/>
          </a:xfrm>
          <a:prstGeom prst="roundRect">
            <a:avLst>
              <a:gd name="adj" fmla="val 2308"/>
            </a:avLst>
          </a:prstGeom>
          <a:solidFill>
            <a:srgbClr val="FFFFFF"/>
          </a:solidFill>
          <a:ln w="12700">
            <a:solidFill>
              <a:srgbClr val="DCD6CC"/>
            </a:solidFill>
            <a:prstDash val="solid"/>
          </a:ln>
          <a:effectLst>
            <a:outerShdw sx="100000" sy="100000" kx="0" ky="0" algn="bl" rotWithShape="0" blurRad="101600" dist="25400" dir="5400000">
              <a:srgbClr val="15171C">
                <a:alpha val="7000"/>
              </a:srgbClr>
            </a:outerShdw>
          </a:effectLst>
        </p:spPr>
      </p:sp>
      <p:sp>
        <p:nvSpPr>
          <p:cNvPr id="20" name="Shape 17"/>
          <p:cNvSpPr/>
          <p:nvPr/>
        </p:nvSpPr>
        <p:spPr>
          <a:xfrm>
            <a:off x="841248" y="3657600"/>
            <a:ext cx="502920" cy="502920"/>
          </a:xfrm>
          <a:prstGeom prst="roundRect">
            <a:avLst>
              <a:gd name="adj" fmla="val 9091"/>
            </a:avLst>
          </a:prstGeom>
          <a:solidFill>
            <a:srgbClr val="0E6E6B"/>
          </a:solidFill>
          <a:ln/>
        </p:spPr>
      </p:sp>
      <p:pic>
        <p:nvPicPr>
          <p:cNvPr id="21" name="Image 0" descr="/home/claude/final_deck/icons/flask2.png">    </p:cNvPr>
          <p:cNvPicPr>
            <a:picLocks noChangeAspect="1"/>
          </p:cNvPicPr>
          <p:nvPr/>
        </p:nvPicPr>
        <p:blipFill>
          <a:blip r:embed="rId1"/>
          <a:stretch>
            <a:fillRect/>
          </a:stretch>
        </p:blipFill>
        <p:spPr>
          <a:xfrm>
            <a:off x="977036" y="3793388"/>
            <a:ext cx="231343" cy="231343"/>
          </a:xfrm>
          <a:prstGeom prst="rect">
            <a:avLst/>
          </a:prstGeom>
        </p:spPr>
      </p:pic>
      <p:sp>
        <p:nvSpPr>
          <p:cNvPr id="22" name="Text 18"/>
          <p:cNvSpPr txBox="1"/>
          <p:nvPr/>
        </p:nvSpPr>
        <p:spPr>
          <a:xfrm>
            <a:off x="1481328" y="3694176"/>
            <a:ext cx="3657600" cy="365760"/>
          </a:xfrm>
          <a:prstGeom prst="rect">
            <a:avLst/>
          </a:prstGeom>
          <a:noFill/>
          <a:ln/>
        </p:spPr>
        <p:txBody>
          <a:bodyPr wrap="square" lIns="0" tIns="0" rIns="0" bIns="0" rtlCol="0" anchor="ctr"/>
          <a:lstStyle/>
          <a:p>
            <a:pPr indent="0" marL="0">
              <a:buNone/>
            </a:pPr>
            <a:r>
              <a:rPr lang="en-US" sz="1600" b="1" dirty="0">
                <a:solidFill>
                  <a:srgbClr val="15171C"/>
                </a:solidFill>
                <a:latin typeface="Trebuchet MS" pitchFamily="34" charset="0"/>
                <a:ea typeface="Trebuchet MS" pitchFamily="34" charset="-122"/>
                <a:cs typeface="Trebuchet MS" pitchFamily="34" charset="-120"/>
              </a:rPr>
              <a:t>The footage</a:t>
            </a:r>
            <a:endParaRPr lang="en-US" sz="1600" dirty="0"/>
          </a:p>
        </p:txBody>
      </p:sp>
      <p:sp>
        <p:nvSpPr>
          <p:cNvPr id="23" name="Text 19"/>
          <p:cNvSpPr txBox="1"/>
          <p:nvPr/>
        </p:nvSpPr>
        <p:spPr>
          <a:xfrm>
            <a:off x="841248" y="4224528"/>
            <a:ext cx="1371600" cy="320040"/>
          </a:xfrm>
          <a:prstGeom prst="rect">
            <a:avLst/>
          </a:prstGeom>
          <a:noFill/>
          <a:ln/>
        </p:spPr>
        <p:txBody>
          <a:bodyPr wrap="square" lIns="0" tIns="0" rIns="0" bIns="0" rtlCol="0" anchor="ctr"/>
          <a:lstStyle/>
          <a:p>
            <a:pPr indent="0" marL="0">
              <a:buNone/>
            </a:pPr>
            <a:r>
              <a:rPr lang="en-US" sz="1350" b="1" dirty="0">
                <a:solidFill>
                  <a:srgbClr val="D6412F"/>
                </a:solidFill>
                <a:latin typeface="Calibri" pitchFamily="34" charset="0"/>
                <a:ea typeface="Calibri" pitchFamily="34" charset="-122"/>
                <a:cs typeface="Calibri" pitchFamily="34" charset="-120"/>
              </a:rPr>
              <a:t>4 matches</a:t>
            </a:r>
            <a:endParaRPr lang="en-US" sz="1350" dirty="0"/>
          </a:p>
        </p:txBody>
      </p:sp>
      <p:sp>
        <p:nvSpPr>
          <p:cNvPr id="24" name="Text 20"/>
          <p:cNvSpPr txBox="1"/>
          <p:nvPr/>
        </p:nvSpPr>
        <p:spPr>
          <a:xfrm>
            <a:off x="2240280" y="4224528"/>
            <a:ext cx="3566160" cy="320040"/>
          </a:xfrm>
          <a:prstGeom prst="rect">
            <a:avLst/>
          </a:prstGeom>
          <a:noFill/>
          <a:ln/>
        </p:spPr>
        <p:txBody>
          <a:bodyPr wrap="square" lIns="0" tIns="0" rIns="0" bIns="0" rtlCol="0" anchor="t"/>
          <a:lstStyle/>
          <a:p>
            <a:pPr algn="l" indent="0" marL="0">
              <a:lnSpc>
                <a:spcPct val="118000"/>
              </a:lnSpc>
              <a:buNone/>
            </a:pPr>
            <a:r>
              <a:rPr lang="en-US" sz="1250" dirty="0">
                <a:solidFill>
                  <a:srgbClr val="6A6E77"/>
                </a:solidFill>
                <a:latin typeface="Calibri" pitchFamily="34" charset="0"/>
                <a:ea typeface="Calibri" pitchFamily="34" charset="-122"/>
                <a:cs typeface="Calibri" pitchFamily="34" charset="-120"/>
              </a:rPr>
              <a:t>to learn from</a:t>
            </a:r>
            <a:endParaRPr lang="en-US" sz="1250" dirty="0"/>
          </a:p>
        </p:txBody>
      </p:sp>
      <p:sp>
        <p:nvSpPr>
          <p:cNvPr id="25" name="Text 21"/>
          <p:cNvSpPr txBox="1"/>
          <p:nvPr/>
        </p:nvSpPr>
        <p:spPr>
          <a:xfrm>
            <a:off x="841248" y="4736592"/>
            <a:ext cx="1371600" cy="320040"/>
          </a:xfrm>
          <a:prstGeom prst="rect">
            <a:avLst/>
          </a:prstGeom>
          <a:noFill/>
          <a:ln/>
        </p:spPr>
        <p:txBody>
          <a:bodyPr wrap="square" lIns="0" tIns="0" rIns="0" bIns="0" rtlCol="0" anchor="ctr"/>
          <a:lstStyle/>
          <a:p>
            <a:pPr indent="0" marL="0">
              <a:buNone/>
            </a:pPr>
            <a:r>
              <a:rPr lang="en-US" sz="1350" b="1" dirty="0">
                <a:solidFill>
                  <a:srgbClr val="D6412F"/>
                </a:solidFill>
                <a:latin typeface="Calibri" pitchFamily="34" charset="0"/>
                <a:ea typeface="Calibri" pitchFamily="34" charset="-122"/>
                <a:cs typeface="Calibri" pitchFamily="34" charset="-120"/>
              </a:rPr>
              <a:t>1 match</a:t>
            </a:r>
            <a:endParaRPr lang="en-US" sz="1350" dirty="0"/>
          </a:p>
        </p:txBody>
      </p:sp>
      <p:sp>
        <p:nvSpPr>
          <p:cNvPr id="26" name="Text 22"/>
          <p:cNvSpPr txBox="1"/>
          <p:nvPr/>
        </p:nvSpPr>
        <p:spPr>
          <a:xfrm>
            <a:off x="2240280" y="4736592"/>
            <a:ext cx="3566160" cy="320040"/>
          </a:xfrm>
          <a:prstGeom prst="rect">
            <a:avLst/>
          </a:prstGeom>
          <a:noFill/>
          <a:ln/>
        </p:spPr>
        <p:txBody>
          <a:bodyPr wrap="square" lIns="0" tIns="0" rIns="0" bIns="0" rtlCol="0" anchor="t"/>
          <a:lstStyle/>
          <a:p>
            <a:pPr algn="l" indent="0" marL="0">
              <a:lnSpc>
                <a:spcPct val="118000"/>
              </a:lnSpc>
              <a:buNone/>
            </a:pPr>
            <a:r>
              <a:rPr lang="en-US" sz="1250" dirty="0">
                <a:solidFill>
                  <a:srgbClr val="6A6E77"/>
                </a:solidFill>
                <a:latin typeface="Calibri" pitchFamily="34" charset="0"/>
                <a:ea typeface="Calibri" pitchFamily="34" charset="-122"/>
                <a:cs typeface="Calibri" pitchFamily="34" charset="-120"/>
              </a:rPr>
              <a:t>to check progress</a:t>
            </a:r>
            <a:endParaRPr lang="en-US" sz="1250" dirty="0"/>
          </a:p>
        </p:txBody>
      </p:sp>
      <p:sp>
        <p:nvSpPr>
          <p:cNvPr id="27" name="Text 23"/>
          <p:cNvSpPr txBox="1"/>
          <p:nvPr/>
        </p:nvSpPr>
        <p:spPr>
          <a:xfrm>
            <a:off x="841248" y="5248656"/>
            <a:ext cx="1371600" cy="320040"/>
          </a:xfrm>
          <a:prstGeom prst="rect">
            <a:avLst/>
          </a:prstGeom>
          <a:noFill/>
          <a:ln/>
        </p:spPr>
        <p:txBody>
          <a:bodyPr wrap="square" lIns="0" tIns="0" rIns="0" bIns="0" rtlCol="0" anchor="ctr"/>
          <a:lstStyle/>
          <a:p>
            <a:pPr indent="0" marL="0">
              <a:buNone/>
            </a:pPr>
            <a:r>
              <a:rPr lang="en-US" sz="1350" b="1" dirty="0">
                <a:solidFill>
                  <a:srgbClr val="D6412F"/>
                </a:solidFill>
                <a:latin typeface="Calibri" pitchFamily="34" charset="0"/>
                <a:ea typeface="Calibri" pitchFamily="34" charset="-122"/>
                <a:cs typeface="Calibri" pitchFamily="34" charset="-120"/>
              </a:rPr>
              <a:t>2 matches</a:t>
            </a:r>
            <a:endParaRPr lang="en-US" sz="1350" dirty="0"/>
          </a:p>
        </p:txBody>
      </p:sp>
      <p:sp>
        <p:nvSpPr>
          <p:cNvPr id="28" name="Text 24"/>
          <p:cNvSpPr txBox="1"/>
          <p:nvPr/>
        </p:nvSpPr>
        <p:spPr>
          <a:xfrm>
            <a:off x="2240280" y="5248656"/>
            <a:ext cx="3566160" cy="320040"/>
          </a:xfrm>
          <a:prstGeom prst="rect">
            <a:avLst/>
          </a:prstGeom>
          <a:noFill/>
          <a:ln/>
        </p:spPr>
        <p:txBody>
          <a:bodyPr wrap="square" lIns="0" tIns="0" rIns="0" bIns="0" rtlCol="0" anchor="t"/>
          <a:lstStyle/>
          <a:p>
            <a:pPr algn="l" indent="0" marL="0">
              <a:lnSpc>
                <a:spcPct val="118000"/>
              </a:lnSpc>
              <a:buNone/>
            </a:pPr>
            <a:r>
              <a:rPr lang="en-US" sz="1250" dirty="0">
                <a:solidFill>
                  <a:srgbClr val="6A6E77"/>
                </a:solidFill>
                <a:latin typeface="Calibri" pitchFamily="34" charset="0"/>
                <a:ea typeface="Calibri" pitchFamily="34" charset="-122"/>
                <a:cs typeface="Calibri" pitchFamily="34" charset="-120"/>
              </a:rPr>
              <a:t>never touched until the very end</a:t>
            </a:r>
            <a:endParaRPr lang="en-US" sz="1250" dirty="0"/>
          </a:p>
        </p:txBody>
      </p:sp>
      <p:sp>
        <p:nvSpPr>
          <p:cNvPr id="29" name="Text 25"/>
          <p:cNvSpPr txBox="1"/>
          <p:nvPr/>
        </p:nvSpPr>
        <p:spPr>
          <a:xfrm>
            <a:off x="841248" y="5797296"/>
            <a:ext cx="4937760" cy="365760"/>
          </a:xfrm>
          <a:prstGeom prst="rect">
            <a:avLst/>
          </a:prstGeom>
          <a:noFill/>
          <a:ln/>
        </p:spPr>
        <p:txBody>
          <a:bodyPr wrap="square" lIns="0" tIns="0" rIns="0" bIns="0" rtlCol="0" anchor="t"/>
          <a:lstStyle/>
          <a:p>
            <a:pPr algn="l" indent="0" marL="0">
              <a:lnSpc>
                <a:spcPct val="118000"/>
              </a:lnSpc>
              <a:buNone/>
            </a:pPr>
            <a:r>
              <a:rPr lang="en-US" sz="1100" i="1" dirty="0">
                <a:solidFill>
                  <a:srgbClr val="6A6E77"/>
                </a:solidFill>
                <a:latin typeface="Calibri" pitchFamily="34" charset="0"/>
                <a:ea typeface="Calibri" pitchFamily="34" charset="-122"/>
                <a:cs typeface="Calibri" pitchFamily="34" charset="-120"/>
              </a:rPr>
              <a:t>Real EFL Championship broadcasts, professionally labelled (SoccerNet).</a:t>
            </a:r>
            <a:endParaRPr lang="en-US" sz="1100" dirty="0"/>
          </a:p>
        </p:txBody>
      </p:sp>
      <p:sp>
        <p:nvSpPr>
          <p:cNvPr id="30" name="Shape 26"/>
          <p:cNvSpPr/>
          <p:nvPr/>
        </p:nvSpPr>
        <p:spPr>
          <a:xfrm>
            <a:off x="6327648" y="3401568"/>
            <a:ext cx="5303520" cy="2377440"/>
          </a:xfrm>
          <a:prstGeom prst="roundRect">
            <a:avLst>
              <a:gd name="adj" fmla="val 2308"/>
            </a:avLst>
          </a:prstGeom>
          <a:solidFill>
            <a:srgbClr val="15171C"/>
          </a:solidFill>
          <a:ln/>
          <a:effectLst>
            <a:outerShdw sx="100000" sy="100000" kx="0" ky="0" algn="bl" rotWithShape="0" blurRad="101600" dist="25400" dir="5400000">
              <a:srgbClr val="15171C">
                <a:alpha val="7000"/>
              </a:srgbClr>
            </a:outerShdw>
          </a:effectLst>
        </p:spPr>
      </p:sp>
      <p:sp>
        <p:nvSpPr>
          <p:cNvPr id="31" name="Shape 27"/>
          <p:cNvSpPr/>
          <p:nvPr/>
        </p:nvSpPr>
        <p:spPr>
          <a:xfrm>
            <a:off x="6601968" y="3657600"/>
            <a:ext cx="502920" cy="502920"/>
          </a:xfrm>
          <a:prstGeom prst="roundRect">
            <a:avLst>
              <a:gd name="adj" fmla="val 9091"/>
            </a:avLst>
          </a:prstGeom>
          <a:solidFill>
            <a:srgbClr val="D6412F"/>
          </a:solidFill>
          <a:ln/>
        </p:spPr>
      </p:sp>
      <p:pic>
        <p:nvPicPr>
          <p:cNvPr id="32" name="Image 1" descr="/home/claude/final_deck/icons/shield.png">    </p:cNvPr>
          <p:cNvPicPr>
            <a:picLocks noChangeAspect="1"/>
          </p:cNvPicPr>
          <p:nvPr/>
        </p:nvPicPr>
        <p:blipFill>
          <a:blip r:embed="rId2"/>
          <a:stretch>
            <a:fillRect/>
          </a:stretch>
        </p:blipFill>
        <p:spPr>
          <a:xfrm>
            <a:off x="6737756" y="3793388"/>
            <a:ext cx="231343" cy="231343"/>
          </a:xfrm>
          <a:prstGeom prst="rect">
            <a:avLst/>
          </a:prstGeom>
        </p:spPr>
      </p:pic>
      <p:sp>
        <p:nvSpPr>
          <p:cNvPr id="33" name="Text 28"/>
          <p:cNvSpPr txBox="1"/>
          <p:nvPr/>
        </p:nvSpPr>
        <p:spPr>
          <a:xfrm>
            <a:off x="7242048" y="3694176"/>
            <a:ext cx="411480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How we kept ourselves honest</a:t>
            </a:r>
            <a:endParaRPr lang="en-US" sz="1600" dirty="0"/>
          </a:p>
        </p:txBody>
      </p:sp>
      <p:sp>
        <p:nvSpPr>
          <p:cNvPr id="34" name="Text 29"/>
          <p:cNvSpPr txBox="1"/>
          <p:nvPr/>
        </p:nvSpPr>
        <p:spPr>
          <a:xfrm>
            <a:off x="6601968" y="4261104"/>
            <a:ext cx="228600" cy="320040"/>
          </a:xfrm>
          <a:prstGeom prst="rect">
            <a:avLst/>
          </a:prstGeom>
          <a:noFill/>
          <a:ln/>
        </p:spPr>
        <p:txBody>
          <a:bodyPr wrap="square" lIns="0" tIns="0" rIns="0" bIns="0" rtlCol="0" anchor="ctr"/>
          <a:lstStyle/>
          <a:p>
            <a:pPr indent="0" marL="0">
              <a:buNone/>
            </a:pPr>
            <a:r>
              <a:rPr lang="en-US" sz="1300" b="1" dirty="0">
                <a:solidFill>
                  <a:srgbClr val="D6412F"/>
                </a:solidFill>
                <a:latin typeface="Calibri" pitchFamily="34" charset="0"/>
                <a:ea typeface="Calibri" pitchFamily="34" charset="-122"/>
                <a:cs typeface="Calibri" pitchFamily="34" charset="-120"/>
              </a:rPr>
              <a:t>—</a:t>
            </a:r>
            <a:endParaRPr lang="en-US" sz="1300" dirty="0"/>
          </a:p>
        </p:txBody>
      </p:sp>
      <p:sp>
        <p:nvSpPr>
          <p:cNvPr id="35" name="Text 30"/>
          <p:cNvSpPr txBox="1"/>
          <p:nvPr/>
        </p:nvSpPr>
        <p:spPr>
          <a:xfrm>
            <a:off x="6876288" y="4224528"/>
            <a:ext cx="4480560" cy="502920"/>
          </a:xfrm>
          <a:prstGeom prst="rect">
            <a:avLst/>
          </a:prstGeom>
          <a:noFill/>
          <a:ln/>
        </p:spPr>
        <p:txBody>
          <a:bodyPr wrap="square" lIns="0" tIns="0" rIns="0" bIns="0" rtlCol="0" anchor="ctr"/>
          <a:lstStyle/>
          <a:p>
            <a:pPr indent="0" marL="0">
              <a:lnSpc>
                <a:spcPct val="110000"/>
              </a:lnSpc>
              <a:buNone/>
            </a:pPr>
            <a:r>
              <a:rPr lang="en-US" sz="1200" dirty="0">
                <a:solidFill>
                  <a:srgbClr val="D9D4CC"/>
                </a:solidFill>
                <a:latin typeface="Calibri" pitchFamily="34" charset="0"/>
                <a:ea typeface="Calibri" pitchFamily="34" charset="-122"/>
                <a:cs typeface="Calibri" pitchFamily="34" charset="-120"/>
              </a:rPr>
              <a:t>Every setup trained </a:t>
            </a:r>
            <a:pPr indent="0" marL="0">
              <a:lnSpc>
                <a:spcPct val="110000"/>
              </a:lnSpc>
              <a:buNone/>
            </a:pPr>
            <a:r>
              <a:rPr lang="en-US" sz="1200" b="1" dirty="0">
                <a:solidFill>
                  <a:srgbClr val="D9D4CC"/>
                </a:solidFill>
                <a:latin typeface="Calibri" pitchFamily="34" charset="0"/>
                <a:ea typeface="Calibri" pitchFamily="34" charset="-122"/>
                <a:cs typeface="Calibri" pitchFamily="34" charset="-120"/>
              </a:rPr>
              <a:t>5 times</a:t>
            </a:r>
            <a:pPr indent="0" marL="0">
              <a:lnSpc>
                <a:spcPct val="110000"/>
              </a:lnSpc>
              <a:buNone/>
            </a:pPr>
            <a:r>
              <a:rPr lang="en-US" sz="1200" dirty="0">
                <a:solidFill>
                  <a:srgbClr val="D9D4CC"/>
                </a:solidFill>
                <a:latin typeface="Calibri" pitchFamily="34" charset="0"/>
                <a:ea typeface="Calibri" pitchFamily="34" charset="-122"/>
                <a:cs typeface="Calibri" pitchFamily="34" charset="-120"/>
              </a:rPr>
              <a:t> from different starting points — a result only counts if it holds up 5 out of 5.</a:t>
            </a:r>
            <a:endParaRPr lang="en-US" sz="1200" dirty="0"/>
          </a:p>
        </p:txBody>
      </p:sp>
      <p:sp>
        <p:nvSpPr>
          <p:cNvPr id="36" name="Text 31"/>
          <p:cNvSpPr txBox="1"/>
          <p:nvPr/>
        </p:nvSpPr>
        <p:spPr>
          <a:xfrm>
            <a:off x="6601968" y="4773168"/>
            <a:ext cx="228600" cy="320040"/>
          </a:xfrm>
          <a:prstGeom prst="rect">
            <a:avLst/>
          </a:prstGeom>
          <a:noFill/>
          <a:ln/>
        </p:spPr>
        <p:txBody>
          <a:bodyPr wrap="square" lIns="0" tIns="0" rIns="0" bIns="0" rtlCol="0" anchor="ctr"/>
          <a:lstStyle/>
          <a:p>
            <a:pPr indent="0" marL="0">
              <a:buNone/>
            </a:pPr>
            <a:r>
              <a:rPr lang="en-US" sz="1300" b="1" dirty="0">
                <a:solidFill>
                  <a:srgbClr val="D6412F"/>
                </a:solidFill>
                <a:latin typeface="Calibri" pitchFamily="34" charset="0"/>
                <a:ea typeface="Calibri" pitchFamily="34" charset="-122"/>
                <a:cs typeface="Calibri" pitchFamily="34" charset="-120"/>
              </a:rPr>
              <a:t>—</a:t>
            </a:r>
            <a:endParaRPr lang="en-US" sz="1300" dirty="0"/>
          </a:p>
        </p:txBody>
      </p:sp>
      <p:sp>
        <p:nvSpPr>
          <p:cNvPr id="37" name="Text 32"/>
          <p:cNvSpPr txBox="1"/>
          <p:nvPr/>
        </p:nvSpPr>
        <p:spPr>
          <a:xfrm>
            <a:off x="6876288" y="4736592"/>
            <a:ext cx="4480560" cy="502920"/>
          </a:xfrm>
          <a:prstGeom prst="rect">
            <a:avLst/>
          </a:prstGeom>
          <a:noFill/>
          <a:ln/>
        </p:spPr>
        <p:txBody>
          <a:bodyPr wrap="square" lIns="0" tIns="0" rIns="0" bIns="0" rtlCol="0" anchor="ctr"/>
          <a:lstStyle/>
          <a:p>
            <a:pPr indent="0" marL="0">
              <a:lnSpc>
                <a:spcPct val="110000"/>
              </a:lnSpc>
              <a:buNone/>
            </a:pPr>
            <a:r>
              <a:rPr lang="en-US" sz="1200" dirty="0">
                <a:solidFill>
                  <a:srgbClr val="D9D4CC"/>
                </a:solidFill>
                <a:latin typeface="Calibri" pitchFamily="34" charset="0"/>
                <a:ea typeface="Calibri" pitchFamily="34" charset="-122"/>
                <a:cs typeface="Calibri" pitchFamily="34" charset="-120"/>
              </a:rPr>
              <a:t>We compared everything against </a:t>
            </a:r>
            <a:pPr indent="0" marL="0">
              <a:lnSpc>
                <a:spcPct val="110000"/>
              </a:lnSpc>
              <a:buNone/>
            </a:pPr>
            <a:r>
              <a:rPr lang="en-US" sz="1200" b="1" dirty="0">
                <a:solidFill>
                  <a:srgbClr val="D9D4CC"/>
                </a:solidFill>
                <a:latin typeface="Calibri" pitchFamily="34" charset="0"/>
                <a:ea typeface="Calibri" pitchFamily="34" charset="-122"/>
                <a:cs typeface="Calibri" pitchFamily="34" charset="-120"/>
              </a:rPr>
              <a:t>random guessing</a:t>
            </a:r>
            <a:pPr indent="0" marL="0">
              <a:lnSpc>
                <a:spcPct val="110000"/>
              </a:lnSpc>
              <a:buNone/>
            </a:pPr>
            <a:r>
              <a:rPr lang="en-US" sz="1200" dirty="0">
                <a:solidFill>
                  <a:srgbClr val="D9D4CC"/>
                </a:solidFill>
                <a:latin typeface="Calibri" pitchFamily="34" charset="0"/>
                <a:ea typeface="Calibri" pitchFamily="34" charset="-122"/>
                <a:cs typeface="Calibri" pitchFamily="34" charset="-120"/>
              </a:rPr>
              <a:t>, to be sure we were measuring skill and not luck.</a:t>
            </a:r>
            <a:endParaRPr lang="en-US" sz="1200" dirty="0"/>
          </a:p>
        </p:txBody>
      </p:sp>
      <p:sp>
        <p:nvSpPr>
          <p:cNvPr id="38" name="Text 33"/>
          <p:cNvSpPr txBox="1"/>
          <p:nvPr/>
        </p:nvSpPr>
        <p:spPr>
          <a:xfrm>
            <a:off x="6601968" y="5285232"/>
            <a:ext cx="228600" cy="320040"/>
          </a:xfrm>
          <a:prstGeom prst="rect">
            <a:avLst/>
          </a:prstGeom>
          <a:noFill/>
          <a:ln/>
        </p:spPr>
        <p:txBody>
          <a:bodyPr wrap="square" lIns="0" tIns="0" rIns="0" bIns="0" rtlCol="0" anchor="ctr"/>
          <a:lstStyle/>
          <a:p>
            <a:pPr indent="0" marL="0">
              <a:buNone/>
            </a:pPr>
            <a:r>
              <a:rPr lang="en-US" sz="1300" b="1" dirty="0">
                <a:solidFill>
                  <a:srgbClr val="D6412F"/>
                </a:solidFill>
                <a:latin typeface="Calibri" pitchFamily="34" charset="0"/>
                <a:ea typeface="Calibri" pitchFamily="34" charset="-122"/>
                <a:cs typeface="Calibri" pitchFamily="34" charset="-120"/>
              </a:rPr>
              <a:t>—</a:t>
            </a:r>
            <a:endParaRPr lang="en-US" sz="1300" dirty="0"/>
          </a:p>
        </p:txBody>
      </p:sp>
      <p:sp>
        <p:nvSpPr>
          <p:cNvPr id="39" name="Text 34"/>
          <p:cNvSpPr txBox="1"/>
          <p:nvPr/>
        </p:nvSpPr>
        <p:spPr>
          <a:xfrm>
            <a:off x="6876288" y="5248656"/>
            <a:ext cx="4480560" cy="502920"/>
          </a:xfrm>
          <a:prstGeom prst="rect">
            <a:avLst/>
          </a:prstGeom>
          <a:noFill/>
          <a:ln/>
        </p:spPr>
        <p:txBody>
          <a:bodyPr wrap="square" lIns="0" tIns="0" rIns="0" bIns="0" rtlCol="0" anchor="ctr"/>
          <a:lstStyle/>
          <a:p>
            <a:pPr indent="0" marL="0">
              <a:lnSpc>
                <a:spcPct val="110000"/>
              </a:lnSpc>
              <a:buNone/>
            </a:pPr>
            <a:r>
              <a:rPr lang="en-US" sz="1200" dirty="0">
                <a:solidFill>
                  <a:srgbClr val="D9D4CC"/>
                </a:solidFill>
                <a:latin typeface="Calibri" pitchFamily="34" charset="0"/>
                <a:ea typeface="Calibri" pitchFamily="34" charset="-122"/>
                <a:cs typeface="Calibri" pitchFamily="34" charset="-120"/>
              </a:rPr>
              <a:t>The last 2 matches were opened </a:t>
            </a:r>
            <a:pPr indent="0" marL="0">
              <a:lnSpc>
                <a:spcPct val="110000"/>
              </a:lnSpc>
              <a:buNone/>
            </a:pPr>
            <a:r>
              <a:rPr lang="en-US" sz="1200" b="1" dirty="0">
                <a:solidFill>
                  <a:srgbClr val="D9D4CC"/>
                </a:solidFill>
                <a:latin typeface="Calibri" pitchFamily="34" charset="0"/>
                <a:ea typeface="Calibri" pitchFamily="34" charset="-122"/>
                <a:cs typeface="Calibri" pitchFamily="34" charset="-120"/>
              </a:rPr>
              <a:t>only once</a:t>
            </a:r>
            <a:pPr indent="0" marL="0">
              <a:lnSpc>
                <a:spcPct val="110000"/>
              </a:lnSpc>
              <a:buNone/>
            </a:pPr>
            <a:r>
              <a:rPr lang="en-US" sz="1200" dirty="0">
                <a:solidFill>
                  <a:srgbClr val="D9D4CC"/>
                </a:solidFill>
                <a:latin typeface="Calibri" pitchFamily="34" charset="0"/>
                <a:ea typeface="Calibri" pitchFamily="34" charset="-122"/>
                <a:cs typeface="Calibri" pitchFamily="34" charset="-120"/>
              </a:rPr>
              <a:t>, at the end. No tuning against them.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F"/>
        </a:solidFill>
      </p:bgPr>
    </p:bg>
    <p:spTree>
      <p:nvGrpSpPr>
        <p:cNvPr id="1" name=""/>
        <p:cNvGrpSpPr/>
        <p:nvPr/>
      </p:nvGrpSpPr>
      <p:grpSpPr>
        <a:xfrm>
          <a:off x="0" y="0"/>
          <a:ext cx="0" cy="0"/>
          <a:chOff x="0" y="0"/>
          <a:chExt cx="0" cy="0"/>
        </a:xfrm>
      </p:grpSpPr>
      <p:sp>
        <p:nvSpPr>
          <p:cNvPr id="2" name="Text 0"/>
          <p:cNvSpPr txBox="1"/>
          <p:nvPr/>
        </p:nvSpPr>
        <p:spPr>
          <a:xfrm>
            <a:off x="11414455" y="6446520"/>
            <a:ext cx="365760" cy="274320"/>
          </a:xfrm>
          <a:prstGeom prst="rect">
            <a:avLst/>
          </a:prstGeom>
          <a:noFill/>
          <a:ln/>
        </p:spPr>
        <p:txBody>
          <a:bodyPr wrap="square" lIns="0" tIns="0" rIns="0" bIns="0" rtlCol="0" anchor="ctr"/>
          <a:lstStyle/>
          <a:p>
            <a:pPr algn="r" indent="0" marL="0">
              <a:buNone/>
            </a:pPr>
            <a:r>
              <a:rPr lang="en-US" sz="950" dirty="0">
                <a:solidFill>
                  <a:srgbClr val="6A6E77"/>
                </a:solidFill>
                <a:latin typeface="Calibri" pitchFamily="34" charset="0"/>
                <a:ea typeface="Calibri" pitchFamily="34" charset="-122"/>
                <a:cs typeface="Calibri" pitchFamily="34" charset="-120"/>
              </a:rPr>
              <a:t>6</a:t>
            </a:r>
            <a:endParaRPr lang="en-US" sz="950" dirty="0"/>
          </a:p>
        </p:txBody>
      </p:sp>
      <p:sp>
        <p:nvSpPr>
          <p:cNvPr id="3" name="Text 1"/>
          <p:cNvSpPr txBox="1"/>
          <p:nvPr/>
        </p:nvSpPr>
        <p:spPr>
          <a:xfrm>
            <a:off x="566928" y="6446520"/>
            <a:ext cx="2743200" cy="274320"/>
          </a:xfrm>
          <a:prstGeom prst="rect">
            <a:avLst/>
          </a:prstGeom>
          <a:noFill/>
          <a:ln/>
        </p:spPr>
        <p:txBody>
          <a:bodyPr wrap="square" lIns="0" tIns="0" rIns="0" bIns="0" rtlCol="0" anchor="ctr"/>
          <a:lstStyle/>
          <a:p>
            <a:pPr indent="0" marL="0">
              <a:buNone/>
            </a:pPr>
            <a:r>
              <a:rPr lang="en-US" sz="950" dirty="0">
                <a:solidFill>
                  <a:srgbClr val="6A6E77"/>
                </a:solidFill>
                <a:latin typeface="Calibri" pitchFamily="34" charset="0"/>
                <a:ea typeface="Calibri" pitchFamily="34" charset="-122"/>
                <a:cs typeface="Calibri" pitchFamily="34" charset="-120"/>
              </a:rPr>
              <a:t>PitchVision</a:t>
            </a:r>
            <a:endParaRPr lang="en-US" sz="950" dirty="0"/>
          </a:p>
        </p:txBody>
      </p:sp>
      <p:sp>
        <p:nvSpPr>
          <p:cNvPr id="5" name="Shape 2"/>
          <p:cNvSpPr/>
          <p:nvPr/>
        </p:nvSpPr>
        <p:spPr>
          <a:xfrm>
            <a:off x="566928" y="475488"/>
            <a:ext cx="457200" cy="54864"/>
          </a:xfrm>
          <a:prstGeom prst="rect">
            <a:avLst/>
          </a:prstGeom>
          <a:solidFill>
            <a:srgbClr val="D6412F"/>
          </a:solidFill>
          <a:ln/>
        </p:spPr>
      </p:sp>
      <p:sp>
        <p:nvSpPr>
          <p:cNvPr id="6" name="Text 3"/>
          <p:cNvSpPr txBox="1"/>
          <p:nvPr/>
        </p:nvSpPr>
        <p:spPr>
          <a:xfrm>
            <a:off x="566928" y="621792"/>
            <a:ext cx="8229600" cy="274320"/>
          </a:xfrm>
          <a:prstGeom prst="rect">
            <a:avLst/>
          </a:prstGeom>
          <a:noFill/>
          <a:ln/>
        </p:spPr>
        <p:txBody>
          <a:bodyPr wrap="square" lIns="0" tIns="0" rIns="0" bIns="0" rtlCol="0" anchor="ctr"/>
          <a:lstStyle/>
          <a:p>
            <a:pPr indent="0" marL="0">
              <a:buNone/>
            </a:pPr>
            <a:r>
              <a:rPr lang="en-US" sz="1150" b="1" spc="220" kern="0" dirty="0">
                <a:solidFill>
                  <a:srgbClr val="D6412F"/>
                </a:solidFill>
                <a:latin typeface="Calibri" pitchFamily="34" charset="0"/>
                <a:ea typeface="Calibri" pitchFamily="34" charset="-122"/>
                <a:cs typeface="Calibri" pitchFamily="34" charset="-120"/>
              </a:rPr>
              <a:t>4 · WHAT WE FOUND</a:t>
            </a:r>
            <a:endParaRPr lang="en-US" sz="1150" dirty="0"/>
          </a:p>
        </p:txBody>
      </p:sp>
      <p:sp>
        <p:nvSpPr>
          <p:cNvPr id="7" name="Text 4"/>
          <p:cNvSpPr txBox="1"/>
          <p:nvPr/>
        </p:nvSpPr>
        <p:spPr>
          <a:xfrm>
            <a:off x="566928" y="932688"/>
            <a:ext cx="10607040" cy="868680"/>
          </a:xfrm>
          <a:prstGeom prst="rect">
            <a:avLst/>
          </a:prstGeom>
          <a:noFill/>
          <a:ln/>
        </p:spPr>
        <p:txBody>
          <a:bodyPr wrap="square" lIns="0" tIns="0" rIns="0" bIns="0" rtlCol="0" anchor="ctr"/>
          <a:lstStyle/>
          <a:p>
            <a:pPr indent="0" marL="0">
              <a:lnSpc>
                <a:spcPct val="95000"/>
              </a:lnSpc>
              <a:buNone/>
            </a:pPr>
            <a:r>
              <a:rPr lang="en-US" sz="3100" b="1" dirty="0">
                <a:solidFill>
                  <a:srgbClr val="15171C"/>
                </a:solidFill>
                <a:latin typeface="Trebuchet MS" pitchFamily="34" charset="0"/>
                <a:ea typeface="Trebuchet MS" pitchFamily="34" charset="-122"/>
                <a:cs typeface="Trebuchet MS" pitchFamily="34" charset="-120"/>
              </a:rPr>
              <a:t>The short look won. Every match, every time we ran it.</a:t>
            </a:r>
            <a:endParaRPr lang="en-US" sz="3100" dirty="0"/>
          </a:p>
        </p:txBody>
      </p:sp>
      <p:sp>
        <p:nvSpPr>
          <p:cNvPr id="8" name="Text 5"/>
          <p:cNvSpPr txBox="1"/>
          <p:nvPr/>
        </p:nvSpPr>
        <p:spPr>
          <a:xfrm>
            <a:off x="566928" y="1847088"/>
            <a:ext cx="10607040" cy="365760"/>
          </a:xfrm>
          <a:prstGeom prst="rect">
            <a:avLst/>
          </a:prstGeom>
          <a:noFill/>
          <a:ln/>
        </p:spPr>
        <p:txBody>
          <a:bodyPr wrap="square" lIns="0" tIns="0" rIns="0" bIns="0" rtlCol="0" anchor="t"/>
          <a:lstStyle/>
          <a:p>
            <a:pPr algn="l" indent="0" marL="0">
              <a:lnSpc>
                <a:spcPct val="118000"/>
              </a:lnSpc>
              <a:buNone/>
            </a:pPr>
            <a:r>
              <a:rPr lang="en-US" sz="1350" dirty="0">
                <a:solidFill>
                  <a:srgbClr val="15171C"/>
                </a:solidFill>
                <a:latin typeface="Calibri" pitchFamily="34" charset="0"/>
                <a:ea typeface="Calibri" pitchFamily="34" charset="-122"/>
                <a:cs typeface="Calibri" pitchFamily="34" charset="-120"/>
              </a:rPr>
              <a:t>Score on the two matches the model had never seen — higher is better.</a:t>
            </a:r>
            <a:endParaRPr lang="en-US" sz="1350" dirty="0"/>
          </a:p>
        </p:txBody>
      </p:sp>
      <p:graphicFrame>
        <p:nvGraphicFramePr>
          <p:cNvPr id="9" name="Chart 0" descr=""/>
          <p:cNvGraphicFramePr/>
          <p:nvPr/>
        </p:nvGraphicFramePr>
        <p:xfrm>
          <a:off x="566928" y="2286000"/>
          <a:ext cx="6858000" cy="310896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566928" y="5468112"/>
            <a:ext cx="6858000" cy="457200"/>
          </a:xfrm>
          <a:prstGeom prst="rect">
            <a:avLst/>
          </a:prstGeom>
          <a:noFill/>
          <a:ln/>
        </p:spPr>
        <p:txBody>
          <a:bodyPr wrap="square" lIns="0" tIns="0" rIns="0" bIns="0" rtlCol="0" anchor="ctr"/>
          <a:lstStyle/>
          <a:p>
            <a:pPr indent="0" marL="0">
              <a:lnSpc>
                <a:spcPct val="110000"/>
              </a:lnSpc>
              <a:buNone/>
            </a:pPr>
            <a:r>
              <a:rPr lang="en-US" sz="1100" b="1" dirty="0">
                <a:solidFill>
                  <a:srgbClr val="D6412F"/>
                </a:solidFill>
                <a:latin typeface="Calibri" pitchFamily="34" charset="0"/>
                <a:ea typeface="Calibri" pitchFamily="34" charset="-122"/>
                <a:cs typeface="Calibri" pitchFamily="34" charset="-120"/>
              </a:rPr>
              <a:t>Pure guesswork scores 0.237 on Stoke and 0.222 on Reading. </a:t>
            </a:r>
            <a:pPr indent="0" marL="0">
              <a:lnSpc>
                <a:spcPct val="110000"/>
              </a:lnSpc>
              <a:buNone/>
            </a:pPr>
            <a:r>
              <a:rPr lang="en-US" sz="1100" dirty="0">
                <a:solidFill>
                  <a:srgbClr val="6A6E77"/>
                </a:solidFill>
                <a:latin typeface="Calibri" pitchFamily="34" charset="0"/>
                <a:ea typeface="Calibri" pitchFamily="34" charset="-122"/>
                <a:cs typeface="Calibri" pitchFamily="34" charset="-120"/>
              </a:rPr>
              <a:t>Only the 7-second bars clear it; the 15- and 31-second bars sit level with guessing.</a:t>
            </a:r>
            <a:endParaRPr lang="en-US" sz="1100" dirty="0"/>
          </a:p>
        </p:txBody>
      </p:sp>
      <p:sp>
        <p:nvSpPr>
          <p:cNvPr id="11" name="Shape 7"/>
          <p:cNvSpPr/>
          <p:nvPr/>
        </p:nvSpPr>
        <p:spPr>
          <a:xfrm>
            <a:off x="7680960" y="2286000"/>
            <a:ext cx="3950208" cy="987552"/>
          </a:xfrm>
          <a:prstGeom prst="roundRect">
            <a:avLst>
              <a:gd name="adj" fmla="val 5556"/>
            </a:avLst>
          </a:prstGeom>
          <a:solidFill>
            <a:srgbClr val="15171C"/>
          </a:solidFill>
          <a:ln/>
        </p:spPr>
      </p:sp>
      <p:sp>
        <p:nvSpPr>
          <p:cNvPr id="12" name="Shape 8"/>
          <p:cNvSpPr/>
          <p:nvPr/>
        </p:nvSpPr>
        <p:spPr>
          <a:xfrm>
            <a:off x="7882128" y="2542032"/>
            <a:ext cx="457200" cy="457200"/>
          </a:xfrm>
          <a:prstGeom prst="roundRect">
            <a:avLst>
              <a:gd name="adj" fmla="val 10000"/>
            </a:avLst>
          </a:prstGeom>
          <a:solidFill>
            <a:srgbClr val="D6412F"/>
          </a:solidFill>
          <a:ln/>
        </p:spPr>
      </p:sp>
      <p:pic>
        <p:nvPicPr>
          <p:cNvPr id="13" name="Image 0" descr="/home/claude/final_deck/icons/check2.png">    </p:cNvPr>
          <p:cNvPicPr>
            <a:picLocks noChangeAspect="1"/>
          </p:cNvPicPr>
          <p:nvPr/>
        </p:nvPicPr>
        <p:blipFill>
          <a:blip r:embed="rId2"/>
          <a:stretch>
            <a:fillRect/>
          </a:stretch>
        </p:blipFill>
        <p:spPr>
          <a:xfrm>
            <a:off x="8005572" y="2665476"/>
            <a:ext cx="210312" cy="210312"/>
          </a:xfrm>
          <a:prstGeom prst="rect">
            <a:avLst/>
          </a:prstGeom>
        </p:spPr>
      </p:pic>
      <p:sp>
        <p:nvSpPr>
          <p:cNvPr id="14" name="Text 9"/>
          <p:cNvSpPr txBox="1"/>
          <p:nvPr/>
        </p:nvSpPr>
        <p:spPr>
          <a:xfrm>
            <a:off x="8467344" y="2414016"/>
            <a:ext cx="3017520" cy="329184"/>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It held up 5 times out of 5</a:t>
            </a:r>
            <a:endParaRPr lang="en-US" sz="1300" dirty="0"/>
          </a:p>
        </p:txBody>
      </p:sp>
      <p:sp>
        <p:nvSpPr>
          <p:cNvPr id="15" name="Text 10"/>
          <p:cNvSpPr txBox="1"/>
          <p:nvPr/>
        </p:nvSpPr>
        <p:spPr>
          <a:xfrm>
            <a:off x="8467344" y="2724912"/>
            <a:ext cx="3017520" cy="512064"/>
          </a:xfrm>
          <a:prstGeom prst="rect">
            <a:avLst/>
          </a:prstGeom>
          <a:noFill/>
          <a:ln/>
        </p:spPr>
        <p:txBody>
          <a:bodyPr wrap="square" lIns="0" tIns="0" rIns="0" bIns="0" rtlCol="0" anchor="ctr"/>
          <a:lstStyle/>
          <a:p>
            <a:pPr indent="0" marL="0">
              <a:lnSpc>
                <a:spcPct val="105000"/>
              </a:lnSpc>
              <a:buNone/>
            </a:pPr>
            <a:r>
              <a:rPr lang="en-US" sz="1050" dirty="0">
                <a:solidFill>
                  <a:srgbClr val="C9C4BC"/>
                </a:solidFill>
                <a:latin typeface="Calibri" pitchFamily="34" charset="0"/>
                <a:ea typeface="Calibri" pitchFamily="34" charset="-122"/>
                <a:cs typeface="Calibri" pitchFamily="34" charset="-120"/>
              </a:rPr>
              <a:t>On both unseen matches, the 7-second model beat the baseline in every single run.</a:t>
            </a:r>
            <a:endParaRPr lang="en-US" sz="1050" dirty="0"/>
          </a:p>
        </p:txBody>
      </p:sp>
      <p:sp>
        <p:nvSpPr>
          <p:cNvPr id="16" name="Shape 11"/>
          <p:cNvSpPr/>
          <p:nvPr/>
        </p:nvSpPr>
        <p:spPr>
          <a:xfrm>
            <a:off x="7680960" y="3401568"/>
            <a:ext cx="3950208" cy="987552"/>
          </a:xfrm>
          <a:prstGeom prst="roundRect">
            <a:avLst>
              <a:gd name="adj" fmla="val 5556"/>
            </a:avLst>
          </a:prstGeom>
          <a:solidFill>
            <a:srgbClr val="FFFFFF"/>
          </a:solidFill>
          <a:ln w="12700">
            <a:solidFill>
              <a:srgbClr val="DCD6CC"/>
            </a:solidFill>
            <a:prstDash val="solid"/>
          </a:ln>
        </p:spPr>
      </p:sp>
      <p:sp>
        <p:nvSpPr>
          <p:cNvPr id="17" name="Shape 12"/>
          <p:cNvSpPr/>
          <p:nvPr/>
        </p:nvSpPr>
        <p:spPr>
          <a:xfrm>
            <a:off x="7882128" y="3657600"/>
            <a:ext cx="457200" cy="457200"/>
          </a:xfrm>
          <a:prstGeom prst="roundRect">
            <a:avLst>
              <a:gd name="adj" fmla="val 10000"/>
            </a:avLst>
          </a:prstGeom>
          <a:solidFill>
            <a:srgbClr val="0E6E6B"/>
          </a:solidFill>
          <a:ln/>
        </p:spPr>
      </p:sp>
      <p:pic>
        <p:nvPicPr>
          <p:cNvPr id="18" name="Image 1" descr="/home/claude/final_deck/icons/dice.png">    </p:cNvPr>
          <p:cNvPicPr>
            <a:picLocks noChangeAspect="1"/>
          </p:cNvPicPr>
          <p:nvPr/>
        </p:nvPicPr>
        <p:blipFill>
          <a:blip r:embed="rId3"/>
          <a:stretch>
            <a:fillRect/>
          </a:stretch>
        </p:blipFill>
        <p:spPr>
          <a:xfrm>
            <a:off x="8005572" y="3781044"/>
            <a:ext cx="210312" cy="210312"/>
          </a:xfrm>
          <a:prstGeom prst="rect">
            <a:avLst/>
          </a:prstGeom>
        </p:spPr>
      </p:pic>
      <p:sp>
        <p:nvSpPr>
          <p:cNvPr id="19" name="Text 13"/>
          <p:cNvSpPr txBox="1"/>
          <p:nvPr/>
        </p:nvSpPr>
        <p:spPr>
          <a:xfrm>
            <a:off x="8467344" y="3529584"/>
            <a:ext cx="3017520" cy="329184"/>
          </a:xfrm>
          <a:prstGeom prst="rect">
            <a:avLst/>
          </a:prstGeom>
          <a:noFill/>
          <a:ln/>
        </p:spPr>
        <p:txBody>
          <a:bodyPr wrap="square" lIns="0" tIns="0" rIns="0" bIns="0" rtlCol="0" anchor="ctr"/>
          <a:lstStyle/>
          <a:p>
            <a:pPr indent="0" marL="0">
              <a:buNone/>
            </a:pPr>
            <a:r>
              <a:rPr lang="en-US" sz="1300" b="1" dirty="0">
                <a:solidFill>
                  <a:srgbClr val="15171C"/>
                </a:solidFill>
                <a:latin typeface="Trebuchet MS" pitchFamily="34" charset="0"/>
                <a:ea typeface="Trebuchet MS" pitchFamily="34" charset="-122"/>
                <a:cs typeface="Trebuchet MS" pitchFamily="34" charset="-120"/>
              </a:rPr>
              <a:t>Only the short look beat guesswork</a:t>
            </a:r>
            <a:endParaRPr lang="en-US" sz="1300" dirty="0"/>
          </a:p>
        </p:txBody>
      </p:sp>
      <p:sp>
        <p:nvSpPr>
          <p:cNvPr id="20" name="Text 14"/>
          <p:cNvSpPr txBox="1"/>
          <p:nvPr/>
        </p:nvSpPr>
        <p:spPr>
          <a:xfrm>
            <a:off x="8467344" y="3840480"/>
            <a:ext cx="3017520" cy="512064"/>
          </a:xfrm>
          <a:prstGeom prst="rect">
            <a:avLst/>
          </a:prstGeom>
          <a:noFill/>
          <a:ln/>
        </p:spPr>
        <p:txBody>
          <a:bodyPr wrap="square" lIns="0" tIns="0" rIns="0" bIns="0" rtlCol="0" anchor="ctr"/>
          <a:lstStyle/>
          <a:p>
            <a:pPr indent="0" marL="0">
              <a:lnSpc>
                <a:spcPct val="105000"/>
              </a:lnSpc>
              <a:buNone/>
            </a:pPr>
            <a:r>
              <a:rPr lang="en-US" sz="1050" dirty="0">
                <a:solidFill>
                  <a:srgbClr val="6A6E77"/>
                </a:solidFill>
                <a:latin typeface="Calibri" pitchFamily="34" charset="0"/>
                <a:ea typeface="Calibri" pitchFamily="34" charset="-122"/>
                <a:cs typeface="Calibri" pitchFamily="34" charset="-120"/>
              </a:rPr>
              <a:t>The 15- and 31-second models landed level with random guessing on unseen footage.</a:t>
            </a:r>
            <a:endParaRPr lang="en-US" sz="1050" dirty="0"/>
          </a:p>
        </p:txBody>
      </p:sp>
      <p:sp>
        <p:nvSpPr>
          <p:cNvPr id="21" name="Shape 15"/>
          <p:cNvSpPr/>
          <p:nvPr/>
        </p:nvSpPr>
        <p:spPr>
          <a:xfrm>
            <a:off x="7680960" y="4517136"/>
            <a:ext cx="3950208" cy="987552"/>
          </a:xfrm>
          <a:prstGeom prst="roundRect">
            <a:avLst>
              <a:gd name="adj" fmla="val 5556"/>
            </a:avLst>
          </a:prstGeom>
          <a:solidFill>
            <a:srgbClr val="FFFFFF"/>
          </a:solidFill>
          <a:ln w="12700">
            <a:solidFill>
              <a:srgbClr val="DCD6CC"/>
            </a:solidFill>
            <a:prstDash val="solid"/>
          </a:ln>
        </p:spPr>
      </p:sp>
      <p:sp>
        <p:nvSpPr>
          <p:cNvPr id="22" name="Shape 16"/>
          <p:cNvSpPr/>
          <p:nvPr/>
        </p:nvSpPr>
        <p:spPr>
          <a:xfrm>
            <a:off x="7882128" y="4773168"/>
            <a:ext cx="457200" cy="457200"/>
          </a:xfrm>
          <a:prstGeom prst="roundRect">
            <a:avLst>
              <a:gd name="adj" fmla="val 10000"/>
            </a:avLst>
          </a:prstGeom>
          <a:solidFill>
            <a:srgbClr val="0E6E6B"/>
          </a:solidFill>
          <a:ln/>
        </p:spPr>
      </p:sp>
      <p:pic>
        <p:nvPicPr>
          <p:cNvPr id="23" name="Image 2" descr="/home/claude/final_deck/icons/magic.png">    </p:cNvPr>
          <p:cNvPicPr>
            <a:picLocks noChangeAspect="1"/>
          </p:cNvPicPr>
          <p:nvPr/>
        </p:nvPicPr>
        <p:blipFill>
          <a:blip r:embed="rId4"/>
          <a:stretch>
            <a:fillRect/>
          </a:stretch>
        </p:blipFill>
        <p:spPr>
          <a:xfrm>
            <a:off x="8005572" y="4896612"/>
            <a:ext cx="210312" cy="210312"/>
          </a:xfrm>
          <a:prstGeom prst="rect">
            <a:avLst/>
          </a:prstGeom>
        </p:spPr>
      </p:pic>
      <p:sp>
        <p:nvSpPr>
          <p:cNvPr id="24" name="Text 17"/>
          <p:cNvSpPr txBox="1"/>
          <p:nvPr/>
        </p:nvSpPr>
        <p:spPr>
          <a:xfrm>
            <a:off x="8467344" y="4645152"/>
            <a:ext cx="3017520" cy="329184"/>
          </a:xfrm>
          <a:prstGeom prst="rect">
            <a:avLst/>
          </a:prstGeom>
          <a:noFill/>
          <a:ln/>
        </p:spPr>
        <p:txBody>
          <a:bodyPr wrap="square" lIns="0" tIns="0" rIns="0" bIns="0" rtlCol="0" anchor="ctr"/>
          <a:lstStyle/>
          <a:p>
            <a:pPr indent="0" marL="0">
              <a:buNone/>
            </a:pPr>
            <a:r>
              <a:rPr lang="en-US" sz="1300" b="1" dirty="0">
                <a:solidFill>
                  <a:srgbClr val="15171C"/>
                </a:solidFill>
                <a:latin typeface="Trebuchet MS" pitchFamily="34" charset="0"/>
                <a:ea typeface="Trebuchet MS" pitchFamily="34" charset="-122"/>
                <a:cs typeface="Trebuchet MS" pitchFamily="34" charset="-120"/>
              </a:rPr>
              <a:t>Biggest gain where it matters most</a:t>
            </a:r>
            <a:endParaRPr lang="en-US" sz="1300" dirty="0"/>
          </a:p>
        </p:txBody>
      </p:sp>
      <p:sp>
        <p:nvSpPr>
          <p:cNvPr id="25" name="Text 18"/>
          <p:cNvSpPr txBox="1"/>
          <p:nvPr/>
        </p:nvSpPr>
        <p:spPr>
          <a:xfrm>
            <a:off x="8467344" y="4956048"/>
            <a:ext cx="3017520" cy="512064"/>
          </a:xfrm>
          <a:prstGeom prst="rect">
            <a:avLst/>
          </a:prstGeom>
          <a:noFill/>
          <a:ln/>
        </p:spPr>
        <p:txBody>
          <a:bodyPr wrap="square" lIns="0" tIns="0" rIns="0" bIns="0" rtlCol="0" anchor="ctr"/>
          <a:lstStyle/>
          <a:p>
            <a:pPr indent="0" marL="0">
              <a:lnSpc>
                <a:spcPct val="105000"/>
              </a:lnSpc>
              <a:buNone/>
            </a:pPr>
            <a:r>
              <a:rPr lang="en-US" sz="1050" dirty="0">
                <a:solidFill>
                  <a:srgbClr val="6A6E77"/>
                </a:solidFill>
                <a:latin typeface="Calibri" pitchFamily="34" charset="0"/>
                <a:ea typeface="Calibri" pitchFamily="34" charset="-122"/>
                <a:cs typeface="Calibri" pitchFamily="34" charset="-120"/>
              </a:rPr>
              <a:t>Pinning the exact second — the hardest test — is where the short window gained the most.</a:t>
            </a:r>
            <a:endParaRPr lang="en-US" sz="1050" dirty="0"/>
          </a:p>
        </p:txBody>
      </p:sp>
      <p:sp>
        <p:nvSpPr>
          <p:cNvPr id="26" name="Text 19"/>
          <p:cNvSpPr txBox="1"/>
          <p:nvPr/>
        </p:nvSpPr>
        <p:spPr>
          <a:xfrm>
            <a:off x="566928" y="5989320"/>
            <a:ext cx="10607040" cy="365760"/>
          </a:xfrm>
          <a:prstGeom prst="rect">
            <a:avLst/>
          </a:prstGeom>
          <a:noFill/>
          <a:ln/>
        </p:spPr>
        <p:txBody>
          <a:bodyPr wrap="square" lIns="0" tIns="0" rIns="0" bIns="0" rtlCol="0" anchor="t"/>
          <a:lstStyle/>
          <a:p>
            <a:pPr algn="l" indent="0" marL="0">
              <a:lnSpc>
                <a:spcPct val="118000"/>
              </a:lnSpc>
              <a:buNone/>
            </a:pPr>
            <a:r>
              <a:rPr lang="en-US" sz="1350" dirty="0">
                <a:solidFill>
                  <a:srgbClr val="15171C"/>
                </a:solidFill>
                <a:latin typeface="Calibri" pitchFamily="34" charset="0"/>
                <a:ea typeface="Calibri" pitchFamily="34" charset="-122"/>
                <a:cs typeface="Calibri" pitchFamily="34" charset="-120"/>
              </a:rPr>
              <a:t>So the answer to our question is: </a:t>
            </a:r>
            <a:pPr algn="l" indent="0" marL="0">
              <a:lnSpc>
                <a:spcPct val="118000"/>
              </a:lnSpc>
              <a:buNone/>
            </a:pPr>
            <a:r>
              <a:rPr lang="en-US" sz="1350" b="1" dirty="0">
                <a:solidFill>
                  <a:srgbClr val="15171C"/>
                </a:solidFill>
                <a:latin typeface="Calibri" pitchFamily="34" charset="0"/>
                <a:ea typeface="Calibri" pitchFamily="34" charset="-122"/>
                <a:cs typeface="Calibri" pitchFamily="34" charset="-120"/>
              </a:rPr>
              <a:t>less is more.</a:t>
            </a:r>
            <a:pPr algn="l" indent="0" marL="0">
              <a:lnSpc>
                <a:spcPct val="118000"/>
              </a:lnSpc>
              <a:buNone/>
            </a:pPr>
            <a:r>
              <a:rPr lang="en-US" sz="1350" dirty="0">
                <a:solidFill>
                  <a:srgbClr val="15171C"/>
                </a:solidFill>
                <a:latin typeface="Calibri" pitchFamily="34" charset="0"/>
                <a:ea typeface="Calibri" pitchFamily="34" charset="-122"/>
                <a:cs typeface="Calibri" pitchFamily="34" charset="-120"/>
              </a:rPr>
              <a:t> A model that looks at 7 seconds places events better than one that looks at 31.</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171C"/>
        </a:solidFill>
      </p:bgPr>
    </p:bg>
    <p:spTree>
      <p:nvGrpSpPr>
        <p:cNvPr id="1" name=""/>
        <p:cNvGrpSpPr/>
        <p:nvPr/>
      </p:nvGrpSpPr>
      <p:grpSpPr>
        <a:xfrm>
          <a:off x="0" y="0"/>
          <a:ext cx="0" cy="0"/>
          <a:chOff x="0" y="0"/>
          <a:chExt cx="0" cy="0"/>
        </a:xfrm>
      </p:grpSpPr>
      <p:sp>
        <p:nvSpPr>
          <p:cNvPr id="2" name="Text 0"/>
          <p:cNvSpPr txBox="1"/>
          <p:nvPr/>
        </p:nvSpPr>
        <p:spPr>
          <a:xfrm>
            <a:off x="11414455" y="6446520"/>
            <a:ext cx="365760" cy="274320"/>
          </a:xfrm>
          <a:prstGeom prst="rect">
            <a:avLst/>
          </a:prstGeom>
          <a:noFill/>
          <a:ln/>
        </p:spPr>
        <p:txBody>
          <a:bodyPr wrap="square" lIns="0" tIns="0" rIns="0" bIns="0" rtlCol="0" anchor="ctr"/>
          <a:lstStyle/>
          <a:p>
            <a:pPr algn="r" indent="0" marL="0">
              <a:buNone/>
            </a:pPr>
            <a:r>
              <a:rPr lang="en-US" sz="950" dirty="0">
                <a:solidFill>
                  <a:srgbClr val="6A6E77"/>
                </a:solidFill>
                <a:latin typeface="Calibri" pitchFamily="34" charset="0"/>
                <a:ea typeface="Calibri" pitchFamily="34" charset="-122"/>
                <a:cs typeface="Calibri" pitchFamily="34" charset="-120"/>
              </a:rPr>
              <a:t>7</a:t>
            </a:r>
            <a:endParaRPr lang="en-US" sz="950" dirty="0"/>
          </a:p>
        </p:txBody>
      </p:sp>
      <p:sp>
        <p:nvSpPr>
          <p:cNvPr id="3" name="Text 1"/>
          <p:cNvSpPr txBox="1"/>
          <p:nvPr/>
        </p:nvSpPr>
        <p:spPr>
          <a:xfrm>
            <a:off x="566928" y="6446520"/>
            <a:ext cx="2743200" cy="274320"/>
          </a:xfrm>
          <a:prstGeom prst="rect">
            <a:avLst/>
          </a:prstGeom>
          <a:noFill/>
          <a:ln/>
        </p:spPr>
        <p:txBody>
          <a:bodyPr wrap="square" lIns="0" tIns="0" rIns="0" bIns="0" rtlCol="0" anchor="ctr"/>
          <a:lstStyle/>
          <a:p>
            <a:pPr indent="0" marL="0">
              <a:buNone/>
            </a:pPr>
            <a:r>
              <a:rPr lang="en-US" sz="950" dirty="0">
                <a:solidFill>
                  <a:srgbClr val="6A6E77"/>
                </a:solidFill>
                <a:latin typeface="Calibri" pitchFamily="34" charset="0"/>
                <a:ea typeface="Calibri" pitchFamily="34" charset="-122"/>
                <a:cs typeface="Calibri" pitchFamily="34" charset="-120"/>
              </a:rPr>
              <a:t>PitchVision</a:t>
            </a:r>
            <a:endParaRPr lang="en-US" sz="950" dirty="0"/>
          </a:p>
        </p:txBody>
      </p:sp>
      <p:sp>
        <p:nvSpPr>
          <p:cNvPr id="5" name="Shape 2"/>
          <p:cNvSpPr/>
          <p:nvPr/>
        </p:nvSpPr>
        <p:spPr>
          <a:xfrm>
            <a:off x="566928" y="475488"/>
            <a:ext cx="457200" cy="54864"/>
          </a:xfrm>
          <a:prstGeom prst="rect">
            <a:avLst/>
          </a:prstGeom>
          <a:solidFill>
            <a:srgbClr val="D6412F"/>
          </a:solidFill>
          <a:ln/>
        </p:spPr>
      </p:sp>
      <p:sp>
        <p:nvSpPr>
          <p:cNvPr id="6" name="Text 3"/>
          <p:cNvSpPr txBox="1"/>
          <p:nvPr/>
        </p:nvSpPr>
        <p:spPr>
          <a:xfrm>
            <a:off x="566928" y="621792"/>
            <a:ext cx="8229600" cy="274320"/>
          </a:xfrm>
          <a:prstGeom prst="rect">
            <a:avLst/>
          </a:prstGeom>
          <a:noFill/>
          <a:ln/>
        </p:spPr>
        <p:txBody>
          <a:bodyPr wrap="square" lIns="0" tIns="0" rIns="0" bIns="0" rtlCol="0" anchor="ctr"/>
          <a:lstStyle/>
          <a:p>
            <a:pPr indent="0" marL="0">
              <a:buNone/>
            </a:pPr>
            <a:r>
              <a:rPr lang="en-US" sz="1150" b="1" spc="220" kern="0" dirty="0">
                <a:solidFill>
                  <a:srgbClr val="D6412F"/>
                </a:solidFill>
                <a:latin typeface="Calibri" pitchFamily="34" charset="0"/>
                <a:ea typeface="Calibri" pitchFamily="34" charset="-122"/>
                <a:cs typeface="Calibri" pitchFamily="34" charset="-120"/>
              </a:rPr>
              <a:t>WHAT WE ALSO FOUND</a:t>
            </a:r>
            <a:endParaRPr lang="en-US" sz="1150" dirty="0"/>
          </a:p>
        </p:txBody>
      </p:sp>
      <p:sp>
        <p:nvSpPr>
          <p:cNvPr id="7" name="Text 4"/>
          <p:cNvSpPr txBox="1"/>
          <p:nvPr/>
        </p:nvSpPr>
        <p:spPr>
          <a:xfrm>
            <a:off x="566928" y="932688"/>
            <a:ext cx="10607040" cy="868680"/>
          </a:xfrm>
          <a:prstGeom prst="rect">
            <a:avLst/>
          </a:prstGeom>
          <a:noFill/>
          <a:ln/>
        </p:spPr>
        <p:txBody>
          <a:bodyPr wrap="square" lIns="0" tIns="0" rIns="0" bIns="0" rtlCol="0" anchor="ctr"/>
          <a:lstStyle/>
          <a:p>
            <a:pPr indent="0" marL="0">
              <a:lnSpc>
                <a:spcPct val="95000"/>
              </a:lnSpc>
              <a:buNone/>
            </a:pPr>
            <a:r>
              <a:rPr lang="en-US" sz="3100" b="1" dirty="0">
                <a:solidFill>
                  <a:srgbClr val="FFFFFF"/>
                </a:solidFill>
                <a:latin typeface="Trebuchet MS" pitchFamily="34" charset="0"/>
                <a:ea typeface="Trebuchet MS" pitchFamily="34" charset="-122"/>
                <a:cs typeface="Trebuchet MS" pitchFamily="34" charset="-120"/>
              </a:rPr>
              <a:t>Three things did not hold up — so we say so.</a:t>
            </a:r>
            <a:endParaRPr lang="en-US" sz="3100" dirty="0"/>
          </a:p>
        </p:txBody>
      </p:sp>
      <p:sp>
        <p:nvSpPr>
          <p:cNvPr id="8" name="Text 5"/>
          <p:cNvSpPr txBox="1"/>
          <p:nvPr/>
        </p:nvSpPr>
        <p:spPr>
          <a:xfrm>
            <a:off x="566928" y="1847088"/>
            <a:ext cx="10607040" cy="365760"/>
          </a:xfrm>
          <a:prstGeom prst="rect">
            <a:avLst/>
          </a:prstGeom>
          <a:noFill/>
          <a:ln/>
        </p:spPr>
        <p:txBody>
          <a:bodyPr wrap="square" lIns="0" tIns="0" rIns="0" bIns="0" rtlCol="0" anchor="t"/>
          <a:lstStyle/>
          <a:p>
            <a:pPr algn="l" indent="0" marL="0">
              <a:lnSpc>
                <a:spcPct val="118000"/>
              </a:lnSpc>
              <a:buNone/>
            </a:pPr>
            <a:r>
              <a:rPr lang="en-US" sz="1350" dirty="0">
                <a:solidFill>
                  <a:srgbClr val="C9C4BC"/>
                </a:solidFill>
                <a:latin typeface="Calibri" pitchFamily="34" charset="0"/>
                <a:ea typeface="Calibri" pitchFamily="34" charset="-122"/>
                <a:cs typeface="Calibri" pitchFamily="34" charset="-120"/>
              </a:rPr>
              <a:t>A result that only works on the match you tuned it on is not a result. Here is what survived our checks and what did not.</a:t>
            </a:r>
            <a:endParaRPr lang="en-US" sz="1350" dirty="0"/>
          </a:p>
        </p:txBody>
      </p:sp>
      <p:sp>
        <p:nvSpPr>
          <p:cNvPr id="9" name="Shape 6"/>
          <p:cNvSpPr/>
          <p:nvPr/>
        </p:nvSpPr>
        <p:spPr>
          <a:xfrm>
            <a:off x="566928" y="2395728"/>
            <a:ext cx="5394960" cy="3200400"/>
          </a:xfrm>
          <a:prstGeom prst="roundRect">
            <a:avLst>
              <a:gd name="adj" fmla="val 1714"/>
            </a:avLst>
          </a:prstGeom>
          <a:solidFill>
            <a:srgbClr val="1F222A"/>
          </a:solidFill>
          <a:ln/>
        </p:spPr>
      </p:sp>
      <p:sp>
        <p:nvSpPr>
          <p:cNvPr id="10" name="Shape 7"/>
          <p:cNvSpPr/>
          <p:nvPr/>
        </p:nvSpPr>
        <p:spPr>
          <a:xfrm>
            <a:off x="841248" y="2651760"/>
            <a:ext cx="457200" cy="457200"/>
          </a:xfrm>
          <a:prstGeom prst="roundRect">
            <a:avLst>
              <a:gd name="adj" fmla="val 10000"/>
            </a:avLst>
          </a:prstGeom>
          <a:solidFill>
            <a:srgbClr val="0E6E6B"/>
          </a:solidFill>
          <a:ln/>
        </p:spPr>
      </p:sp>
      <p:pic>
        <p:nvPicPr>
          <p:cNvPr id="11" name="Image 0" descr="/home/claude/final_deck/icons/check2.png">    </p:cNvPr>
          <p:cNvPicPr>
            <a:picLocks noChangeAspect="1"/>
          </p:cNvPicPr>
          <p:nvPr/>
        </p:nvPicPr>
        <p:blipFill>
          <a:blip r:embed="rId1"/>
          <a:stretch>
            <a:fillRect/>
          </a:stretch>
        </p:blipFill>
        <p:spPr>
          <a:xfrm>
            <a:off x="964692" y="2775204"/>
            <a:ext cx="210312" cy="210312"/>
          </a:xfrm>
          <a:prstGeom prst="rect">
            <a:avLst/>
          </a:prstGeom>
        </p:spPr>
      </p:pic>
      <p:sp>
        <p:nvSpPr>
          <p:cNvPr id="12" name="Text 8"/>
          <p:cNvSpPr txBox="1"/>
          <p:nvPr/>
        </p:nvSpPr>
        <p:spPr>
          <a:xfrm>
            <a:off x="1426464" y="2688336"/>
            <a:ext cx="365760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Held up everywhere</a:t>
            </a:r>
            <a:endParaRPr lang="en-US" sz="1600" dirty="0"/>
          </a:p>
        </p:txBody>
      </p:sp>
      <p:sp>
        <p:nvSpPr>
          <p:cNvPr id="13" name="Text 9"/>
          <p:cNvSpPr txBox="1"/>
          <p:nvPr/>
        </p:nvSpPr>
        <p:spPr>
          <a:xfrm>
            <a:off x="868680" y="3291840"/>
            <a:ext cx="274320" cy="320040"/>
          </a:xfrm>
          <a:prstGeom prst="rect">
            <a:avLst/>
          </a:prstGeom>
          <a:noFill/>
          <a:ln/>
        </p:spPr>
        <p:txBody>
          <a:bodyPr wrap="square" lIns="0" tIns="0" rIns="0" bIns="0" rtlCol="0" anchor="ctr"/>
          <a:lstStyle/>
          <a:p>
            <a:pPr indent="0" marL="0">
              <a:buNone/>
            </a:pPr>
            <a:r>
              <a:rPr lang="en-US" sz="1300" b="1" dirty="0">
                <a:solidFill>
                  <a:srgbClr val="0E6E6B"/>
                </a:solidFill>
                <a:latin typeface="Calibri" pitchFamily="34" charset="0"/>
                <a:ea typeface="Calibri" pitchFamily="34" charset="-122"/>
                <a:cs typeface="Calibri" pitchFamily="34" charset="-120"/>
              </a:rPr>
              <a:t>✓</a:t>
            </a:r>
            <a:endParaRPr lang="en-US" sz="1300" dirty="0"/>
          </a:p>
        </p:txBody>
      </p:sp>
      <p:sp>
        <p:nvSpPr>
          <p:cNvPr id="14" name="Text 10"/>
          <p:cNvSpPr txBox="1"/>
          <p:nvPr/>
        </p:nvSpPr>
        <p:spPr>
          <a:xfrm>
            <a:off x="1188720" y="3255264"/>
            <a:ext cx="4572000" cy="731520"/>
          </a:xfrm>
          <a:prstGeom prst="rect">
            <a:avLst/>
          </a:prstGeom>
          <a:noFill/>
          <a:ln/>
        </p:spPr>
        <p:txBody>
          <a:bodyPr wrap="square" lIns="0" tIns="0" rIns="0" bIns="0" rtlCol="0" anchor="ctr"/>
          <a:lstStyle/>
          <a:p>
            <a:pPr indent="0" marL="0">
              <a:lnSpc>
                <a:spcPct val="112000"/>
              </a:lnSpc>
              <a:buNone/>
            </a:pPr>
            <a:r>
              <a:rPr lang="en-US" sz="1250" dirty="0">
                <a:solidFill>
                  <a:srgbClr val="D9D4CC"/>
                </a:solidFill>
                <a:latin typeface="Calibri" pitchFamily="34" charset="0"/>
                <a:ea typeface="Calibri" pitchFamily="34" charset="-122"/>
                <a:cs typeface="Calibri" pitchFamily="34" charset="-120"/>
              </a:rPr>
              <a:t>A 7-second window beats the 15-second baseline — on all three matches, on both scoring methods.</a:t>
            </a:r>
            <a:endParaRPr lang="en-US" sz="1250" dirty="0"/>
          </a:p>
        </p:txBody>
      </p:sp>
      <p:sp>
        <p:nvSpPr>
          <p:cNvPr id="15" name="Text 11"/>
          <p:cNvSpPr txBox="1"/>
          <p:nvPr/>
        </p:nvSpPr>
        <p:spPr>
          <a:xfrm>
            <a:off x="868680" y="4041648"/>
            <a:ext cx="274320" cy="320040"/>
          </a:xfrm>
          <a:prstGeom prst="rect">
            <a:avLst/>
          </a:prstGeom>
          <a:noFill/>
          <a:ln/>
        </p:spPr>
        <p:txBody>
          <a:bodyPr wrap="square" lIns="0" tIns="0" rIns="0" bIns="0" rtlCol="0" anchor="ctr"/>
          <a:lstStyle/>
          <a:p>
            <a:pPr indent="0" marL="0">
              <a:buNone/>
            </a:pPr>
            <a:r>
              <a:rPr lang="en-US" sz="1300" b="1" dirty="0">
                <a:solidFill>
                  <a:srgbClr val="0E6E6B"/>
                </a:solidFill>
                <a:latin typeface="Calibri" pitchFamily="34" charset="0"/>
                <a:ea typeface="Calibri" pitchFamily="34" charset="-122"/>
                <a:cs typeface="Calibri" pitchFamily="34" charset="-120"/>
              </a:rPr>
              <a:t>✓</a:t>
            </a:r>
            <a:endParaRPr lang="en-US" sz="1300" dirty="0"/>
          </a:p>
        </p:txBody>
      </p:sp>
      <p:sp>
        <p:nvSpPr>
          <p:cNvPr id="16" name="Text 12"/>
          <p:cNvSpPr txBox="1"/>
          <p:nvPr/>
        </p:nvSpPr>
        <p:spPr>
          <a:xfrm>
            <a:off x="1188720" y="4005072"/>
            <a:ext cx="4572000" cy="731520"/>
          </a:xfrm>
          <a:prstGeom prst="rect">
            <a:avLst/>
          </a:prstGeom>
          <a:noFill/>
          <a:ln/>
        </p:spPr>
        <p:txBody>
          <a:bodyPr wrap="square" lIns="0" tIns="0" rIns="0" bIns="0" rtlCol="0" anchor="ctr"/>
          <a:lstStyle/>
          <a:p>
            <a:pPr indent="0" marL="0">
              <a:lnSpc>
                <a:spcPct val="112000"/>
              </a:lnSpc>
              <a:buNone/>
            </a:pPr>
            <a:r>
              <a:rPr lang="en-US" sz="1250" dirty="0">
                <a:solidFill>
                  <a:srgbClr val="D9D4CC"/>
                </a:solidFill>
                <a:latin typeface="Calibri" pitchFamily="34" charset="0"/>
                <a:ea typeface="Calibri" pitchFamily="34" charset="-122"/>
                <a:cs typeface="Calibri" pitchFamily="34" charset="-120"/>
              </a:rPr>
              <a:t>It is the only setting that clearly beats guesswork on footage it has never seen.</a:t>
            </a:r>
            <a:endParaRPr lang="en-US" sz="1250" dirty="0"/>
          </a:p>
        </p:txBody>
      </p:sp>
      <p:sp>
        <p:nvSpPr>
          <p:cNvPr id="17" name="Text 13"/>
          <p:cNvSpPr txBox="1"/>
          <p:nvPr/>
        </p:nvSpPr>
        <p:spPr>
          <a:xfrm>
            <a:off x="868680" y="4791456"/>
            <a:ext cx="274320" cy="320040"/>
          </a:xfrm>
          <a:prstGeom prst="rect">
            <a:avLst/>
          </a:prstGeom>
          <a:noFill/>
          <a:ln/>
        </p:spPr>
        <p:txBody>
          <a:bodyPr wrap="square" lIns="0" tIns="0" rIns="0" bIns="0" rtlCol="0" anchor="ctr"/>
          <a:lstStyle/>
          <a:p>
            <a:pPr indent="0" marL="0">
              <a:buNone/>
            </a:pPr>
            <a:r>
              <a:rPr lang="en-US" sz="1300" b="1" dirty="0">
                <a:solidFill>
                  <a:srgbClr val="0E6E6B"/>
                </a:solidFill>
                <a:latin typeface="Calibri" pitchFamily="34" charset="0"/>
                <a:ea typeface="Calibri" pitchFamily="34" charset="-122"/>
                <a:cs typeface="Calibri" pitchFamily="34" charset="-120"/>
              </a:rPr>
              <a:t>✓</a:t>
            </a:r>
            <a:endParaRPr lang="en-US" sz="1300" dirty="0"/>
          </a:p>
        </p:txBody>
      </p:sp>
      <p:sp>
        <p:nvSpPr>
          <p:cNvPr id="18" name="Text 14"/>
          <p:cNvSpPr txBox="1"/>
          <p:nvPr/>
        </p:nvSpPr>
        <p:spPr>
          <a:xfrm>
            <a:off x="1188720" y="4754880"/>
            <a:ext cx="4572000" cy="731520"/>
          </a:xfrm>
          <a:prstGeom prst="rect">
            <a:avLst/>
          </a:prstGeom>
          <a:noFill/>
          <a:ln/>
        </p:spPr>
        <p:txBody>
          <a:bodyPr wrap="square" lIns="0" tIns="0" rIns="0" bIns="0" rtlCol="0" anchor="ctr"/>
          <a:lstStyle/>
          <a:p>
            <a:pPr indent="0" marL="0">
              <a:lnSpc>
                <a:spcPct val="112000"/>
              </a:lnSpc>
              <a:buNone/>
            </a:pPr>
            <a:r>
              <a:rPr lang="en-US" sz="1250" dirty="0">
                <a:solidFill>
                  <a:srgbClr val="D9D4CC"/>
                </a:solidFill>
                <a:latin typeface="Calibri" pitchFamily="34" charset="0"/>
                <a:ea typeface="Calibri" pitchFamily="34" charset="-122"/>
                <a:cs typeface="Calibri" pitchFamily="34" charset="-120"/>
              </a:rPr>
              <a:t>Long windows blur nearby events together and simply miss them — about 40% fewer events found.</a:t>
            </a:r>
            <a:endParaRPr lang="en-US" sz="1250" dirty="0"/>
          </a:p>
        </p:txBody>
      </p:sp>
      <p:sp>
        <p:nvSpPr>
          <p:cNvPr id="19" name="Shape 15"/>
          <p:cNvSpPr/>
          <p:nvPr/>
        </p:nvSpPr>
        <p:spPr>
          <a:xfrm>
            <a:off x="6236208" y="2395728"/>
            <a:ext cx="5394960" cy="3200400"/>
          </a:xfrm>
          <a:prstGeom prst="roundRect">
            <a:avLst>
              <a:gd name="adj" fmla="val 1714"/>
            </a:avLst>
          </a:prstGeom>
          <a:solidFill>
            <a:srgbClr val="1F222A"/>
          </a:solidFill>
          <a:ln/>
        </p:spPr>
      </p:sp>
      <p:sp>
        <p:nvSpPr>
          <p:cNvPr id="20" name="Shape 16"/>
          <p:cNvSpPr/>
          <p:nvPr/>
        </p:nvSpPr>
        <p:spPr>
          <a:xfrm>
            <a:off x="6510528" y="2651760"/>
            <a:ext cx="457200" cy="457200"/>
          </a:xfrm>
          <a:prstGeom prst="roundRect">
            <a:avLst>
              <a:gd name="adj" fmla="val 10000"/>
            </a:avLst>
          </a:prstGeom>
          <a:solidFill>
            <a:srgbClr val="D6412F"/>
          </a:solidFill>
          <a:ln/>
        </p:spPr>
      </p:sp>
      <p:pic>
        <p:nvPicPr>
          <p:cNvPr id="21" name="Image 1" descr="/home/claude/final_deck/icons/times2.png">    </p:cNvPr>
          <p:cNvPicPr>
            <a:picLocks noChangeAspect="1"/>
          </p:cNvPicPr>
          <p:nvPr/>
        </p:nvPicPr>
        <p:blipFill>
          <a:blip r:embed="rId2"/>
          <a:stretch>
            <a:fillRect/>
          </a:stretch>
        </p:blipFill>
        <p:spPr>
          <a:xfrm>
            <a:off x="6633972" y="2775204"/>
            <a:ext cx="210312" cy="210312"/>
          </a:xfrm>
          <a:prstGeom prst="rect">
            <a:avLst/>
          </a:prstGeom>
        </p:spPr>
      </p:pic>
      <p:sp>
        <p:nvSpPr>
          <p:cNvPr id="22" name="Text 17"/>
          <p:cNvSpPr txBox="1"/>
          <p:nvPr/>
        </p:nvSpPr>
        <p:spPr>
          <a:xfrm>
            <a:off x="7095744" y="2688336"/>
            <a:ext cx="365760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Did not hold up</a:t>
            </a:r>
            <a:endParaRPr lang="en-US" sz="1600" dirty="0"/>
          </a:p>
        </p:txBody>
      </p:sp>
      <p:sp>
        <p:nvSpPr>
          <p:cNvPr id="23" name="Text 18"/>
          <p:cNvSpPr txBox="1"/>
          <p:nvPr/>
        </p:nvSpPr>
        <p:spPr>
          <a:xfrm>
            <a:off x="6537960" y="3291840"/>
            <a:ext cx="274320" cy="320040"/>
          </a:xfrm>
          <a:prstGeom prst="rect">
            <a:avLst/>
          </a:prstGeom>
          <a:noFill/>
          <a:ln/>
        </p:spPr>
        <p:txBody>
          <a:bodyPr wrap="square" lIns="0" tIns="0" rIns="0" bIns="0" rtlCol="0" anchor="ctr"/>
          <a:lstStyle/>
          <a:p>
            <a:pPr indent="0" marL="0">
              <a:buNone/>
            </a:pPr>
            <a:r>
              <a:rPr lang="en-US" sz="1300" b="1" dirty="0">
                <a:solidFill>
                  <a:srgbClr val="D6412F"/>
                </a:solidFill>
                <a:latin typeface="Calibri" pitchFamily="34" charset="0"/>
                <a:ea typeface="Calibri" pitchFamily="34" charset="-122"/>
                <a:cs typeface="Calibri" pitchFamily="34" charset="-120"/>
              </a:rPr>
              <a:t>✕</a:t>
            </a:r>
            <a:endParaRPr lang="en-US" sz="1300" dirty="0"/>
          </a:p>
        </p:txBody>
      </p:sp>
      <p:sp>
        <p:nvSpPr>
          <p:cNvPr id="24" name="Text 19"/>
          <p:cNvSpPr txBox="1"/>
          <p:nvPr/>
        </p:nvSpPr>
        <p:spPr>
          <a:xfrm>
            <a:off x="6858000" y="3255264"/>
            <a:ext cx="4572000" cy="731520"/>
          </a:xfrm>
          <a:prstGeom prst="rect">
            <a:avLst/>
          </a:prstGeom>
          <a:noFill/>
          <a:ln/>
        </p:spPr>
        <p:txBody>
          <a:bodyPr wrap="square" lIns="0" tIns="0" rIns="0" bIns="0" rtlCol="0" anchor="ctr"/>
          <a:lstStyle/>
          <a:p>
            <a:pPr indent="0" marL="0">
              <a:lnSpc>
                <a:spcPct val="112000"/>
              </a:lnSpc>
              <a:buNone/>
            </a:pPr>
            <a:r>
              <a:rPr lang="en-US" sz="1250" dirty="0">
                <a:solidFill>
                  <a:srgbClr val="D9D4CC"/>
                </a:solidFill>
                <a:latin typeface="Calibri" pitchFamily="34" charset="0"/>
                <a:ea typeface="Calibri" pitchFamily="34" charset="-122"/>
                <a:cs typeface="Calibri" pitchFamily="34" charset="-120"/>
              </a:rPr>
              <a:t>Whether the longest window is actually worse than the baseline: true on one match, a tie on the other.</a:t>
            </a:r>
            <a:endParaRPr lang="en-US" sz="1250" dirty="0"/>
          </a:p>
        </p:txBody>
      </p:sp>
      <p:sp>
        <p:nvSpPr>
          <p:cNvPr id="25" name="Text 20"/>
          <p:cNvSpPr txBox="1"/>
          <p:nvPr/>
        </p:nvSpPr>
        <p:spPr>
          <a:xfrm>
            <a:off x="6537960" y="4041648"/>
            <a:ext cx="274320" cy="320040"/>
          </a:xfrm>
          <a:prstGeom prst="rect">
            <a:avLst/>
          </a:prstGeom>
          <a:noFill/>
          <a:ln/>
        </p:spPr>
        <p:txBody>
          <a:bodyPr wrap="square" lIns="0" tIns="0" rIns="0" bIns="0" rtlCol="0" anchor="ctr"/>
          <a:lstStyle/>
          <a:p>
            <a:pPr indent="0" marL="0">
              <a:buNone/>
            </a:pPr>
            <a:r>
              <a:rPr lang="en-US" sz="1300" b="1" dirty="0">
                <a:solidFill>
                  <a:srgbClr val="D6412F"/>
                </a:solidFill>
                <a:latin typeface="Calibri" pitchFamily="34" charset="0"/>
                <a:ea typeface="Calibri" pitchFamily="34" charset="-122"/>
                <a:cs typeface="Calibri" pitchFamily="34" charset="-120"/>
              </a:rPr>
              <a:t>✕</a:t>
            </a:r>
            <a:endParaRPr lang="en-US" sz="1300" dirty="0"/>
          </a:p>
        </p:txBody>
      </p:sp>
      <p:sp>
        <p:nvSpPr>
          <p:cNvPr id="26" name="Text 21"/>
          <p:cNvSpPr txBox="1"/>
          <p:nvPr/>
        </p:nvSpPr>
        <p:spPr>
          <a:xfrm>
            <a:off x="6858000" y="4005072"/>
            <a:ext cx="4572000" cy="731520"/>
          </a:xfrm>
          <a:prstGeom prst="rect">
            <a:avLst/>
          </a:prstGeom>
          <a:noFill/>
          <a:ln/>
        </p:spPr>
        <p:txBody>
          <a:bodyPr wrap="square" lIns="0" tIns="0" rIns="0" bIns="0" rtlCol="0" anchor="ctr"/>
          <a:lstStyle/>
          <a:p>
            <a:pPr indent="0" marL="0">
              <a:lnSpc>
                <a:spcPct val="112000"/>
              </a:lnSpc>
              <a:buNone/>
            </a:pPr>
            <a:r>
              <a:rPr lang="en-US" sz="1250" dirty="0">
                <a:solidFill>
                  <a:srgbClr val="D9D4CC"/>
                </a:solidFill>
                <a:latin typeface="Calibri" pitchFamily="34" charset="0"/>
                <a:ea typeface="Calibri" pitchFamily="34" charset="-122"/>
                <a:cs typeface="Calibri" pitchFamily="34" charset="-120"/>
              </a:rPr>
              <a:t>Our idea that the advantage would be biggest on the strictest timing test: true on two matches, flat on the third.</a:t>
            </a:r>
            <a:endParaRPr lang="en-US" sz="1250" dirty="0"/>
          </a:p>
        </p:txBody>
      </p:sp>
      <p:sp>
        <p:nvSpPr>
          <p:cNvPr id="27" name="Text 22"/>
          <p:cNvSpPr txBox="1"/>
          <p:nvPr/>
        </p:nvSpPr>
        <p:spPr>
          <a:xfrm>
            <a:off x="6537960" y="4791456"/>
            <a:ext cx="274320" cy="320040"/>
          </a:xfrm>
          <a:prstGeom prst="rect">
            <a:avLst/>
          </a:prstGeom>
          <a:noFill/>
          <a:ln/>
        </p:spPr>
        <p:txBody>
          <a:bodyPr wrap="square" lIns="0" tIns="0" rIns="0" bIns="0" rtlCol="0" anchor="ctr"/>
          <a:lstStyle/>
          <a:p>
            <a:pPr indent="0" marL="0">
              <a:buNone/>
            </a:pPr>
            <a:r>
              <a:rPr lang="en-US" sz="1300" b="1" dirty="0">
                <a:solidFill>
                  <a:srgbClr val="D6412F"/>
                </a:solidFill>
                <a:latin typeface="Calibri" pitchFamily="34" charset="0"/>
                <a:ea typeface="Calibri" pitchFamily="34" charset="-122"/>
                <a:cs typeface="Calibri" pitchFamily="34" charset="-120"/>
              </a:rPr>
              <a:t>✕</a:t>
            </a:r>
            <a:endParaRPr lang="en-US" sz="1300" dirty="0"/>
          </a:p>
        </p:txBody>
      </p:sp>
      <p:sp>
        <p:nvSpPr>
          <p:cNvPr id="28" name="Text 23"/>
          <p:cNvSpPr txBox="1"/>
          <p:nvPr/>
        </p:nvSpPr>
        <p:spPr>
          <a:xfrm>
            <a:off x="6858000" y="4754880"/>
            <a:ext cx="4572000" cy="731520"/>
          </a:xfrm>
          <a:prstGeom prst="rect">
            <a:avLst/>
          </a:prstGeom>
          <a:noFill/>
          <a:ln/>
        </p:spPr>
        <p:txBody>
          <a:bodyPr wrap="square" lIns="0" tIns="0" rIns="0" bIns="0" rtlCol="0" anchor="ctr"/>
          <a:lstStyle/>
          <a:p>
            <a:pPr indent="0" marL="0">
              <a:lnSpc>
                <a:spcPct val="112000"/>
              </a:lnSpc>
              <a:buNone/>
            </a:pPr>
            <a:r>
              <a:rPr lang="en-US" sz="1250" dirty="0">
                <a:solidFill>
                  <a:srgbClr val="D9D4CC"/>
                </a:solidFill>
                <a:latin typeface="Calibri" pitchFamily="34" charset="0"/>
                <a:ea typeface="Calibri" pitchFamily="34" charset="-122"/>
                <a:cs typeface="Calibri" pitchFamily="34" charset="-120"/>
              </a:rPr>
              <a:t>Whether short windows time events more precisely: it reversed on the third match, so we dropped the claim.</a:t>
            </a:r>
            <a:endParaRPr lang="en-US" sz="1250" dirty="0"/>
          </a:p>
        </p:txBody>
      </p:sp>
      <p:sp>
        <p:nvSpPr>
          <p:cNvPr id="29" name="Text 24"/>
          <p:cNvSpPr txBox="1"/>
          <p:nvPr/>
        </p:nvSpPr>
        <p:spPr>
          <a:xfrm>
            <a:off x="566928" y="5760720"/>
            <a:ext cx="10607040" cy="365760"/>
          </a:xfrm>
          <a:prstGeom prst="rect">
            <a:avLst/>
          </a:prstGeom>
          <a:noFill/>
          <a:ln/>
        </p:spPr>
        <p:txBody>
          <a:bodyPr wrap="square" lIns="0" tIns="0" rIns="0" bIns="0" rtlCol="0" anchor="t"/>
          <a:lstStyle/>
          <a:p>
            <a:pPr algn="l" indent="0" marL="0">
              <a:lnSpc>
                <a:spcPct val="118000"/>
              </a:lnSpc>
              <a:buNone/>
            </a:pPr>
            <a:r>
              <a:rPr lang="en-US" sz="1250" i="1" dirty="0">
                <a:solidFill>
                  <a:srgbClr val="9EA2AB"/>
                </a:solidFill>
                <a:latin typeface="Calibri" pitchFamily="34" charset="0"/>
                <a:ea typeface="Calibri" pitchFamily="34" charset="-122"/>
                <a:cs typeface="Calibri" pitchFamily="34" charset="-120"/>
              </a:rPr>
              <a:t>We also found that our own first scoring method flattered everyone — including random guessing. We fixed it and reported both.</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F"/>
        </a:solidFill>
      </p:bgPr>
    </p:bg>
    <p:spTree>
      <p:nvGrpSpPr>
        <p:cNvPr id="1" name=""/>
        <p:cNvGrpSpPr/>
        <p:nvPr/>
      </p:nvGrpSpPr>
      <p:grpSpPr>
        <a:xfrm>
          <a:off x="0" y="0"/>
          <a:ext cx="0" cy="0"/>
          <a:chOff x="0" y="0"/>
          <a:chExt cx="0" cy="0"/>
        </a:xfrm>
      </p:grpSpPr>
      <p:sp>
        <p:nvSpPr>
          <p:cNvPr id="2" name="Text 0"/>
          <p:cNvSpPr txBox="1"/>
          <p:nvPr/>
        </p:nvSpPr>
        <p:spPr>
          <a:xfrm>
            <a:off x="11414455" y="6446520"/>
            <a:ext cx="365760" cy="274320"/>
          </a:xfrm>
          <a:prstGeom prst="rect">
            <a:avLst/>
          </a:prstGeom>
          <a:noFill/>
          <a:ln/>
        </p:spPr>
        <p:txBody>
          <a:bodyPr wrap="square" lIns="0" tIns="0" rIns="0" bIns="0" rtlCol="0" anchor="ctr"/>
          <a:lstStyle/>
          <a:p>
            <a:pPr algn="r" indent="0" marL="0">
              <a:buNone/>
            </a:pPr>
            <a:r>
              <a:rPr lang="en-US" sz="950" dirty="0">
                <a:solidFill>
                  <a:srgbClr val="6A6E77"/>
                </a:solidFill>
                <a:latin typeface="Calibri" pitchFamily="34" charset="0"/>
                <a:ea typeface="Calibri" pitchFamily="34" charset="-122"/>
                <a:cs typeface="Calibri" pitchFamily="34" charset="-120"/>
              </a:rPr>
              <a:t>8</a:t>
            </a:r>
            <a:endParaRPr lang="en-US" sz="950" dirty="0"/>
          </a:p>
        </p:txBody>
      </p:sp>
      <p:sp>
        <p:nvSpPr>
          <p:cNvPr id="3" name="Text 1"/>
          <p:cNvSpPr txBox="1"/>
          <p:nvPr/>
        </p:nvSpPr>
        <p:spPr>
          <a:xfrm>
            <a:off x="566928" y="6446520"/>
            <a:ext cx="2743200" cy="274320"/>
          </a:xfrm>
          <a:prstGeom prst="rect">
            <a:avLst/>
          </a:prstGeom>
          <a:noFill/>
          <a:ln/>
        </p:spPr>
        <p:txBody>
          <a:bodyPr wrap="square" lIns="0" tIns="0" rIns="0" bIns="0" rtlCol="0" anchor="ctr"/>
          <a:lstStyle/>
          <a:p>
            <a:pPr indent="0" marL="0">
              <a:buNone/>
            </a:pPr>
            <a:r>
              <a:rPr lang="en-US" sz="950" dirty="0">
                <a:solidFill>
                  <a:srgbClr val="6A6E77"/>
                </a:solidFill>
                <a:latin typeface="Calibri" pitchFamily="34" charset="0"/>
                <a:ea typeface="Calibri" pitchFamily="34" charset="-122"/>
                <a:cs typeface="Calibri" pitchFamily="34" charset="-120"/>
              </a:rPr>
              <a:t>PitchVision</a:t>
            </a:r>
            <a:endParaRPr lang="en-US" sz="950" dirty="0"/>
          </a:p>
        </p:txBody>
      </p:sp>
      <p:sp>
        <p:nvSpPr>
          <p:cNvPr id="5" name="Shape 2"/>
          <p:cNvSpPr/>
          <p:nvPr/>
        </p:nvSpPr>
        <p:spPr>
          <a:xfrm>
            <a:off x="566928" y="475488"/>
            <a:ext cx="457200" cy="54864"/>
          </a:xfrm>
          <a:prstGeom prst="rect">
            <a:avLst/>
          </a:prstGeom>
          <a:solidFill>
            <a:srgbClr val="D6412F"/>
          </a:solidFill>
          <a:ln/>
        </p:spPr>
      </p:sp>
      <p:sp>
        <p:nvSpPr>
          <p:cNvPr id="6" name="Text 3"/>
          <p:cNvSpPr txBox="1"/>
          <p:nvPr/>
        </p:nvSpPr>
        <p:spPr>
          <a:xfrm>
            <a:off x="566928" y="621792"/>
            <a:ext cx="8229600" cy="274320"/>
          </a:xfrm>
          <a:prstGeom prst="rect">
            <a:avLst/>
          </a:prstGeom>
          <a:noFill/>
          <a:ln/>
        </p:spPr>
        <p:txBody>
          <a:bodyPr wrap="square" lIns="0" tIns="0" rIns="0" bIns="0" rtlCol="0" anchor="ctr"/>
          <a:lstStyle/>
          <a:p>
            <a:pPr indent="0" marL="0">
              <a:buNone/>
            </a:pPr>
            <a:r>
              <a:rPr lang="en-US" sz="1150" b="1" spc="220" kern="0" dirty="0">
                <a:solidFill>
                  <a:srgbClr val="D6412F"/>
                </a:solidFill>
                <a:latin typeface="Calibri" pitchFamily="34" charset="0"/>
                <a:ea typeface="Calibri" pitchFamily="34" charset="-122"/>
                <a:cs typeface="Calibri" pitchFamily="34" charset="-120"/>
              </a:rPr>
              <a:t>LIVE DEMO</a:t>
            </a:r>
            <a:endParaRPr lang="en-US" sz="1150" dirty="0"/>
          </a:p>
        </p:txBody>
      </p:sp>
      <p:sp>
        <p:nvSpPr>
          <p:cNvPr id="7" name="Text 4"/>
          <p:cNvSpPr txBox="1"/>
          <p:nvPr/>
        </p:nvSpPr>
        <p:spPr>
          <a:xfrm>
            <a:off x="566928" y="932688"/>
            <a:ext cx="10607040" cy="868680"/>
          </a:xfrm>
          <a:prstGeom prst="rect">
            <a:avLst/>
          </a:prstGeom>
          <a:noFill/>
          <a:ln/>
        </p:spPr>
        <p:txBody>
          <a:bodyPr wrap="square" lIns="0" tIns="0" rIns="0" bIns="0" rtlCol="0" anchor="ctr"/>
          <a:lstStyle/>
          <a:p>
            <a:pPr indent="0" marL="0">
              <a:lnSpc>
                <a:spcPct val="95000"/>
              </a:lnSpc>
              <a:buNone/>
            </a:pPr>
            <a:r>
              <a:rPr lang="en-US" sz="3100" b="1" dirty="0">
                <a:solidFill>
                  <a:srgbClr val="15171C"/>
                </a:solidFill>
                <a:latin typeface="Trebuchet MS" pitchFamily="34" charset="0"/>
                <a:ea typeface="Trebuchet MS" pitchFamily="34" charset="-122"/>
                <a:cs typeface="Trebuchet MS" pitchFamily="34" charset="-120"/>
              </a:rPr>
              <a:t>A match the model has never seen → a searchable timeline.</a:t>
            </a:r>
            <a:endParaRPr lang="en-US" sz="3100" dirty="0"/>
          </a:p>
        </p:txBody>
      </p:sp>
      <p:sp>
        <p:nvSpPr>
          <p:cNvPr id="8" name="Shape 5"/>
          <p:cNvSpPr/>
          <p:nvPr/>
        </p:nvSpPr>
        <p:spPr>
          <a:xfrm>
            <a:off x="566928" y="1920240"/>
            <a:ext cx="11064240" cy="3108960"/>
          </a:xfrm>
          <a:prstGeom prst="roundRect">
            <a:avLst>
              <a:gd name="adj" fmla="val 1765"/>
            </a:avLst>
          </a:prstGeom>
          <a:solidFill>
            <a:srgbClr val="FFFFFF"/>
          </a:solidFill>
          <a:ln w="12700">
            <a:solidFill>
              <a:srgbClr val="DCD6CC"/>
            </a:solidFill>
            <a:prstDash val="solid"/>
          </a:ln>
          <a:effectLst>
            <a:outerShdw sx="100000" sy="100000" kx="0" ky="0" algn="bl" rotWithShape="0" blurRad="101600" dist="25400" dir="5400000">
              <a:srgbClr val="15171C">
                <a:alpha val="7000"/>
              </a:srgbClr>
            </a:outerShdw>
          </a:effectLst>
        </p:spPr>
      </p:sp>
      <p:sp>
        <p:nvSpPr>
          <p:cNvPr id="9" name="Shape 6"/>
          <p:cNvSpPr/>
          <p:nvPr/>
        </p:nvSpPr>
        <p:spPr>
          <a:xfrm>
            <a:off x="914400" y="2286000"/>
            <a:ext cx="777240" cy="777240"/>
          </a:xfrm>
          <a:prstGeom prst="roundRect">
            <a:avLst>
              <a:gd name="adj" fmla="val 5882"/>
            </a:avLst>
          </a:prstGeom>
          <a:solidFill>
            <a:srgbClr val="D6412F"/>
          </a:solidFill>
          <a:ln/>
        </p:spPr>
      </p:sp>
      <p:pic>
        <p:nvPicPr>
          <p:cNvPr id="10" name="Image 0" descr="/home/claude/final_deck/icons/play.png">    </p:cNvPr>
          <p:cNvPicPr>
            <a:picLocks noChangeAspect="1"/>
          </p:cNvPicPr>
          <p:nvPr/>
        </p:nvPicPr>
        <p:blipFill>
          <a:blip r:embed="rId1"/>
          <a:stretch>
            <a:fillRect/>
          </a:stretch>
        </p:blipFill>
        <p:spPr>
          <a:xfrm>
            <a:off x="1124255" y="2495855"/>
            <a:ext cx="357530" cy="357530"/>
          </a:xfrm>
          <a:prstGeom prst="rect">
            <a:avLst/>
          </a:prstGeom>
        </p:spPr>
      </p:pic>
      <p:sp>
        <p:nvSpPr>
          <p:cNvPr id="11" name="Text 7"/>
          <p:cNvSpPr txBox="1"/>
          <p:nvPr/>
        </p:nvSpPr>
        <p:spPr>
          <a:xfrm>
            <a:off x="1920240" y="2340864"/>
            <a:ext cx="5486400" cy="457200"/>
          </a:xfrm>
          <a:prstGeom prst="rect">
            <a:avLst/>
          </a:prstGeom>
          <a:noFill/>
          <a:ln/>
        </p:spPr>
        <p:txBody>
          <a:bodyPr wrap="square" lIns="0" tIns="0" rIns="0" bIns="0" rtlCol="0" anchor="ctr"/>
          <a:lstStyle/>
          <a:p>
            <a:pPr indent="0" marL="0">
              <a:buNone/>
            </a:pPr>
            <a:r>
              <a:rPr lang="en-US" sz="2200" b="1" dirty="0">
                <a:solidFill>
                  <a:srgbClr val="15171C"/>
                </a:solidFill>
                <a:latin typeface="Trebuchet MS" pitchFamily="34" charset="0"/>
                <a:ea typeface="Trebuchet MS" pitchFamily="34" charset="-122"/>
                <a:cs typeface="Trebuchet MS" pitchFamily="34" charset="-120"/>
              </a:rPr>
              <a:t>[ LIVE DEMO ]</a:t>
            </a:r>
            <a:endParaRPr lang="en-US" sz="2200" dirty="0"/>
          </a:p>
        </p:txBody>
      </p:sp>
      <p:sp>
        <p:nvSpPr>
          <p:cNvPr id="12" name="Text 8"/>
          <p:cNvSpPr txBox="1"/>
          <p:nvPr/>
        </p:nvSpPr>
        <p:spPr>
          <a:xfrm>
            <a:off x="1920240" y="2816352"/>
            <a:ext cx="8961120" cy="457200"/>
          </a:xfrm>
          <a:prstGeom prst="rect">
            <a:avLst/>
          </a:prstGeom>
          <a:noFill/>
          <a:ln/>
        </p:spPr>
        <p:txBody>
          <a:bodyPr wrap="square" lIns="0" tIns="0" rIns="0" bIns="0" rtlCol="0" anchor="t"/>
          <a:lstStyle/>
          <a:p>
            <a:pPr algn="l" indent="0" marL="0">
              <a:lnSpc>
                <a:spcPct val="118000"/>
              </a:lnSpc>
              <a:buNone/>
            </a:pPr>
            <a:r>
              <a:rPr lang="en-US" sz="1400" dirty="0">
                <a:solidFill>
                  <a:srgbClr val="6A6E77"/>
                </a:solidFill>
                <a:latin typeface="Calibri" pitchFamily="34" charset="0"/>
                <a:ea typeface="Calibri" pitchFamily="34" charset="-122"/>
                <a:cs typeface="Calibri" pitchFamily="34" charset="-120"/>
              </a:rPr>
              <a:t>A match it was never trained on → the model watches it → out comes a timestamped list of what it spotted.</a:t>
            </a:r>
            <a:endParaRPr lang="en-US" sz="1400" dirty="0"/>
          </a:p>
        </p:txBody>
      </p:sp>
      <p:sp>
        <p:nvSpPr>
          <p:cNvPr id="13" name="Shape 9"/>
          <p:cNvSpPr/>
          <p:nvPr/>
        </p:nvSpPr>
        <p:spPr>
          <a:xfrm>
            <a:off x="914400" y="3657600"/>
            <a:ext cx="384048" cy="384048"/>
          </a:xfrm>
          <a:prstGeom prst="ellipse">
            <a:avLst/>
          </a:prstGeom>
          <a:solidFill>
            <a:srgbClr val="0E6E6B"/>
          </a:solidFill>
          <a:ln/>
        </p:spPr>
      </p:sp>
      <p:sp>
        <p:nvSpPr>
          <p:cNvPr id="14" name="Text 10"/>
          <p:cNvSpPr txBox="1"/>
          <p:nvPr/>
        </p:nvSpPr>
        <p:spPr>
          <a:xfrm>
            <a:off x="914400" y="3657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1"/>
          <p:cNvSpPr txBox="1"/>
          <p:nvPr/>
        </p:nvSpPr>
        <p:spPr>
          <a:xfrm>
            <a:off x="1444752" y="3639312"/>
            <a:ext cx="2834640" cy="685800"/>
          </a:xfrm>
          <a:prstGeom prst="rect">
            <a:avLst/>
          </a:prstGeom>
          <a:noFill/>
          <a:ln/>
        </p:spPr>
        <p:txBody>
          <a:bodyPr wrap="square" lIns="0" tIns="0" rIns="0" bIns="0" rtlCol="0" anchor="ctr"/>
          <a:lstStyle/>
          <a:p>
            <a:pPr indent="0" marL="0">
              <a:lnSpc>
                <a:spcPct val="110000"/>
              </a:lnSpc>
              <a:buNone/>
            </a:pPr>
            <a:r>
              <a:rPr lang="en-US" sz="1250" dirty="0">
                <a:solidFill>
                  <a:srgbClr val="15171C"/>
                </a:solidFill>
                <a:latin typeface="Calibri" pitchFamily="34" charset="0"/>
                <a:ea typeface="Calibri" pitchFamily="34" charset="-122"/>
                <a:cs typeface="Calibri" pitchFamily="34" charset="-120"/>
              </a:rPr>
              <a:t>Pick a match it was never trained on</a:t>
            </a:r>
            <a:endParaRPr lang="en-US" sz="1250" dirty="0"/>
          </a:p>
        </p:txBody>
      </p:sp>
      <p:sp>
        <p:nvSpPr>
          <p:cNvPr id="16" name="Shape 12"/>
          <p:cNvSpPr/>
          <p:nvPr/>
        </p:nvSpPr>
        <p:spPr>
          <a:xfrm>
            <a:off x="4434840" y="3657600"/>
            <a:ext cx="384048" cy="384048"/>
          </a:xfrm>
          <a:prstGeom prst="ellipse">
            <a:avLst/>
          </a:prstGeom>
          <a:solidFill>
            <a:srgbClr val="0E6E6B"/>
          </a:solidFill>
          <a:ln/>
        </p:spPr>
      </p:sp>
      <p:sp>
        <p:nvSpPr>
          <p:cNvPr id="17" name="Text 13"/>
          <p:cNvSpPr txBox="1"/>
          <p:nvPr/>
        </p:nvSpPr>
        <p:spPr>
          <a:xfrm>
            <a:off x="4434840" y="3657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txBox="1"/>
          <p:nvPr/>
        </p:nvSpPr>
        <p:spPr>
          <a:xfrm>
            <a:off x="4965192" y="3639312"/>
            <a:ext cx="2834640" cy="685800"/>
          </a:xfrm>
          <a:prstGeom prst="rect">
            <a:avLst/>
          </a:prstGeom>
          <a:noFill/>
          <a:ln/>
        </p:spPr>
        <p:txBody>
          <a:bodyPr wrap="square" lIns="0" tIns="0" rIns="0" bIns="0" rtlCol="0" anchor="ctr"/>
          <a:lstStyle/>
          <a:p>
            <a:pPr indent="0" marL="0">
              <a:lnSpc>
                <a:spcPct val="110000"/>
              </a:lnSpc>
              <a:buNone/>
            </a:pPr>
            <a:r>
              <a:rPr lang="en-US" sz="1250" dirty="0">
                <a:solidFill>
                  <a:srgbClr val="15171C"/>
                </a:solidFill>
                <a:latin typeface="Calibri" pitchFamily="34" charset="0"/>
                <a:ea typeface="Calibri" pitchFamily="34" charset="-122"/>
                <a:cs typeface="Calibri" pitchFamily="34" charset="-120"/>
              </a:rPr>
              <a:t>Run it — the first ten minutes, while we talk</a:t>
            </a:r>
            <a:endParaRPr lang="en-US" sz="1250" dirty="0"/>
          </a:p>
        </p:txBody>
      </p:sp>
      <p:sp>
        <p:nvSpPr>
          <p:cNvPr id="19" name="Shape 15"/>
          <p:cNvSpPr/>
          <p:nvPr/>
        </p:nvSpPr>
        <p:spPr>
          <a:xfrm>
            <a:off x="7955280" y="3657600"/>
            <a:ext cx="384048" cy="384048"/>
          </a:xfrm>
          <a:prstGeom prst="ellipse">
            <a:avLst/>
          </a:prstGeom>
          <a:solidFill>
            <a:srgbClr val="0E6E6B"/>
          </a:solidFill>
          <a:ln/>
        </p:spPr>
      </p:sp>
      <p:sp>
        <p:nvSpPr>
          <p:cNvPr id="20" name="Text 16"/>
          <p:cNvSpPr txBox="1"/>
          <p:nvPr/>
        </p:nvSpPr>
        <p:spPr>
          <a:xfrm>
            <a:off x="7955280" y="3657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7"/>
          <p:cNvSpPr txBox="1"/>
          <p:nvPr/>
        </p:nvSpPr>
        <p:spPr>
          <a:xfrm>
            <a:off x="8485632" y="3639312"/>
            <a:ext cx="2834640" cy="685800"/>
          </a:xfrm>
          <a:prstGeom prst="rect">
            <a:avLst/>
          </a:prstGeom>
          <a:noFill/>
          <a:ln/>
        </p:spPr>
        <p:txBody>
          <a:bodyPr wrap="square" lIns="0" tIns="0" rIns="0" bIns="0" rtlCol="0" anchor="ctr"/>
          <a:lstStyle/>
          <a:p>
            <a:pPr indent="0" marL="0">
              <a:lnSpc>
                <a:spcPct val="110000"/>
              </a:lnSpc>
              <a:buNone/>
            </a:pPr>
            <a:r>
              <a:rPr lang="en-US" sz="1250" dirty="0">
                <a:solidFill>
                  <a:srgbClr val="15171C"/>
                </a:solidFill>
                <a:latin typeface="Calibri" pitchFamily="34" charset="0"/>
                <a:ea typeface="Calibri" pitchFamily="34" charset="-122"/>
                <a:cs typeface="Calibri" pitchFamily="34" charset="-120"/>
              </a:rPr>
              <a:t>Filter the timeline: “show me the crosses”</a:t>
            </a:r>
            <a:endParaRPr lang="en-US" sz="1250" dirty="0"/>
          </a:p>
        </p:txBody>
      </p:sp>
      <p:sp>
        <p:nvSpPr>
          <p:cNvPr id="22" name="Text 18"/>
          <p:cNvSpPr txBox="1"/>
          <p:nvPr/>
        </p:nvSpPr>
        <p:spPr>
          <a:xfrm>
            <a:off x="914400" y="4498848"/>
            <a:ext cx="9601200" cy="365760"/>
          </a:xfrm>
          <a:prstGeom prst="rect">
            <a:avLst/>
          </a:prstGeom>
          <a:noFill/>
          <a:ln/>
        </p:spPr>
        <p:txBody>
          <a:bodyPr wrap="square" lIns="0" tIns="0" rIns="0" bIns="0" rtlCol="0" anchor="t"/>
          <a:lstStyle/>
          <a:p>
            <a:pPr algn="l" indent="0" marL="0">
              <a:lnSpc>
                <a:spcPct val="118000"/>
              </a:lnSpc>
              <a:buNone/>
            </a:pPr>
            <a:r>
              <a:rPr lang="en-US" sz="1200" i="1" dirty="0">
                <a:solidFill>
                  <a:srgbClr val="6A6E77"/>
                </a:solidFill>
                <a:latin typeface="Calibri" pitchFamily="34" charset="0"/>
                <a:ea typeface="Calibri" pitchFamily="34" charset="-122"/>
                <a:cs typeface="Calibri" pitchFamily="34" charset="-120"/>
              </a:rPr>
              <a:t>The same model as the report — nothing tuned for this clip.</a:t>
            </a:r>
            <a:endParaRPr lang="en-US" sz="1200" dirty="0"/>
          </a:p>
        </p:txBody>
      </p:sp>
      <p:sp>
        <p:nvSpPr>
          <p:cNvPr id="23" name="Shape 19"/>
          <p:cNvSpPr/>
          <p:nvPr/>
        </p:nvSpPr>
        <p:spPr>
          <a:xfrm>
            <a:off x="566928" y="5230368"/>
            <a:ext cx="11064240" cy="868680"/>
          </a:xfrm>
          <a:prstGeom prst="roundRect">
            <a:avLst>
              <a:gd name="adj" fmla="val 6316"/>
            </a:avLst>
          </a:prstGeom>
          <a:solidFill>
            <a:srgbClr val="15171C"/>
          </a:solidFill>
          <a:ln/>
        </p:spPr>
      </p:sp>
      <p:sp>
        <p:nvSpPr>
          <p:cNvPr id="24" name="Text 20"/>
          <p:cNvSpPr txBox="1"/>
          <p:nvPr/>
        </p:nvSpPr>
        <p:spPr>
          <a:xfrm>
            <a:off x="914400" y="5230368"/>
            <a:ext cx="10424160" cy="868680"/>
          </a:xfrm>
          <a:prstGeom prst="rect">
            <a:avLst/>
          </a:prstGeom>
          <a:noFill/>
          <a:ln/>
        </p:spPr>
        <p:txBody>
          <a:bodyPr wrap="square" lIns="0" tIns="0" rIns="0" bIns="0"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What a coach gets back: not a 90-minute file, but a list they can jump around in.</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F"/>
        </a:solidFill>
      </p:bgPr>
    </p:bg>
    <p:spTree>
      <p:nvGrpSpPr>
        <p:cNvPr id="1" name=""/>
        <p:cNvGrpSpPr/>
        <p:nvPr/>
      </p:nvGrpSpPr>
      <p:grpSpPr>
        <a:xfrm>
          <a:off x="0" y="0"/>
          <a:ext cx="0" cy="0"/>
          <a:chOff x="0" y="0"/>
          <a:chExt cx="0" cy="0"/>
        </a:xfrm>
      </p:grpSpPr>
      <p:sp>
        <p:nvSpPr>
          <p:cNvPr id="2" name="Text 0"/>
          <p:cNvSpPr txBox="1"/>
          <p:nvPr/>
        </p:nvSpPr>
        <p:spPr>
          <a:xfrm>
            <a:off x="11414455" y="6446520"/>
            <a:ext cx="365760" cy="274320"/>
          </a:xfrm>
          <a:prstGeom prst="rect">
            <a:avLst/>
          </a:prstGeom>
          <a:noFill/>
          <a:ln/>
        </p:spPr>
        <p:txBody>
          <a:bodyPr wrap="square" lIns="0" tIns="0" rIns="0" bIns="0" rtlCol="0" anchor="ctr"/>
          <a:lstStyle/>
          <a:p>
            <a:pPr algn="r" indent="0" marL="0">
              <a:buNone/>
            </a:pPr>
            <a:r>
              <a:rPr lang="en-US" sz="950" dirty="0">
                <a:solidFill>
                  <a:srgbClr val="6A6E77"/>
                </a:solidFill>
                <a:latin typeface="Calibri" pitchFamily="34" charset="0"/>
                <a:ea typeface="Calibri" pitchFamily="34" charset="-122"/>
                <a:cs typeface="Calibri" pitchFamily="34" charset="-120"/>
              </a:rPr>
              <a:t>9</a:t>
            </a:r>
            <a:endParaRPr lang="en-US" sz="950" dirty="0"/>
          </a:p>
        </p:txBody>
      </p:sp>
      <p:sp>
        <p:nvSpPr>
          <p:cNvPr id="3" name="Text 1"/>
          <p:cNvSpPr txBox="1"/>
          <p:nvPr/>
        </p:nvSpPr>
        <p:spPr>
          <a:xfrm>
            <a:off x="566928" y="6446520"/>
            <a:ext cx="2743200" cy="274320"/>
          </a:xfrm>
          <a:prstGeom prst="rect">
            <a:avLst/>
          </a:prstGeom>
          <a:noFill/>
          <a:ln/>
        </p:spPr>
        <p:txBody>
          <a:bodyPr wrap="square" lIns="0" tIns="0" rIns="0" bIns="0" rtlCol="0" anchor="ctr"/>
          <a:lstStyle/>
          <a:p>
            <a:pPr indent="0" marL="0">
              <a:buNone/>
            </a:pPr>
            <a:r>
              <a:rPr lang="en-US" sz="950" dirty="0">
                <a:solidFill>
                  <a:srgbClr val="6A6E77"/>
                </a:solidFill>
                <a:latin typeface="Calibri" pitchFamily="34" charset="0"/>
                <a:ea typeface="Calibri" pitchFamily="34" charset="-122"/>
                <a:cs typeface="Calibri" pitchFamily="34" charset="-120"/>
              </a:rPr>
              <a:t>PitchVision</a:t>
            </a:r>
            <a:endParaRPr lang="en-US" sz="950" dirty="0"/>
          </a:p>
        </p:txBody>
      </p:sp>
      <p:sp>
        <p:nvSpPr>
          <p:cNvPr id="5" name="Shape 2"/>
          <p:cNvSpPr/>
          <p:nvPr/>
        </p:nvSpPr>
        <p:spPr>
          <a:xfrm>
            <a:off x="566928" y="475488"/>
            <a:ext cx="457200" cy="54864"/>
          </a:xfrm>
          <a:prstGeom prst="rect">
            <a:avLst/>
          </a:prstGeom>
          <a:solidFill>
            <a:srgbClr val="D6412F"/>
          </a:solidFill>
          <a:ln/>
        </p:spPr>
      </p:sp>
      <p:sp>
        <p:nvSpPr>
          <p:cNvPr id="6" name="Text 3"/>
          <p:cNvSpPr txBox="1"/>
          <p:nvPr/>
        </p:nvSpPr>
        <p:spPr>
          <a:xfrm>
            <a:off x="566928" y="621792"/>
            <a:ext cx="8229600" cy="274320"/>
          </a:xfrm>
          <a:prstGeom prst="rect">
            <a:avLst/>
          </a:prstGeom>
          <a:noFill/>
          <a:ln/>
        </p:spPr>
        <p:txBody>
          <a:bodyPr wrap="square" lIns="0" tIns="0" rIns="0" bIns="0" rtlCol="0" anchor="ctr"/>
          <a:lstStyle/>
          <a:p>
            <a:pPr indent="0" marL="0">
              <a:buNone/>
            </a:pPr>
            <a:r>
              <a:rPr lang="en-US" sz="1150" b="1" spc="220" kern="0" dirty="0">
                <a:solidFill>
                  <a:srgbClr val="D6412F"/>
                </a:solidFill>
                <a:latin typeface="Calibri" pitchFamily="34" charset="0"/>
                <a:ea typeface="Calibri" pitchFamily="34" charset="-122"/>
                <a:cs typeface="Calibri" pitchFamily="34" charset="-120"/>
              </a:rPr>
              <a:t>WHERE THIS GOES</a:t>
            </a:r>
            <a:endParaRPr lang="en-US" sz="1150" dirty="0"/>
          </a:p>
        </p:txBody>
      </p:sp>
      <p:sp>
        <p:nvSpPr>
          <p:cNvPr id="7" name="Text 4"/>
          <p:cNvSpPr txBox="1"/>
          <p:nvPr/>
        </p:nvSpPr>
        <p:spPr>
          <a:xfrm>
            <a:off x="566928" y="932688"/>
            <a:ext cx="10607040" cy="868680"/>
          </a:xfrm>
          <a:prstGeom prst="rect">
            <a:avLst/>
          </a:prstGeom>
          <a:noFill/>
          <a:ln/>
        </p:spPr>
        <p:txBody>
          <a:bodyPr wrap="square" lIns="0" tIns="0" rIns="0" bIns="0" rtlCol="0" anchor="ctr"/>
          <a:lstStyle/>
          <a:p>
            <a:pPr indent="0" marL="0">
              <a:lnSpc>
                <a:spcPct val="95000"/>
              </a:lnSpc>
              <a:buNone/>
            </a:pPr>
            <a:r>
              <a:rPr lang="en-US" sz="3100" b="1" dirty="0">
                <a:solidFill>
                  <a:srgbClr val="15171C"/>
                </a:solidFill>
                <a:latin typeface="Trebuchet MS" pitchFamily="34" charset="0"/>
                <a:ea typeface="Trebuchet MS" pitchFamily="34" charset="-122"/>
                <a:cs typeface="Trebuchet MS" pitchFamily="34" charset="-120"/>
              </a:rPr>
              <a:t>One upload. Two audiences who get nothing today.</a:t>
            </a:r>
            <a:endParaRPr lang="en-US" sz="3100" dirty="0"/>
          </a:p>
        </p:txBody>
      </p:sp>
      <p:sp>
        <p:nvSpPr>
          <p:cNvPr id="8" name="Shape 5"/>
          <p:cNvSpPr/>
          <p:nvPr/>
        </p:nvSpPr>
        <p:spPr>
          <a:xfrm>
            <a:off x="566928" y="1920240"/>
            <a:ext cx="5394960" cy="1783080"/>
          </a:xfrm>
          <a:prstGeom prst="roundRect">
            <a:avLst>
              <a:gd name="adj" fmla="val 3077"/>
            </a:avLst>
          </a:prstGeom>
          <a:solidFill>
            <a:srgbClr val="FFFFFF"/>
          </a:solidFill>
          <a:ln w="12700">
            <a:solidFill>
              <a:srgbClr val="DCD6CC"/>
            </a:solidFill>
            <a:prstDash val="solid"/>
          </a:ln>
          <a:effectLst>
            <a:outerShdw sx="100000" sy="100000" kx="0" ky="0" algn="bl" rotWithShape="0" blurRad="101600" dist="25400" dir="5400000">
              <a:srgbClr val="15171C">
                <a:alpha val="7000"/>
              </a:srgbClr>
            </a:outerShdw>
          </a:effectLst>
        </p:spPr>
      </p:sp>
      <p:sp>
        <p:nvSpPr>
          <p:cNvPr id="9" name="Shape 6"/>
          <p:cNvSpPr/>
          <p:nvPr/>
        </p:nvSpPr>
        <p:spPr>
          <a:xfrm>
            <a:off x="841248" y="2176272"/>
            <a:ext cx="530352" cy="530352"/>
          </a:xfrm>
          <a:prstGeom prst="roundRect">
            <a:avLst>
              <a:gd name="adj" fmla="val 8621"/>
            </a:avLst>
          </a:prstGeom>
          <a:solidFill>
            <a:srgbClr val="0E6E6B"/>
          </a:solidFill>
          <a:ln/>
        </p:spPr>
      </p:sp>
      <p:pic>
        <p:nvPicPr>
          <p:cNvPr id="10" name="Image 0" descr="/home/claude/final_deck/icons/whistle.png">    </p:cNvPr>
          <p:cNvPicPr>
            <a:picLocks noChangeAspect="1"/>
          </p:cNvPicPr>
          <p:nvPr/>
        </p:nvPicPr>
        <p:blipFill>
          <a:blip r:embed="rId1"/>
          <a:stretch>
            <a:fillRect/>
          </a:stretch>
        </p:blipFill>
        <p:spPr>
          <a:xfrm>
            <a:off x="984443" y="2319467"/>
            <a:ext cx="243962" cy="243962"/>
          </a:xfrm>
          <a:prstGeom prst="rect">
            <a:avLst/>
          </a:prstGeom>
        </p:spPr>
      </p:pic>
      <p:sp>
        <p:nvSpPr>
          <p:cNvPr id="11" name="Text 7"/>
          <p:cNvSpPr txBox="1"/>
          <p:nvPr/>
        </p:nvSpPr>
        <p:spPr>
          <a:xfrm>
            <a:off x="1499616" y="2212848"/>
            <a:ext cx="4206240" cy="384048"/>
          </a:xfrm>
          <a:prstGeom prst="rect">
            <a:avLst/>
          </a:prstGeom>
          <a:noFill/>
          <a:ln/>
        </p:spPr>
        <p:txBody>
          <a:bodyPr wrap="square" lIns="0" tIns="0" rIns="0" bIns="0" rtlCol="0" anchor="ctr"/>
          <a:lstStyle/>
          <a:p>
            <a:pPr indent="0" marL="0">
              <a:buNone/>
            </a:pPr>
            <a:r>
              <a:rPr lang="en-US" sz="1600" b="1" dirty="0">
                <a:solidFill>
                  <a:srgbClr val="15171C"/>
                </a:solidFill>
                <a:latin typeface="Trebuchet MS" pitchFamily="34" charset="0"/>
                <a:ea typeface="Trebuchet MS" pitchFamily="34" charset="-122"/>
                <a:cs typeface="Trebuchet MS" pitchFamily="34" charset="-120"/>
              </a:rPr>
              <a:t>Coaches &amp; analysts</a:t>
            </a:r>
            <a:endParaRPr lang="en-US" sz="1600" dirty="0"/>
          </a:p>
        </p:txBody>
      </p:sp>
      <p:sp>
        <p:nvSpPr>
          <p:cNvPr id="12" name="Text 8"/>
          <p:cNvSpPr txBox="1"/>
          <p:nvPr/>
        </p:nvSpPr>
        <p:spPr>
          <a:xfrm>
            <a:off x="841248" y="2816352"/>
            <a:ext cx="4846320" cy="777240"/>
          </a:xfrm>
          <a:prstGeom prst="rect">
            <a:avLst/>
          </a:prstGeom>
          <a:noFill/>
          <a:ln/>
        </p:spPr>
        <p:txBody>
          <a:bodyPr wrap="square" lIns="0" tIns="0" rIns="0" bIns="0" rtlCol="0" anchor="t"/>
          <a:lstStyle/>
          <a:p>
            <a:pPr algn="l" indent="0" marL="0">
              <a:lnSpc>
                <a:spcPct val="118000"/>
              </a:lnSpc>
              <a:buNone/>
            </a:pPr>
            <a:r>
              <a:rPr lang="en-US" sz="1250" dirty="0">
                <a:solidFill>
                  <a:srgbClr val="6A6E77"/>
                </a:solidFill>
                <a:latin typeface="Calibri" pitchFamily="34" charset="0"/>
                <a:ea typeface="Calibri" pitchFamily="34" charset="-122"/>
                <a:cs typeface="Calibri" pitchFamily="34" charset="-120"/>
              </a:rPr>
              <a:t>A searchable match timeline and simple stats, without rewatching ninety minutes to find three moments.</a:t>
            </a:r>
            <a:endParaRPr lang="en-US" sz="1250" dirty="0"/>
          </a:p>
        </p:txBody>
      </p:sp>
      <p:sp>
        <p:nvSpPr>
          <p:cNvPr id="13" name="Shape 9"/>
          <p:cNvSpPr/>
          <p:nvPr/>
        </p:nvSpPr>
        <p:spPr>
          <a:xfrm>
            <a:off x="6236208" y="1920240"/>
            <a:ext cx="5394960" cy="1783080"/>
          </a:xfrm>
          <a:prstGeom prst="roundRect">
            <a:avLst>
              <a:gd name="adj" fmla="val 3077"/>
            </a:avLst>
          </a:prstGeom>
          <a:solidFill>
            <a:srgbClr val="FFFFFF"/>
          </a:solidFill>
          <a:ln w="12700">
            <a:solidFill>
              <a:srgbClr val="DCD6CC"/>
            </a:solidFill>
            <a:prstDash val="solid"/>
          </a:ln>
          <a:effectLst>
            <a:outerShdw sx="100000" sy="100000" kx="0" ky="0" algn="bl" rotWithShape="0" blurRad="101600" dist="25400" dir="5400000">
              <a:srgbClr val="15171C">
                <a:alpha val="7000"/>
              </a:srgbClr>
            </a:outerShdw>
          </a:effectLst>
        </p:spPr>
      </p:sp>
      <p:sp>
        <p:nvSpPr>
          <p:cNvPr id="14" name="Shape 10"/>
          <p:cNvSpPr/>
          <p:nvPr/>
        </p:nvSpPr>
        <p:spPr>
          <a:xfrm>
            <a:off x="6510528" y="2176272"/>
            <a:ext cx="530352" cy="530352"/>
          </a:xfrm>
          <a:prstGeom prst="roundRect">
            <a:avLst>
              <a:gd name="adj" fmla="val 8621"/>
            </a:avLst>
          </a:prstGeom>
          <a:solidFill>
            <a:srgbClr val="D6412F"/>
          </a:solidFill>
          <a:ln/>
        </p:spPr>
      </p:sp>
      <p:pic>
        <p:nvPicPr>
          <p:cNvPr id="15" name="Image 1" descr="/home/claude/final_deck/icons/users2.png">    </p:cNvPr>
          <p:cNvPicPr>
            <a:picLocks noChangeAspect="1"/>
          </p:cNvPicPr>
          <p:nvPr/>
        </p:nvPicPr>
        <p:blipFill>
          <a:blip r:embed="rId2"/>
          <a:stretch>
            <a:fillRect/>
          </a:stretch>
        </p:blipFill>
        <p:spPr>
          <a:xfrm>
            <a:off x="6653723" y="2319467"/>
            <a:ext cx="243962" cy="243962"/>
          </a:xfrm>
          <a:prstGeom prst="rect">
            <a:avLst/>
          </a:prstGeom>
        </p:spPr>
      </p:pic>
      <p:sp>
        <p:nvSpPr>
          <p:cNvPr id="16" name="Text 11"/>
          <p:cNvSpPr txBox="1"/>
          <p:nvPr/>
        </p:nvSpPr>
        <p:spPr>
          <a:xfrm>
            <a:off x="7168896" y="2212848"/>
            <a:ext cx="4206240" cy="384048"/>
          </a:xfrm>
          <a:prstGeom prst="rect">
            <a:avLst/>
          </a:prstGeom>
          <a:noFill/>
          <a:ln/>
        </p:spPr>
        <p:txBody>
          <a:bodyPr wrap="square" lIns="0" tIns="0" rIns="0" bIns="0" rtlCol="0" anchor="ctr"/>
          <a:lstStyle/>
          <a:p>
            <a:pPr indent="0" marL="0">
              <a:buNone/>
            </a:pPr>
            <a:r>
              <a:rPr lang="en-US" sz="1600" b="1" dirty="0">
                <a:solidFill>
                  <a:srgbClr val="15171C"/>
                </a:solidFill>
                <a:latin typeface="Trebuchet MS" pitchFamily="34" charset="0"/>
                <a:ea typeface="Trebuchet MS" pitchFamily="34" charset="-122"/>
                <a:cs typeface="Trebuchet MS" pitchFamily="34" charset="-120"/>
              </a:rPr>
              <a:t>Players, parents &amp; fans</a:t>
            </a:r>
            <a:endParaRPr lang="en-US" sz="1600" dirty="0"/>
          </a:p>
        </p:txBody>
      </p:sp>
      <p:sp>
        <p:nvSpPr>
          <p:cNvPr id="17" name="Text 12"/>
          <p:cNvSpPr txBox="1"/>
          <p:nvPr/>
        </p:nvSpPr>
        <p:spPr>
          <a:xfrm>
            <a:off x="6510528" y="2816352"/>
            <a:ext cx="4846320" cy="777240"/>
          </a:xfrm>
          <a:prstGeom prst="rect">
            <a:avLst/>
          </a:prstGeom>
          <a:noFill/>
          <a:ln/>
        </p:spPr>
        <p:txBody>
          <a:bodyPr wrap="square" lIns="0" tIns="0" rIns="0" bIns="0" rtlCol="0" anchor="t"/>
          <a:lstStyle/>
          <a:p>
            <a:pPr algn="l" indent="0" marL="0">
              <a:lnSpc>
                <a:spcPct val="118000"/>
              </a:lnSpc>
              <a:buNone/>
            </a:pPr>
            <a:r>
              <a:rPr lang="en-US" sz="1250" dirty="0">
                <a:solidFill>
                  <a:srgbClr val="6A6E77"/>
                </a:solidFill>
                <a:latin typeface="Calibri" pitchFamily="34" charset="0"/>
                <a:ea typeface="Calibri" pitchFamily="34" charset="-122"/>
                <a:cs typeface="Calibri" pitchFamily="34" charset="-120"/>
              </a:rPr>
              <a:t>An automatic highlight reel and a shareable match card — the thing everybody actually wants on Sunday morning.</a:t>
            </a:r>
            <a:endParaRPr lang="en-US" sz="1250" dirty="0"/>
          </a:p>
        </p:txBody>
      </p:sp>
      <p:sp>
        <p:nvSpPr>
          <p:cNvPr id="18" name="Shape 13"/>
          <p:cNvSpPr/>
          <p:nvPr/>
        </p:nvSpPr>
        <p:spPr>
          <a:xfrm>
            <a:off x="566928" y="3931920"/>
            <a:ext cx="11064240" cy="731520"/>
          </a:xfrm>
          <a:prstGeom prst="roundRect">
            <a:avLst>
              <a:gd name="adj" fmla="val 7500"/>
            </a:avLst>
          </a:prstGeom>
          <a:solidFill>
            <a:srgbClr val="EFE9E0"/>
          </a:solidFill>
          <a:ln/>
        </p:spPr>
      </p:sp>
      <p:sp>
        <p:nvSpPr>
          <p:cNvPr id="19" name="Text 14"/>
          <p:cNvSpPr txBox="1"/>
          <p:nvPr/>
        </p:nvSpPr>
        <p:spPr>
          <a:xfrm>
            <a:off x="868680" y="3931920"/>
            <a:ext cx="10515600" cy="731520"/>
          </a:xfrm>
          <a:prstGeom prst="rect">
            <a:avLst/>
          </a:prstGeom>
          <a:noFill/>
          <a:ln/>
        </p:spPr>
        <p:txBody>
          <a:bodyPr wrap="square" lIns="0" tIns="0" rIns="0" bIns="0" rtlCol="0" anchor="ctr"/>
          <a:lstStyle/>
          <a:p>
            <a:pPr indent="0" marL="0">
              <a:buNone/>
            </a:pPr>
            <a:r>
              <a:rPr lang="en-US" sz="1300" b="1" dirty="0">
                <a:solidFill>
                  <a:srgbClr val="D6412F"/>
                </a:solidFill>
                <a:latin typeface="Calibri" pitchFamily="34" charset="0"/>
                <a:ea typeface="Calibri" pitchFamily="34" charset="-122"/>
                <a:cs typeface="Calibri" pitchFamily="34" charset="-120"/>
              </a:rPr>
              <a:t>Why fans matter:  </a:t>
            </a:r>
            <a:pPr indent="0" marL="0">
              <a:buNone/>
            </a:pPr>
            <a:r>
              <a:rPr lang="en-US" sz="1300" dirty="0">
                <a:solidFill>
                  <a:srgbClr val="15171C"/>
                </a:solidFill>
                <a:latin typeface="Calibri" pitchFamily="34" charset="0"/>
                <a:ea typeface="Calibri" pitchFamily="34" charset="-122"/>
                <a:cs typeface="Calibri" pitchFamily="34" charset="-120"/>
              </a:rPr>
              <a:t>clubs already have tools, even expensive ones. Fans have nothing — and every clip they share brings the next club to us.</a:t>
            </a:r>
            <a:endParaRPr lang="en-US" sz="1300" dirty="0"/>
          </a:p>
        </p:txBody>
      </p:sp>
      <p:sp>
        <p:nvSpPr>
          <p:cNvPr id="20" name="Text 15"/>
          <p:cNvSpPr txBox="1"/>
          <p:nvPr/>
        </p:nvSpPr>
        <p:spPr>
          <a:xfrm>
            <a:off x="566928" y="4864608"/>
            <a:ext cx="2743200" cy="320040"/>
          </a:xfrm>
          <a:prstGeom prst="rect">
            <a:avLst/>
          </a:prstGeom>
          <a:noFill/>
          <a:ln/>
        </p:spPr>
        <p:txBody>
          <a:bodyPr wrap="square" lIns="0" tIns="0" rIns="0" bIns="0" rtlCol="0" anchor="ctr"/>
          <a:lstStyle/>
          <a:p>
            <a:pPr indent="0" marL="0">
              <a:buNone/>
            </a:pPr>
            <a:r>
              <a:rPr lang="en-US" sz="1500" b="1" dirty="0">
                <a:solidFill>
                  <a:srgbClr val="15171C"/>
                </a:solidFill>
                <a:latin typeface="Trebuchet MS" pitchFamily="34" charset="0"/>
                <a:ea typeface="Trebuchet MS" pitchFamily="34" charset="-122"/>
                <a:cs typeface="Trebuchet MS" pitchFamily="34" charset="-120"/>
              </a:rPr>
              <a:t>Next</a:t>
            </a:r>
            <a:endParaRPr lang="en-US" sz="1500" dirty="0"/>
          </a:p>
        </p:txBody>
      </p:sp>
      <p:sp>
        <p:nvSpPr>
          <p:cNvPr id="21" name="Shape 16"/>
          <p:cNvSpPr/>
          <p:nvPr/>
        </p:nvSpPr>
        <p:spPr>
          <a:xfrm>
            <a:off x="566928" y="5285232"/>
            <a:ext cx="3383280" cy="41148"/>
          </a:xfrm>
          <a:prstGeom prst="rect">
            <a:avLst/>
          </a:prstGeom>
          <a:solidFill>
            <a:srgbClr val="D6412F"/>
          </a:solidFill>
          <a:ln/>
        </p:spPr>
      </p:sp>
      <p:sp>
        <p:nvSpPr>
          <p:cNvPr id="22" name="Text 17"/>
          <p:cNvSpPr txBox="1"/>
          <p:nvPr/>
        </p:nvSpPr>
        <p:spPr>
          <a:xfrm>
            <a:off x="566928" y="5394960"/>
            <a:ext cx="3383280" cy="292608"/>
          </a:xfrm>
          <a:prstGeom prst="rect">
            <a:avLst/>
          </a:prstGeom>
          <a:noFill/>
          <a:ln/>
        </p:spPr>
        <p:txBody>
          <a:bodyPr wrap="square" lIns="0" tIns="0" rIns="0" bIns="0" rtlCol="0" anchor="ctr"/>
          <a:lstStyle/>
          <a:p>
            <a:pPr indent="0" marL="0">
              <a:buNone/>
            </a:pPr>
            <a:r>
              <a:rPr lang="en-US" sz="1250" b="1" dirty="0">
                <a:solidFill>
                  <a:srgbClr val="15171C"/>
                </a:solidFill>
                <a:latin typeface="Calibri" pitchFamily="34" charset="0"/>
                <a:ea typeface="Calibri" pitchFamily="34" charset="-122"/>
                <a:cs typeface="Calibri" pitchFamily="34" charset="-120"/>
              </a:rPr>
              <a:t>Try even shorter windows</a:t>
            </a:r>
            <a:endParaRPr lang="en-US" sz="1250" dirty="0"/>
          </a:p>
        </p:txBody>
      </p:sp>
      <p:sp>
        <p:nvSpPr>
          <p:cNvPr id="23" name="Text 18"/>
          <p:cNvSpPr txBox="1"/>
          <p:nvPr/>
        </p:nvSpPr>
        <p:spPr>
          <a:xfrm>
            <a:off x="566928" y="5705856"/>
            <a:ext cx="3383280" cy="548640"/>
          </a:xfrm>
          <a:prstGeom prst="rect">
            <a:avLst/>
          </a:prstGeom>
          <a:noFill/>
          <a:ln/>
        </p:spPr>
        <p:txBody>
          <a:bodyPr wrap="square" lIns="0" tIns="0" rIns="0" bIns="0" rtlCol="0" anchor="t"/>
          <a:lstStyle/>
          <a:p>
            <a:pPr algn="l" indent="0" marL="0">
              <a:lnSpc>
                <a:spcPct val="118000"/>
              </a:lnSpc>
              <a:buNone/>
            </a:pPr>
            <a:r>
              <a:rPr lang="en-US" sz="1150" dirty="0">
                <a:solidFill>
                  <a:srgbClr val="6A6E77"/>
                </a:solidFill>
                <a:latin typeface="Calibri" pitchFamily="34" charset="0"/>
                <a:ea typeface="Calibri" pitchFamily="34" charset="-122"/>
                <a:cs typeface="Calibri" pitchFamily="34" charset="-120"/>
              </a:rPr>
              <a:t>the trend says under 7 seconds may be better still</a:t>
            </a:r>
            <a:endParaRPr lang="en-US" sz="1150" dirty="0"/>
          </a:p>
        </p:txBody>
      </p:sp>
      <p:sp>
        <p:nvSpPr>
          <p:cNvPr id="24" name="Shape 19"/>
          <p:cNvSpPr/>
          <p:nvPr/>
        </p:nvSpPr>
        <p:spPr>
          <a:xfrm>
            <a:off x="4279392" y="5285232"/>
            <a:ext cx="3383280" cy="41148"/>
          </a:xfrm>
          <a:prstGeom prst="rect">
            <a:avLst/>
          </a:prstGeom>
          <a:solidFill>
            <a:srgbClr val="D6412F"/>
          </a:solidFill>
          <a:ln/>
        </p:spPr>
      </p:sp>
      <p:sp>
        <p:nvSpPr>
          <p:cNvPr id="25" name="Text 20"/>
          <p:cNvSpPr txBox="1"/>
          <p:nvPr/>
        </p:nvSpPr>
        <p:spPr>
          <a:xfrm>
            <a:off x="4279392" y="5394960"/>
            <a:ext cx="3383280" cy="292608"/>
          </a:xfrm>
          <a:prstGeom prst="rect">
            <a:avLst/>
          </a:prstGeom>
          <a:noFill/>
          <a:ln/>
        </p:spPr>
        <p:txBody>
          <a:bodyPr wrap="square" lIns="0" tIns="0" rIns="0" bIns="0" rtlCol="0" anchor="ctr"/>
          <a:lstStyle/>
          <a:p>
            <a:pPr indent="0" marL="0">
              <a:buNone/>
            </a:pPr>
            <a:r>
              <a:rPr lang="en-US" sz="1250" b="1" dirty="0">
                <a:solidFill>
                  <a:srgbClr val="15171C"/>
                </a:solidFill>
                <a:latin typeface="Calibri" pitchFamily="34" charset="0"/>
                <a:ea typeface="Calibri" pitchFamily="34" charset="-122"/>
                <a:cs typeface="Calibri" pitchFamily="34" charset="-120"/>
              </a:rPr>
              <a:t>More matches, more leagues</a:t>
            </a:r>
            <a:endParaRPr lang="en-US" sz="1250" dirty="0"/>
          </a:p>
        </p:txBody>
      </p:sp>
      <p:sp>
        <p:nvSpPr>
          <p:cNvPr id="26" name="Text 21"/>
          <p:cNvSpPr txBox="1"/>
          <p:nvPr/>
        </p:nvSpPr>
        <p:spPr>
          <a:xfrm>
            <a:off x="4279392" y="5705856"/>
            <a:ext cx="3383280" cy="548640"/>
          </a:xfrm>
          <a:prstGeom prst="rect">
            <a:avLst/>
          </a:prstGeom>
          <a:noFill/>
          <a:ln/>
        </p:spPr>
        <p:txBody>
          <a:bodyPr wrap="square" lIns="0" tIns="0" rIns="0" bIns="0" rtlCol="0" anchor="t"/>
          <a:lstStyle/>
          <a:p>
            <a:pPr algn="l" indent="0" marL="0">
              <a:lnSpc>
                <a:spcPct val="118000"/>
              </a:lnSpc>
              <a:buNone/>
            </a:pPr>
            <a:r>
              <a:rPr lang="en-US" sz="1150" dirty="0">
                <a:solidFill>
                  <a:srgbClr val="6A6E77"/>
                </a:solidFill>
                <a:latin typeface="Calibri" pitchFamily="34" charset="0"/>
                <a:ea typeface="Calibri" pitchFamily="34" charset="-122"/>
                <a:cs typeface="Calibri" pitchFamily="34" charset="-120"/>
              </a:rPr>
              <a:t>to settle the questions our three matches could not</a:t>
            </a:r>
            <a:endParaRPr lang="en-US" sz="1150" dirty="0"/>
          </a:p>
        </p:txBody>
      </p:sp>
      <p:sp>
        <p:nvSpPr>
          <p:cNvPr id="27" name="Shape 22"/>
          <p:cNvSpPr/>
          <p:nvPr/>
        </p:nvSpPr>
        <p:spPr>
          <a:xfrm>
            <a:off x="7991856" y="5285232"/>
            <a:ext cx="3383280" cy="41148"/>
          </a:xfrm>
          <a:prstGeom prst="rect">
            <a:avLst/>
          </a:prstGeom>
          <a:solidFill>
            <a:srgbClr val="D6412F"/>
          </a:solidFill>
          <a:ln/>
        </p:spPr>
      </p:sp>
      <p:sp>
        <p:nvSpPr>
          <p:cNvPr id="28" name="Text 23"/>
          <p:cNvSpPr txBox="1"/>
          <p:nvPr/>
        </p:nvSpPr>
        <p:spPr>
          <a:xfrm>
            <a:off x="7991856" y="5394960"/>
            <a:ext cx="3383280" cy="292608"/>
          </a:xfrm>
          <a:prstGeom prst="rect">
            <a:avLst/>
          </a:prstGeom>
          <a:noFill/>
          <a:ln/>
        </p:spPr>
        <p:txBody>
          <a:bodyPr wrap="square" lIns="0" tIns="0" rIns="0" bIns="0" rtlCol="0" anchor="ctr"/>
          <a:lstStyle/>
          <a:p>
            <a:pPr indent="0" marL="0">
              <a:buNone/>
            </a:pPr>
            <a:r>
              <a:rPr lang="en-US" sz="1250" b="1" dirty="0">
                <a:solidFill>
                  <a:srgbClr val="15171C"/>
                </a:solidFill>
                <a:latin typeface="Calibri" pitchFamily="34" charset="0"/>
                <a:ea typeface="Calibri" pitchFamily="34" charset="-122"/>
                <a:cs typeface="Calibri" pitchFamily="34" charset="-120"/>
              </a:rPr>
              <a:t>Real single-camera footage</a:t>
            </a:r>
            <a:endParaRPr lang="en-US" sz="1250" dirty="0"/>
          </a:p>
        </p:txBody>
      </p:sp>
      <p:sp>
        <p:nvSpPr>
          <p:cNvPr id="29" name="Text 24"/>
          <p:cNvSpPr txBox="1"/>
          <p:nvPr/>
        </p:nvSpPr>
        <p:spPr>
          <a:xfrm>
            <a:off x="7991856" y="5705856"/>
            <a:ext cx="3383280" cy="548640"/>
          </a:xfrm>
          <a:prstGeom prst="rect">
            <a:avLst/>
          </a:prstGeom>
          <a:noFill/>
          <a:ln/>
        </p:spPr>
        <p:txBody>
          <a:bodyPr wrap="square" lIns="0" tIns="0" rIns="0" bIns="0" rtlCol="0" anchor="t"/>
          <a:lstStyle/>
          <a:p>
            <a:pPr algn="l" indent="0" marL="0">
              <a:lnSpc>
                <a:spcPct val="118000"/>
              </a:lnSpc>
              <a:buNone/>
            </a:pPr>
            <a:r>
              <a:rPr lang="en-US" sz="1150" dirty="0">
                <a:solidFill>
                  <a:srgbClr val="6A6E77"/>
                </a:solidFill>
                <a:latin typeface="Calibri" pitchFamily="34" charset="0"/>
                <a:ea typeface="Calibri" pitchFamily="34" charset="-122"/>
                <a:cs typeface="Calibri" pitchFamily="34" charset="-120"/>
              </a:rPr>
              <a:t>our data is broadcast TV; a phone on a tripod is the goal</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171C"/>
        </a:solidFill>
      </p:bgPr>
    </p:bg>
    <p:spTree>
      <p:nvGrpSpPr>
        <p:cNvPr id="1" name=""/>
        <p:cNvGrpSpPr/>
        <p:nvPr/>
      </p:nvGrpSpPr>
      <p:grpSpPr>
        <a:xfrm>
          <a:off x="0" y="0"/>
          <a:ext cx="0" cy="0"/>
          <a:chOff x="0" y="0"/>
          <a:chExt cx="0" cy="0"/>
        </a:xfrm>
      </p:grpSpPr>
      <p:sp>
        <p:nvSpPr>
          <p:cNvPr id="2" name="Text 0"/>
          <p:cNvSpPr txBox="1"/>
          <p:nvPr/>
        </p:nvSpPr>
        <p:spPr>
          <a:xfrm>
            <a:off x="11414455" y="6446520"/>
            <a:ext cx="365760" cy="274320"/>
          </a:xfrm>
          <a:prstGeom prst="rect">
            <a:avLst/>
          </a:prstGeom>
          <a:noFill/>
          <a:ln/>
        </p:spPr>
        <p:txBody>
          <a:bodyPr wrap="square" lIns="0" tIns="0" rIns="0" bIns="0" rtlCol="0" anchor="ctr"/>
          <a:lstStyle/>
          <a:p>
            <a:pPr algn="r" indent="0" marL="0">
              <a:buNone/>
            </a:pPr>
            <a:r>
              <a:rPr lang="en-US" sz="950" dirty="0">
                <a:solidFill>
                  <a:srgbClr val="6A6E77"/>
                </a:solidFill>
                <a:latin typeface="Calibri" pitchFamily="34" charset="0"/>
                <a:ea typeface="Calibri" pitchFamily="34" charset="-122"/>
                <a:cs typeface="Calibri" pitchFamily="34" charset="-120"/>
              </a:rPr>
              <a:t>10</a:t>
            </a:r>
            <a:endParaRPr lang="en-US" sz="950" dirty="0"/>
          </a:p>
        </p:txBody>
      </p:sp>
      <p:sp>
        <p:nvSpPr>
          <p:cNvPr id="3" name="Text 1"/>
          <p:cNvSpPr txBox="1"/>
          <p:nvPr/>
        </p:nvSpPr>
        <p:spPr>
          <a:xfrm>
            <a:off x="566928" y="6446520"/>
            <a:ext cx="2743200" cy="274320"/>
          </a:xfrm>
          <a:prstGeom prst="rect">
            <a:avLst/>
          </a:prstGeom>
          <a:noFill/>
          <a:ln/>
        </p:spPr>
        <p:txBody>
          <a:bodyPr wrap="square" lIns="0" tIns="0" rIns="0" bIns="0" rtlCol="0" anchor="ctr"/>
          <a:lstStyle/>
          <a:p>
            <a:pPr indent="0" marL="0">
              <a:buNone/>
            </a:pPr>
            <a:r>
              <a:rPr lang="en-US" sz="950" dirty="0">
                <a:solidFill>
                  <a:srgbClr val="6A6E77"/>
                </a:solidFill>
                <a:latin typeface="Calibri" pitchFamily="34" charset="0"/>
                <a:ea typeface="Calibri" pitchFamily="34" charset="-122"/>
                <a:cs typeface="Calibri" pitchFamily="34" charset="-120"/>
              </a:rPr>
              <a:t>PitchVision</a:t>
            </a:r>
            <a:endParaRPr lang="en-US" sz="950" dirty="0"/>
          </a:p>
        </p:txBody>
      </p:sp>
      <p:sp>
        <p:nvSpPr>
          <p:cNvPr id="5" name="Shape 2"/>
          <p:cNvSpPr/>
          <p:nvPr/>
        </p:nvSpPr>
        <p:spPr>
          <a:xfrm>
            <a:off x="0" y="0"/>
            <a:ext cx="164592" cy="6858000"/>
          </a:xfrm>
          <a:prstGeom prst="rect">
            <a:avLst/>
          </a:prstGeom>
          <a:solidFill>
            <a:srgbClr val="D6412F"/>
          </a:solidFill>
          <a:ln/>
        </p:spPr>
      </p:sp>
      <p:sp>
        <p:nvSpPr>
          <p:cNvPr id="6" name="Text 3"/>
          <p:cNvSpPr txBox="1"/>
          <p:nvPr/>
        </p:nvSpPr>
        <p:spPr>
          <a:xfrm>
            <a:off x="685800" y="1783080"/>
            <a:ext cx="8229600" cy="1097280"/>
          </a:xfrm>
          <a:prstGeom prst="rect">
            <a:avLst/>
          </a:prstGeom>
          <a:noFill/>
          <a:ln/>
        </p:spPr>
        <p:txBody>
          <a:bodyPr wrap="square" lIns="0" tIns="0" rIns="0" bIns="0" rtlCol="0" anchor="ctr"/>
          <a:lstStyle/>
          <a:p>
            <a:pPr indent="0" marL="0">
              <a:buNone/>
            </a:pPr>
            <a:r>
              <a:rPr lang="en-US" sz="5400" b="1" dirty="0">
                <a:solidFill>
                  <a:srgbClr val="FFFFFF"/>
                </a:solidFill>
                <a:latin typeface="Trebuchet MS" pitchFamily="34" charset="0"/>
                <a:ea typeface="Trebuchet MS" pitchFamily="34" charset="-122"/>
                <a:cs typeface="Trebuchet MS" pitchFamily="34" charset="-120"/>
              </a:rPr>
              <a:t>Thank you.</a:t>
            </a:r>
            <a:endParaRPr lang="en-US" sz="5400" dirty="0"/>
          </a:p>
        </p:txBody>
      </p:sp>
      <p:sp>
        <p:nvSpPr>
          <p:cNvPr id="7" name="Text 4"/>
          <p:cNvSpPr txBox="1"/>
          <p:nvPr/>
        </p:nvSpPr>
        <p:spPr>
          <a:xfrm>
            <a:off x="713232" y="2880360"/>
            <a:ext cx="9601200" cy="548640"/>
          </a:xfrm>
          <a:prstGeom prst="rect">
            <a:avLst/>
          </a:prstGeom>
          <a:noFill/>
          <a:ln/>
        </p:spPr>
        <p:txBody>
          <a:bodyPr wrap="square" lIns="0" tIns="0" rIns="0" bIns="0" rtlCol="0" anchor="ctr"/>
          <a:lstStyle/>
          <a:p>
            <a:pPr indent="0" marL="0">
              <a:buNone/>
            </a:pPr>
            <a:r>
              <a:rPr lang="en-US" sz="1700" dirty="0">
                <a:solidFill>
                  <a:srgbClr val="D9D4CC"/>
                </a:solidFill>
                <a:latin typeface="Calibri" pitchFamily="34" charset="0"/>
                <a:ea typeface="Calibri" pitchFamily="34" charset="-122"/>
                <a:cs typeface="Calibri" pitchFamily="34" charset="-120"/>
              </a:rPr>
              <a:t>Questions are welcome — on the model, on how we tested it, or on where PitchVision goes next.</a:t>
            </a:r>
            <a:endParaRPr lang="en-US" sz="1700" dirty="0"/>
          </a:p>
        </p:txBody>
      </p:sp>
      <p:sp>
        <p:nvSpPr>
          <p:cNvPr id="8" name="Shape 5"/>
          <p:cNvSpPr/>
          <p:nvPr/>
        </p:nvSpPr>
        <p:spPr>
          <a:xfrm>
            <a:off x="713232" y="3657600"/>
            <a:ext cx="10744200" cy="914400"/>
          </a:xfrm>
          <a:prstGeom prst="roundRect">
            <a:avLst>
              <a:gd name="adj" fmla="val 6000"/>
            </a:avLst>
          </a:prstGeom>
          <a:solidFill>
            <a:srgbClr val="1F222A"/>
          </a:solidFill>
          <a:ln/>
        </p:spPr>
      </p:sp>
      <p:sp>
        <p:nvSpPr>
          <p:cNvPr id="9" name="Text 6"/>
          <p:cNvSpPr txBox="1"/>
          <p:nvPr/>
        </p:nvSpPr>
        <p:spPr>
          <a:xfrm>
            <a:off x="1005840" y="3657600"/>
            <a:ext cx="10241280" cy="914400"/>
          </a:xfrm>
          <a:prstGeom prst="rect">
            <a:avLst/>
          </a:prstGeom>
          <a:noFill/>
          <a:ln/>
        </p:spPr>
        <p:txBody>
          <a:bodyPr wrap="square" lIns="0" tIns="0" rIns="0" bIns="0" rtlCol="0" anchor="ctr"/>
          <a:lstStyle/>
          <a:p>
            <a:pPr indent="0" marL="0">
              <a:buNone/>
            </a:pPr>
            <a:r>
              <a:rPr lang="en-US" sz="1700" b="1" i="1" dirty="0">
                <a:solidFill>
                  <a:srgbClr val="FFFFFF"/>
                </a:solidFill>
                <a:latin typeface="Trebuchet MS" pitchFamily="34" charset="0"/>
                <a:ea typeface="Trebuchet MS" pitchFamily="34" charset="-122"/>
                <a:cs typeface="Trebuchet MS" pitchFamily="34" charset="-120"/>
              </a:rPr>
              <a:t>Less context, better timing — and we can prove it on matches the model had never seen.</a:t>
            </a:r>
            <a:endParaRPr lang="en-US" sz="1700" dirty="0"/>
          </a:p>
        </p:txBody>
      </p:sp>
      <p:sp>
        <p:nvSpPr>
          <p:cNvPr id="10" name="Shape 7"/>
          <p:cNvSpPr/>
          <p:nvPr/>
        </p:nvSpPr>
        <p:spPr>
          <a:xfrm>
            <a:off x="713232" y="5120640"/>
            <a:ext cx="2377440" cy="36576"/>
          </a:xfrm>
          <a:prstGeom prst="rect">
            <a:avLst/>
          </a:prstGeom>
          <a:solidFill>
            <a:srgbClr val="D6412F"/>
          </a:solidFill>
          <a:ln/>
        </p:spPr>
      </p:sp>
      <p:sp>
        <p:nvSpPr>
          <p:cNvPr id="11" name="Text 8"/>
          <p:cNvSpPr txBox="1"/>
          <p:nvPr/>
        </p:nvSpPr>
        <p:spPr>
          <a:xfrm>
            <a:off x="713232" y="5257800"/>
            <a:ext cx="25603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Brian Ouma</a:t>
            </a:r>
            <a:endParaRPr lang="en-US" sz="1300" dirty="0"/>
          </a:p>
        </p:txBody>
      </p:sp>
      <p:sp>
        <p:nvSpPr>
          <p:cNvPr id="12" name="Text 9"/>
          <p:cNvSpPr txBox="1"/>
          <p:nvPr/>
        </p:nvSpPr>
        <p:spPr>
          <a:xfrm>
            <a:off x="713232" y="5550408"/>
            <a:ext cx="2560320" cy="274320"/>
          </a:xfrm>
          <a:prstGeom prst="rect">
            <a:avLst/>
          </a:prstGeom>
          <a:noFill/>
          <a:ln/>
        </p:spPr>
        <p:txBody>
          <a:bodyPr wrap="square" lIns="0" tIns="0" rIns="0" bIns="0" rtlCol="0" anchor="ctr"/>
          <a:lstStyle/>
          <a:p>
            <a:pPr indent="0" marL="0">
              <a:buNone/>
            </a:pPr>
            <a:r>
              <a:rPr lang="en-US" sz="1050" dirty="0">
                <a:solidFill>
                  <a:srgbClr val="8D919A"/>
                </a:solidFill>
                <a:latin typeface="Calibri" pitchFamily="34" charset="0"/>
                <a:ea typeface="Calibri" pitchFamily="34" charset="-122"/>
                <a:cs typeface="Calibri" pitchFamily="34" charset="-120"/>
              </a:rPr>
              <a:t>Team &amp; AI Lead</a:t>
            </a:r>
            <a:endParaRPr lang="en-US" sz="1050" dirty="0"/>
          </a:p>
        </p:txBody>
      </p:sp>
      <p:sp>
        <p:nvSpPr>
          <p:cNvPr id="13" name="Shape 10"/>
          <p:cNvSpPr/>
          <p:nvPr/>
        </p:nvSpPr>
        <p:spPr>
          <a:xfrm>
            <a:off x="3438144" y="5120640"/>
            <a:ext cx="2377440" cy="36576"/>
          </a:xfrm>
          <a:prstGeom prst="rect">
            <a:avLst/>
          </a:prstGeom>
          <a:solidFill>
            <a:srgbClr val="D6412F"/>
          </a:solidFill>
          <a:ln/>
        </p:spPr>
      </p:sp>
      <p:sp>
        <p:nvSpPr>
          <p:cNvPr id="14" name="Text 11"/>
          <p:cNvSpPr txBox="1"/>
          <p:nvPr/>
        </p:nvSpPr>
        <p:spPr>
          <a:xfrm>
            <a:off x="3438144" y="5257800"/>
            <a:ext cx="25603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Phanice Amani</a:t>
            </a:r>
            <a:endParaRPr lang="en-US" sz="1300" dirty="0"/>
          </a:p>
        </p:txBody>
      </p:sp>
      <p:sp>
        <p:nvSpPr>
          <p:cNvPr id="15" name="Text 12"/>
          <p:cNvSpPr txBox="1"/>
          <p:nvPr/>
        </p:nvSpPr>
        <p:spPr>
          <a:xfrm>
            <a:off x="3438144" y="5550408"/>
            <a:ext cx="2560320" cy="274320"/>
          </a:xfrm>
          <a:prstGeom prst="rect">
            <a:avLst/>
          </a:prstGeom>
          <a:noFill/>
          <a:ln/>
        </p:spPr>
        <p:txBody>
          <a:bodyPr wrap="square" lIns="0" tIns="0" rIns="0" bIns="0" rtlCol="0" anchor="ctr"/>
          <a:lstStyle/>
          <a:p>
            <a:pPr indent="0" marL="0">
              <a:buNone/>
            </a:pPr>
            <a:r>
              <a:rPr lang="en-US" sz="1050" dirty="0">
                <a:solidFill>
                  <a:srgbClr val="8D919A"/>
                </a:solidFill>
                <a:latin typeface="Calibri" pitchFamily="34" charset="0"/>
                <a:ea typeface="Calibri" pitchFamily="34" charset="-122"/>
                <a:cs typeface="Calibri" pitchFamily="34" charset="-120"/>
              </a:rPr>
              <a:t>Data &amp; Evaluation</a:t>
            </a:r>
            <a:endParaRPr lang="en-US" sz="1050" dirty="0"/>
          </a:p>
        </p:txBody>
      </p:sp>
      <p:sp>
        <p:nvSpPr>
          <p:cNvPr id="16" name="Shape 13"/>
          <p:cNvSpPr/>
          <p:nvPr/>
        </p:nvSpPr>
        <p:spPr>
          <a:xfrm>
            <a:off x="6163056" y="5120640"/>
            <a:ext cx="2377440" cy="36576"/>
          </a:xfrm>
          <a:prstGeom prst="rect">
            <a:avLst/>
          </a:prstGeom>
          <a:solidFill>
            <a:srgbClr val="D6412F"/>
          </a:solidFill>
          <a:ln/>
        </p:spPr>
      </p:sp>
      <p:sp>
        <p:nvSpPr>
          <p:cNvPr id="17" name="Text 14"/>
          <p:cNvSpPr txBox="1"/>
          <p:nvPr/>
        </p:nvSpPr>
        <p:spPr>
          <a:xfrm>
            <a:off x="6163056" y="5257800"/>
            <a:ext cx="25603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Clifford Onyango</a:t>
            </a:r>
            <a:endParaRPr lang="en-US" sz="1300" dirty="0"/>
          </a:p>
        </p:txBody>
      </p:sp>
      <p:sp>
        <p:nvSpPr>
          <p:cNvPr id="18" name="Text 15"/>
          <p:cNvSpPr txBox="1"/>
          <p:nvPr/>
        </p:nvSpPr>
        <p:spPr>
          <a:xfrm>
            <a:off x="6163056" y="5550408"/>
            <a:ext cx="2560320" cy="274320"/>
          </a:xfrm>
          <a:prstGeom prst="rect">
            <a:avLst/>
          </a:prstGeom>
          <a:noFill/>
          <a:ln/>
        </p:spPr>
        <p:txBody>
          <a:bodyPr wrap="square" lIns="0" tIns="0" rIns="0" bIns="0" rtlCol="0" anchor="ctr"/>
          <a:lstStyle/>
          <a:p>
            <a:pPr indent="0" marL="0">
              <a:buNone/>
            </a:pPr>
            <a:r>
              <a:rPr lang="en-US" sz="1050" dirty="0">
                <a:solidFill>
                  <a:srgbClr val="8D919A"/>
                </a:solidFill>
                <a:latin typeface="Calibri" pitchFamily="34" charset="0"/>
                <a:ea typeface="Calibri" pitchFamily="34" charset="-122"/>
                <a:cs typeface="Calibri" pitchFamily="34" charset="-120"/>
              </a:rPr>
              <a:t>Product &amp; Frontend</a:t>
            </a:r>
            <a:endParaRPr lang="en-US" sz="1050" dirty="0"/>
          </a:p>
        </p:txBody>
      </p:sp>
      <p:sp>
        <p:nvSpPr>
          <p:cNvPr id="19" name="Shape 16"/>
          <p:cNvSpPr/>
          <p:nvPr/>
        </p:nvSpPr>
        <p:spPr>
          <a:xfrm>
            <a:off x="8887968" y="5120640"/>
            <a:ext cx="2377440" cy="36576"/>
          </a:xfrm>
          <a:prstGeom prst="rect">
            <a:avLst/>
          </a:prstGeom>
          <a:solidFill>
            <a:srgbClr val="D6412F"/>
          </a:solidFill>
          <a:ln/>
        </p:spPr>
      </p:sp>
      <p:sp>
        <p:nvSpPr>
          <p:cNvPr id="20" name="Text 17"/>
          <p:cNvSpPr txBox="1"/>
          <p:nvPr/>
        </p:nvSpPr>
        <p:spPr>
          <a:xfrm>
            <a:off x="8887968" y="5257800"/>
            <a:ext cx="25603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Kevin Chege</a:t>
            </a:r>
            <a:endParaRPr lang="en-US" sz="1300" dirty="0"/>
          </a:p>
        </p:txBody>
      </p:sp>
      <p:sp>
        <p:nvSpPr>
          <p:cNvPr id="21" name="Text 18"/>
          <p:cNvSpPr txBox="1"/>
          <p:nvPr/>
        </p:nvSpPr>
        <p:spPr>
          <a:xfrm>
            <a:off x="8887968" y="5550408"/>
            <a:ext cx="2560320" cy="274320"/>
          </a:xfrm>
          <a:prstGeom prst="rect">
            <a:avLst/>
          </a:prstGeom>
          <a:noFill/>
          <a:ln/>
        </p:spPr>
        <p:txBody>
          <a:bodyPr wrap="square" lIns="0" tIns="0" rIns="0" bIns="0" rtlCol="0" anchor="ctr"/>
          <a:lstStyle/>
          <a:p>
            <a:pPr indent="0" marL="0">
              <a:buNone/>
            </a:pPr>
            <a:r>
              <a:rPr lang="en-US" sz="1050" dirty="0">
                <a:solidFill>
                  <a:srgbClr val="8D919A"/>
                </a:solidFill>
                <a:latin typeface="Calibri" pitchFamily="34" charset="0"/>
                <a:ea typeface="Calibri" pitchFamily="34" charset="-122"/>
                <a:cs typeface="Calibri" pitchFamily="34" charset="-120"/>
              </a:rPr>
              <a:t>Backend &amp; Infrastructure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1">
    <p:bg>
      <p:bgPr>
        <a:solidFill>
          <a:srgbClr val="F7F4EF"/>
        </a:solidFill>
      </p:bgPr>
    </p:bg>
    <p:spTree>
      <p:nvGrpSpPr>
        <p:cNvPr id="1" name=""/>
        <p:cNvGrpSpPr/>
        <p:nvPr/>
      </p:nvGrpSpPr>
      <p:grpSpPr>
        <a:xfrm>
          <a:off x="0" y="0"/>
          <a:ext cx="0" cy="0"/>
          <a:chOff x="0" y="0"/>
          <a:chExt cx="0" cy="0"/>
        </a:xfrm>
      </p:grpSpPr>
      <p:sp>
        <p:nvSpPr>
          <p:cNvPr id="2" name="Text 0"/>
          <p:cNvSpPr txBox="1"/>
          <p:nvPr/>
        </p:nvSpPr>
        <p:spPr>
          <a:xfrm>
            <a:off x="11414455" y="6446520"/>
            <a:ext cx="365760" cy="274320"/>
          </a:xfrm>
          <a:prstGeom prst="rect">
            <a:avLst/>
          </a:prstGeom>
          <a:noFill/>
          <a:ln/>
        </p:spPr>
        <p:txBody>
          <a:bodyPr wrap="square" lIns="0" tIns="0" rIns="0" bIns="0" rtlCol="0" anchor="ctr"/>
          <a:lstStyle/>
          <a:p>
            <a:pPr algn="r" indent="0" marL="0">
              <a:buNone/>
            </a:pPr>
            <a:r>
              <a:rPr lang="en-US" sz="950" dirty="0">
                <a:solidFill>
                  <a:srgbClr val="6A6E77"/>
                </a:solidFill>
                <a:latin typeface="Calibri" pitchFamily="34" charset="0"/>
                <a:ea typeface="Calibri" pitchFamily="34" charset="-122"/>
                <a:cs typeface="Calibri" pitchFamily="34" charset="-120"/>
              </a:rPr>
              <a:t>11</a:t>
            </a:r>
            <a:endParaRPr lang="en-US" sz="950" dirty="0"/>
          </a:p>
        </p:txBody>
      </p:sp>
      <p:sp>
        <p:nvSpPr>
          <p:cNvPr id="3" name="Text 1"/>
          <p:cNvSpPr txBox="1"/>
          <p:nvPr/>
        </p:nvSpPr>
        <p:spPr>
          <a:xfrm>
            <a:off x="566928" y="6446520"/>
            <a:ext cx="2743200" cy="274320"/>
          </a:xfrm>
          <a:prstGeom prst="rect">
            <a:avLst/>
          </a:prstGeom>
          <a:noFill/>
          <a:ln/>
        </p:spPr>
        <p:txBody>
          <a:bodyPr wrap="square" lIns="0" tIns="0" rIns="0" bIns="0" rtlCol="0" anchor="ctr"/>
          <a:lstStyle/>
          <a:p>
            <a:pPr indent="0" marL="0">
              <a:buNone/>
            </a:pPr>
            <a:r>
              <a:rPr lang="en-US" sz="950" dirty="0">
                <a:solidFill>
                  <a:srgbClr val="6A6E77"/>
                </a:solidFill>
                <a:latin typeface="Calibri" pitchFamily="34" charset="0"/>
                <a:ea typeface="Calibri" pitchFamily="34" charset="-122"/>
                <a:cs typeface="Calibri" pitchFamily="34" charset="-120"/>
              </a:rPr>
              <a:t>PitchVision</a:t>
            </a:r>
            <a:endParaRPr lang="en-US" sz="950" dirty="0"/>
          </a:p>
        </p:txBody>
      </p:sp>
      <p:sp>
        <p:nvSpPr>
          <p:cNvPr id="5" name="Shape 2"/>
          <p:cNvSpPr/>
          <p:nvPr/>
        </p:nvSpPr>
        <p:spPr>
          <a:xfrm>
            <a:off x="566928" y="475488"/>
            <a:ext cx="457200" cy="54864"/>
          </a:xfrm>
          <a:prstGeom prst="rect">
            <a:avLst/>
          </a:prstGeom>
          <a:solidFill>
            <a:srgbClr val="D6412F"/>
          </a:solidFill>
          <a:ln/>
        </p:spPr>
      </p:sp>
      <p:sp>
        <p:nvSpPr>
          <p:cNvPr id="6" name="Text 3"/>
          <p:cNvSpPr txBox="1"/>
          <p:nvPr/>
        </p:nvSpPr>
        <p:spPr>
          <a:xfrm>
            <a:off x="566928" y="621792"/>
            <a:ext cx="8229600" cy="274320"/>
          </a:xfrm>
          <a:prstGeom prst="rect">
            <a:avLst/>
          </a:prstGeom>
          <a:noFill/>
          <a:ln/>
        </p:spPr>
        <p:txBody>
          <a:bodyPr wrap="square" lIns="0" tIns="0" rIns="0" bIns="0" rtlCol="0" anchor="ctr"/>
          <a:lstStyle/>
          <a:p>
            <a:pPr indent="0" marL="0">
              <a:buNone/>
            </a:pPr>
            <a:r>
              <a:rPr lang="en-US" sz="1150" b="1" spc="220" kern="0" dirty="0">
                <a:solidFill>
                  <a:srgbClr val="D6412F"/>
                </a:solidFill>
                <a:latin typeface="Calibri" pitchFamily="34" charset="0"/>
                <a:ea typeface="Calibri" pitchFamily="34" charset="-122"/>
                <a:cs typeface="Calibri" pitchFamily="34" charset="-120"/>
              </a:rPr>
              <a:t>BACKUP · HIDDEN SLIDE</a:t>
            </a:r>
            <a:endParaRPr lang="en-US" sz="1150" dirty="0"/>
          </a:p>
        </p:txBody>
      </p:sp>
      <p:sp>
        <p:nvSpPr>
          <p:cNvPr id="7" name="Text 4"/>
          <p:cNvSpPr txBox="1"/>
          <p:nvPr/>
        </p:nvSpPr>
        <p:spPr>
          <a:xfrm>
            <a:off x="566928" y="932688"/>
            <a:ext cx="10607040" cy="868680"/>
          </a:xfrm>
          <a:prstGeom prst="rect">
            <a:avLst/>
          </a:prstGeom>
          <a:noFill/>
          <a:ln/>
        </p:spPr>
        <p:txBody>
          <a:bodyPr wrap="square" lIns="0" tIns="0" rIns="0" bIns="0" rtlCol="0" anchor="ctr"/>
          <a:lstStyle/>
          <a:p>
            <a:pPr indent="0" marL="0">
              <a:lnSpc>
                <a:spcPct val="95000"/>
              </a:lnSpc>
              <a:buNone/>
            </a:pPr>
            <a:r>
              <a:rPr lang="en-US" sz="3100" b="1" dirty="0">
                <a:solidFill>
                  <a:srgbClr val="15171C"/>
                </a:solidFill>
                <a:latin typeface="Trebuchet MS" pitchFamily="34" charset="0"/>
                <a:ea typeface="Trebuchet MS" pitchFamily="34" charset="-122"/>
                <a:cs typeface="Trebuchet MS" pitchFamily="34" charset="-120"/>
              </a:rPr>
              <a:t>Output from the dry run</a:t>
            </a:r>
            <a:endParaRPr lang="en-US" sz="3100" dirty="0"/>
          </a:p>
        </p:txBody>
      </p:sp>
      <p:sp>
        <p:nvSpPr>
          <p:cNvPr id="8" name="Shape 5"/>
          <p:cNvSpPr/>
          <p:nvPr/>
        </p:nvSpPr>
        <p:spPr>
          <a:xfrm>
            <a:off x="566928" y="1965960"/>
            <a:ext cx="11064240" cy="3840480"/>
          </a:xfrm>
          <a:prstGeom prst="rect">
            <a:avLst/>
          </a:prstGeom>
          <a:solidFill>
            <a:srgbClr val="FFFFFF"/>
          </a:solidFill>
          <a:ln w="19050">
            <a:solidFill>
              <a:srgbClr val="6A6E77"/>
            </a:solidFill>
            <a:prstDash val="dash"/>
          </a:ln>
        </p:spPr>
      </p:sp>
      <p:sp>
        <p:nvSpPr>
          <p:cNvPr id="9" name="Text 6"/>
          <p:cNvSpPr txBox="1"/>
          <p:nvPr/>
        </p:nvSpPr>
        <p:spPr>
          <a:xfrm>
            <a:off x="822960" y="1965960"/>
            <a:ext cx="10515600" cy="3840480"/>
          </a:xfrm>
          <a:prstGeom prst="rect">
            <a:avLst/>
          </a:prstGeom>
          <a:noFill/>
          <a:ln/>
        </p:spPr>
        <p:txBody>
          <a:bodyPr wrap="square" lIns="0" tIns="0" rIns="0" bIns="0" rtlCol="0" anchor="ctr"/>
          <a:lstStyle/>
          <a:p>
            <a:pPr algn="ctr" indent="0" marL="0">
              <a:buNone/>
            </a:pPr>
            <a:r>
              <a:rPr lang="en-US" sz="1600" i="1" dirty="0">
                <a:solidFill>
                  <a:srgbClr val="6A6E77"/>
                </a:solidFill>
                <a:latin typeface="Calibri" pitchFamily="34" charset="0"/>
                <a:ea typeface="Calibri" pitchFamily="34" charset="-122"/>
                <a:cs typeface="Calibri" pitchFamily="34" charset="-120"/>
              </a:rPr>
              <a:t>Screenshots of the timeline (cell 5) and the filtered list (cell 6) from the dry run go here.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2026-09-30T13:07:48Z</dcterms:created>
  <dcterms:modified xsi:type="dcterms:W3CDTF">2026-09-30T13:07:48Z</dcterms:modified>
</cp:coreProperties>
</file>