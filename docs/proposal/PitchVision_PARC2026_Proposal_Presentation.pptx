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PitchVision model</c:v>
                </c:pt>
              </c:strCache>
            </c:strRef>
          </c:tx>
          <c:spPr>
            <a:solidFill>
              <a:srgbClr val="14532D"/>
            </a:solidFill>
            <a:effectLst/>
          </c:spPr>
          <c:invertIfNegative val="0"/>
          <c:dLbls>
            <c:numFmt formatCode="0.000" sourceLinked="0"/>
            <c:txPr>
              <a:bodyPr/>
              <a:lstStyle/>
              <a:p>
                <a:pPr>
                  <a:defRPr b="1" i="0" strike="noStrike" sz="1150" u="none">
                    <a:solidFill>
                      <a:srgbClr val="1B2420"/>
                    </a:solidFill>
                    <a:latin typeface="Arial"/>
                  </a:defRPr>
                </a:pPr>
              </a:p>
            </c:txPr>
            <c:showLegendKey val="0"/>
            <c:showVal val="1"/>
            <c:showCatName val="0"/>
            <c:showSerName val="0"/>
            <c:showPercent val="0"/>
            <c:showBubbleSize val="0"/>
            <c:showLeaderLines val="0"/>
          </c:dLbls>
          <c:cat>
            <c:multiLvlStrRef>
              <c:f>Sheet1!$A$2:$A$4</c:f>
              <c:multiLvlStrCache>
                <c:ptCount val="3"/>
                <c:lvl>
                  <c:pt idx="0">
                    <c:v>W = 7s</c:v>
                  </c:pt>
                  <c:pt idx="1">
                    <c:v>W = 15s (baseline)</c:v>
                  </c:pt>
                  <c:pt idx="2">
                    <c:v>W = 31s</c:v>
                  </c:pt>
                </c:lvl>
              </c:multiLvlStrCache>
            </c:multiLvlStrRef>
          </c:cat>
          <c:val>
            <c:numRef>
              <c:f>Sheet1!$B$2:$B$4</c:f>
              <c:numCache>
                <c:formatCode>General</c:formatCode>
                <c:ptCount val="3"/>
                <c:pt idx="0">
                  <c:v>0.277</c:v>
                </c:pt>
                <c:pt idx="1">
                  <c:v>0.243</c:v>
                </c:pt>
                <c:pt idx="2">
                  <c:v>0.224</c:v>
                </c:pt>
              </c:numCache>
            </c:numRef>
          </c:val>
        </c:ser>
        <c:dLbls>
          <c:numFmt formatCode="0.000" sourceLinked="0"/>
          <c:txPr>
            <a:bodyPr/>
            <a:lstStyle/>
            <a:p>
              <a:pPr>
                <a:defRPr b="1" i="0" strike="noStrike" sz="1150" u="none">
                  <a:solidFill>
                    <a:srgbClr val="1B242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440"/>
                </a:solidFill>
                <a:latin typeface="Arial"/>
              </a:defRPr>
            </a:pPr>
            <a:endParaRPr lang="en-US"/>
          </a:p>
        </c:txPr>
        <c:crossAx val="2094734552"/>
        <c:crosses val="autoZero"/>
        <c:auto val="1"/>
        <c:lblAlgn val="ctr"/>
        <c:noMultiLvlLbl val="1"/>
      </c:catAx>
      <c:valAx>
        <c:axId val="2094734552"/>
        <c:scaling>
          <c:orientation val="minMax"/>
          <c:max val="0.32"/>
          <c:min val="0"/>
        </c:scaling>
        <c:delete val="0"/>
        <c:axPos val="l"/>
        <c:majorGridlines>
          <c:spPr>
            <a:ln w="9525" cap="flat">
              <a:solidFill>
                <a:srgbClr val="DDE3DD"/>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A444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BRIAN | 0:00-0:34
Good afternoon, judges. We're Team PitchVision. Over the next ten minutes we'll walk you through our research task, the model we built to answer it, how we tested it rigorously, and what we actually found, before showing you where this goes as a real product. The short version: a lightweight AI model that turns an ordinary soccer video, from a single camera, into a searchable timeline of match events, built for a lot more people than just professional clubs.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BRIAN | 0:34-1:20
Every weekend, thousands of grassroots, school, and academy matches are recorded, usually on one sideline camera or a parent's phone. That footage almost never gets analyzed. Coaches don't have ninety minutes to rewatch a match and log every pass, shot, and tackle by hand. Fans and parents get even less: no highlights, no stats, nothing to relive after the final whistle. We looked at football at this level, and the pattern repeats everywhere: filming has become easy and cheap, but understanding what's in that footage hasn't. The video already exists. What's missing is a way to make sense of it automatically, without asking anyone to buy new equipment.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BRIAN | 1:20-2:18
Every existing tool we researched, Veo, Pixellot, XbotGo, solves this the same way: by selling you a camera. A dedicated auto-tracking camera, often over five hundred dollars, plus a recurring monthly subscription. That works for well-funded clubs and academies. It locks out everyone else. Our gap is different: software-only automatic event spotting that runs on a single ordinary camera, or even a phone recording someone already has. No proprietary hardware to buy. No subscription lock-in to use your own footage. And we're building it not only for coaches and analysts, but for players and fans too, which Clifford will come back to later in the talk. That single sentence is really our whole pitch. Now, Phanice will walk you through exactly what our model is trying to do, and the research question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PHANICE | 2:18-3:24
Thanks, Brian. Our learning task is called action spotting. Most video AI looks for a clip's start and end. Soccer events, a pass, a shot, a tackle, don't work that way, they happen in a single instant, not over a duration. So our model watches match footage and drops one timestamped pin on every event, choosing from twelve fine-grained categories, at one prediction per second of video. That framing leads directly to our research question: how much video context should the model look at, around each moment, to spot it well, and does the best answer change depending on how strict we are about timing? Formally, how does the temporal context window, which we call W, affect spotting precision at fine tolerances of five seconds or less, versus coarse tolerances of twenty seconds or more? Our hypothesis is that a short window keeps localization sharp, while a long window dilutes the moment with surrounding, irrelevant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PHANICE | 3:24-4:40
To test that, we designed a controlled experiment with exactly one independent variable: the context window W. We compare a short seven-second window, a fifteen-second baseline, and a long thirty-one-second window. Everything else, the architecture, the loss function, learning rate, batch size, and epoch count, is held identical across every single run. We're using the SoccerNet Ball Action Spotting dataset, real EFL Championship broadcast matches, with one training match and one validation match so far, and no shared footage between the two. Each second of video becomes a five-hundred-twelve number feature vector, produced by a pretrained ResNet-18. Critically, we don't trust a result from a single run. Every condition is trained five separate times, from five different random starting points, so a finding only counts in our eyes if it holds up five out of five times, not once by chance. Our immediate next step is scaling this same setup to all four training matches we have, plus two fully held-out test matches we haven't touched yet. Over to Kevin, for how the model itself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 4:40-6:53
Thanks, Phanice. Our architecture is a lightweight temporal Conv1D spotter, following Giancola and colleagues' twenty-eighteen SoccerNet paper, and Lea and colleagues' work on temporal convolutional networks for action segmentation. We chose this deliberately over a recurrent or attention-based model: it needs no hidden state carried across the match, it trains in minutes rather than hours, and it stays small enough to eventually run outside a data center, which matters for the low-cost product we're aiming at. Each one-second video frame is embedded by a pretrained ResNet-18 into a five-hundred-twelve number vector, so a full match compresses down to a manageable sequence rather than raw pixels. A window of W consecutive vectors then passes through a 1D convolution, batch normalization, and average pooling, before a small classifier head, with a brief dropout layer to reduce overfitting, outputs twelve independent probabilities, one per event class. Three design choices matter most here. First, because pooling is just an average, the exact same two-hundred-six-thousand weights handle a seven-second window or a thirty-one-second window, with zero architecture change, which is exactly what our controlled experiment needs, since only W is allowed to vary. Second, real events are outnumbered by quiet play roughly thirty-four to one, so we weight the loss function fifteen times toward positive detections, stopping the model from collapsing to simply predicting "nothing happened" everywhere. Third, and this matters for our product goal, we verified the model is genuinely fast, not just accurate: on a Colab T4 GPU it trains twelve full epochs in about two seconds, and scores between twenty and thirty-three thousand one-second windows every single second at inference. That's real, measured evidence that this can eventually run on modest, low-cost hardware in the field, not just a server farm in the cloud, which is central to the low-cost promise of this whole project. Now to our results, with Clifford.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CLIFFORD | 6:53-8:02
Thanks, Kevin. Here's what we found. Across five independent runs each, the seven-second window scored highest, the fifteen-second baseline came second, and the thirty-one-second window scored lowest, and that ordering held in five out of five runs when we compared the seven-second window against baseline, not once by chance. The gain is largest exactly where it matters most: pinpointing the precise instant of an event, rather than just its general area, which directly supports our original hypothesis. One honest note, because we think it matters: we also checked every result against a random-guessing baseline before trusting any of it. That check caught a real flaw in our first evaluation metric on this event-dense dataset, and forced us to fix it properly. Under the corrected, fair evaluation, our seven and fifteen-second models clearly beat random guessing, while the thirty-one-second window ends up only roughly tied with it. We treat that rigor as a strength worth showing you, not a weakness worth hiding.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CLIFFORD | 8:02-9:11
So what does this become? One video upload, processed once, serving two audiences who each get something they genuinely can't get today. For coaches and analysts: a searchable match timeline, tagged events, and simple stats, no more rewatching ninety minutes just to find three key moments. For players, parents, and fans: an automatic highlight reel and a shareable match story card, something to actually post and relive after the final whistle. We're deliberately adding fans as a second audience, because coaches and scouts already have tools available to them, even if expensive ones, while fans and parents have nothing today. They're a far bigger audience than clubs alone, and every clip they share becomes free marketing that brings the next club to us. Our next steps are concrete: scale training to our full dataset and two fully unseen test matches, ship both the coach dashboard and the fan highlight experience, and pilot with one real grassroots club on their own single-camera footage.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CLIFFORD | 9:11-9:24
That's PitchVision: a lightweight model, honestly evaluated, built toward a real product for coaches, players, and fans alike. Thank you for your time, we're glad to take your questions.
[TOTAL TALK TIME AT ~140 WPM: ~9:24 — leaves ~36s buffer under the 10:00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3.png"/><Relationship Id="rId5" Type="http://schemas.openxmlformats.org/officeDocument/2006/relationships/image" Target="../media/image-3-3.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5.png"/><Relationship Id="rId7" Type="http://schemas.openxmlformats.org/officeDocument/2006/relationships/image" Target="../media/image-6-5.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image" Target="../media/image-7-1.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82B"/>
        </a:solidFill>
      </p:bgPr>
    </p:bg>
    <p:spTree>
      <p:nvGrpSpPr>
        <p:cNvPr id="1" name=""/>
        <p:cNvGrpSpPr/>
        <p:nvPr/>
      </p:nvGrpSpPr>
      <p:grpSpPr>
        <a:xfrm>
          <a:off x="0" y="0"/>
          <a:ext cx="0" cy="0"/>
          <a:chOff x="0" y="0"/>
          <a:chExt cx="0" cy="0"/>
        </a:xfrm>
      </p:grpSpPr>
      <p:sp>
        <p:nvSpPr>
          <p:cNvPr id="2" name="Shape 0"/>
          <p:cNvSpPr/>
          <p:nvPr/>
        </p:nvSpPr>
        <p:spPr>
          <a:xfrm>
            <a:off x="8778240" y="914400"/>
            <a:ext cx="4937760" cy="4937760"/>
          </a:xfrm>
          <a:prstGeom prst="ellipse">
            <a:avLst/>
          </a:prstGeom>
          <a:ln w="15875">
            <a:solidFill>
              <a:srgbClr val="FFFFFF">
                <a:alpha val="12000"/>
              </a:srgbClr>
            </a:solidFill>
            <a:prstDash val="solid"/>
          </a:ln>
        </p:spPr>
      </p:sp>
      <p:sp>
        <p:nvSpPr>
          <p:cNvPr id="3" name="Shape 1"/>
          <p:cNvSpPr/>
          <p:nvPr/>
        </p:nvSpPr>
        <p:spPr>
          <a:xfrm>
            <a:off x="11228832" y="914400"/>
            <a:ext cx="0" cy="4937760"/>
          </a:xfrm>
          <a:prstGeom prst="line">
            <a:avLst/>
          </a:prstGeom>
          <a:noFill/>
          <a:ln w="15875">
            <a:solidFill>
              <a:srgbClr val="FFFFFF">
                <a:alpha val="12000"/>
              </a:srgbClr>
            </a:solidFill>
            <a:prstDash val="solid"/>
          </a:ln>
        </p:spPr>
      </p:sp>
      <p:sp>
        <p:nvSpPr>
          <p:cNvPr id="4" name="Shape 2"/>
          <p:cNvSpPr/>
          <p:nvPr/>
        </p:nvSpPr>
        <p:spPr>
          <a:xfrm>
            <a:off x="594360" y="566928"/>
            <a:ext cx="566928" cy="566928"/>
          </a:xfrm>
          <a:prstGeom prst="ellipse">
            <a:avLst/>
          </a:prstGeom>
          <a:solidFill>
            <a:srgbClr val="1E7A45"/>
          </a:solidFill>
          <a:ln/>
        </p:spPr>
      </p:sp>
      <p:pic>
        <p:nvPicPr>
          <p:cNvPr id="5" name="Image 0" descr="/home/claude/deck/icons/ball.png">    </p:cNvPr>
          <p:cNvPicPr>
            <a:picLocks noChangeAspect="1"/>
          </p:cNvPicPr>
          <p:nvPr/>
        </p:nvPicPr>
        <p:blipFill>
          <a:blip r:embed="rId1"/>
          <a:stretch>
            <a:fillRect/>
          </a:stretch>
        </p:blipFill>
        <p:spPr>
          <a:xfrm>
            <a:off x="741761" y="714329"/>
            <a:ext cx="272125" cy="272125"/>
          </a:xfrm>
          <a:prstGeom prst="rect">
            <a:avLst/>
          </a:prstGeom>
        </p:spPr>
      </p:pic>
      <p:sp>
        <p:nvSpPr>
          <p:cNvPr id="6" name="Text 3"/>
          <p:cNvSpPr txBox="1"/>
          <p:nvPr/>
        </p:nvSpPr>
        <p:spPr>
          <a:xfrm>
            <a:off x="1298448" y="603504"/>
            <a:ext cx="7315200" cy="457200"/>
          </a:xfrm>
          <a:prstGeom prst="rect">
            <a:avLst/>
          </a:prstGeom>
          <a:noFill/>
          <a:ln/>
        </p:spPr>
        <p:txBody>
          <a:bodyPr wrap="square" lIns="0" tIns="0" rIns="0" bIns="0" rtlCol="0" anchor="ctr"/>
          <a:lstStyle/>
          <a:p>
            <a:pPr indent="0" marL="0">
              <a:buNone/>
            </a:pPr>
            <a:r>
              <a:rPr lang="en-US" sz="1300" b="1" spc="200" kern="0" dirty="0">
                <a:solidFill>
                  <a:srgbClr val="F0A83C"/>
                </a:solidFill>
                <a:latin typeface="Calibri" pitchFamily="34" charset="0"/>
                <a:ea typeface="Calibri" pitchFamily="34" charset="-122"/>
                <a:cs typeface="Calibri" pitchFamily="34" charset="-120"/>
              </a:rPr>
              <a:t>PARC 2026 AI LEAGUE  ·  TEAM PITCHVISION</a:t>
            </a:r>
            <a:endParaRPr lang="en-US" sz="1300" dirty="0"/>
          </a:p>
        </p:txBody>
      </p:sp>
      <p:sp>
        <p:nvSpPr>
          <p:cNvPr id="7" name="Text 4"/>
          <p:cNvSpPr txBox="1"/>
          <p:nvPr/>
        </p:nvSpPr>
        <p:spPr>
          <a:xfrm>
            <a:off x="548640" y="2331720"/>
            <a:ext cx="96012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PitchVision</a:t>
            </a:r>
            <a:endParaRPr lang="en-US" sz="6000" dirty="0"/>
          </a:p>
        </p:txBody>
      </p:sp>
      <p:sp>
        <p:nvSpPr>
          <p:cNvPr id="8" name="Text 5"/>
          <p:cNvSpPr txBox="1"/>
          <p:nvPr/>
        </p:nvSpPr>
        <p:spPr>
          <a:xfrm>
            <a:off x="566928" y="3429000"/>
            <a:ext cx="8778240" cy="685800"/>
          </a:xfrm>
          <a:prstGeom prst="rect">
            <a:avLst/>
          </a:prstGeom>
          <a:noFill/>
          <a:ln/>
        </p:spPr>
        <p:txBody>
          <a:bodyPr wrap="square" lIns="0" tIns="0" rIns="0" bIns="0" rtlCol="0" anchor="ctr"/>
          <a:lstStyle/>
          <a:p>
            <a:pPr indent="0" marL="0">
              <a:buNone/>
            </a:pPr>
            <a:r>
              <a:rPr lang="en-US" sz="2000" dirty="0">
                <a:solidFill>
                  <a:srgbClr val="D8E6DC"/>
                </a:solidFill>
                <a:latin typeface="Calibri" pitchFamily="34" charset="0"/>
                <a:ea typeface="Calibri" pitchFamily="34" charset="-122"/>
                <a:cs typeface="Calibri" pitchFamily="34" charset="-120"/>
              </a:rPr>
              <a:t>Automatic soccer highlights and match insight — from any camera you already have.</a:t>
            </a:r>
            <a:endParaRPr lang="en-US" sz="2000" dirty="0"/>
          </a:p>
        </p:txBody>
      </p:sp>
      <p:sp>
        <p:nvSpPr>
          <p:cNvPr id="9" name="Shape 6"/>
          <p:cNvSpPr/>
          <p:nvPr/>
        </p:nvSpPr>
        <p:spPr>
          <a:xfrm>
            <a:off x="566928" y="4251960"/>
            <a:ext cx="2011680" cy="0"/>
          </a:xfrm>
          <a:prstGeom prst="line">
            <a:avLst/>
          </a:prstGeom>
          <a:noFill/>
          <a:ln w="31750">
            <a:solidFill>
              <a:srgbClr val="F0A83C"/>
            </a:solidFill>
            <a:prstDash val="solid"/>
          </a:ln>
        </p:spPr>
      </p:sp>
      <p:sp>
        <p:nvSpPr>
          <p:cNvPr id="10" name="Text 7"/>
          <p:cNvSpPr txBox="1"/>
          <p:nvPr/>
        </p:nvSpPr>
        <p:spPr>
          <a:xfrm>
            <a:off x="566928" y="4434840"/>
            <a:ext cx="5486400" cy="365760"/>
          </a:xfrm>
          <a:prstGeom prst="rect">
            <a:avLst/>
          </a:prstGeom>
          <a:noFill/>
          <a:ln/>
        </p:spPr>
        <p:txBody>
          <a:bodyPr wrap="square" lIns="0" tIns="0" rIns="0" bIns="0" rtlCol="0" anchor="ctr"/>
          <a:lstStyle/>
          <a:p>
            <a:pPr indent="0" marL="0">
              <a:buNone/>
            </a:pPr>
            <a:r>
              <a:rPr lang="en-US" sz="1300" dirty="0">
                <a:solidFill>
                  <a:srgbClr val="A9B8AC"/>
                </a:solidFill>
                <a:latin typeface="Calibri" pitchFamily="34" charset="0"/>
                <a:ea typeface="Calibri" pitchFamily="34" charset="-122"/>
                <a:cs typeface="Calibri" pitchFamily="34" charset="-120"/>
              </a:rPr>
              <a:t>Proposal Presentation</a:t>
            </a:r>
            <a:endParaRPr lang="en-US" sz="1300" dirty="0"/>
          </a:p>
        </p:txBody>
      </p:sp>
      <p:sp>
        <p:nvSpPr>
          <p:cNvPr id="11" name="Text 8"/>
          <p:cNvSpPr txBox="1"/>
          <p:nvPr/>
        </p:nvSpPr>
        <p:spPr>
          <a:xfrm>
            <a:off x="566928" y="5623560"/>
            <a:ext cx="260604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Brian Ouma</a:t>
            </a:r>
            <a:endParaRPr lang="en-US" sz="1350" dirty="0"/>
          </a:p>
        </p:txBody>
      </p:sp>
      <p:sp>
        <p:nvSpPr>
          <p:cNvPr id="12" name="Text 9"/>
          <p:cNvSpPr txBox="1"/>
          <p:nvPr/>
        </p:nvSpPr>
        <p:spPr>
          <a:xfrm>
            <a:off x="566928" y="5943600"/>
            <a:ext cx="2606040" cy="457200"/>
          </a:xfrm>
          <a:prstGeom prst="rect">
            <a:avLst/>
          </a:prstGeom>
          <a:noFill/>
          <a:ln/>
        </p:spPr>
        <p:txBody>
          <a:bodyPr wrap="square" lIns="0" tIns="0" rIns="0" bIns="0" rtlCol="0" anchor="ctr"/>
          <a:lstStyle/>
          <a:p>
            <a:pPr indent="0" marL="0">
              <a:buNone/>
            </a:pPr>
            <a:r>
              <a:rPr lang="en-US" sz="1050" dirty="0">
                <a:solidFill>
                  <a:srgbClr val="9AAA9E"/>
                </a:solidFill>
                <a:latin typeface="Calibri" pitchFamily="34" charset="0"/>
                <a:ea typeface="Calibri" pitchFamily="34" charset="-122"/>
                <a:cs typeface="Calibri" pitchFamily="34" charset="-120"/>
              </a:rPr>
              <a:t>Team Lead · AI Lead</a:t>
            </a:r>
            <a:endParaRPr lang="en-US" sz="1050" dirty="0"/>
          </a:p>
        </p:txBody>
      </p:sp>
      <p:sp>
        <p:nvSpPr>
          <p:cNvPr id="13" name="Text 10"/>
          <p:cNvSpPr txBox="1"/>
          <p:nvPr/>
        </p:nvSpPr>
        <p:spPr>
          <a:xfrm>
            <a:off x="3310128" y="5623560"/>
            <a:ext cx="260604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Phanice Amani</a:t>
            </a:r>
            <a:endParaRPr lang="en-US" sz="1350" dirty="0"/>
          </a:p>
        </p:txBody>
      </p:sp>
      <p:sp>
        <p:nvSpPr>
          <p:cNvPr id="14" name="Text 11"/>
          <p:cNvSpPr txBox="1"/>
          <p:nvPr/>
        </p:nvSpPr>
        <p:spPr>
          <a:xfrm>
            <a:off x="3310128" y="5943600"/>
            <a:ext cx="2606040" cy="457200"/>
          </a:xfrm>
          <a:prstGeom prst="rect">
            <a:avLst/>
          </a:prstGeom>
          <a:noFill/>
          <a:ln/>
        </p:spPr>
        <p:txBody>
          <a:bodyPr wrap="square" lIns="0" tIns="0" rIns="0" bIns="0" rtlCol="0" anchor="ctr"/>
          <a:lstStyle/>
          <a:p>
            <a:pPr indent="0" marL="0">
              <a:buNone/>
            </a:pPr>
            <a:r>
              <a:rPr lang="en-US" sz="1050" dirty="0">
                <a:solidFill>
                  <a:srgbClr val="9AAA9E"/>
                </a:solidFill>
                <a:latin typeface="Calibri" pitchFamily="34" charset="0"/>
                <a:ea typeface="Calibri" pitchFamily="34" charset="-122"/>
                <a:cs typeface="Calibri" pitchFamily="34" charset="-120"/>
              </a:rPr>
              <a:t>Data &amp; Evaluation Lead</a:t>
            </a:r>
            <a:endParaRPr lang="en-US" sz="1050" dirty="0"/>
          </a:p>
        </p:txBody>
      </p:sp>
      <p:sp>
        <p:nvSpPr>
          <p:cNvPr id="15" name="Text 12"/>
          <p:cNvSpPr txBox="1"/>
          <p:nvPr/>
        </p:nvSpPr>
        <p:spPr>
          <a:xfrm>
            <a:off x="6053328" y="5623560"/>
            <a:ext cx="260604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Clifford Onyango</a:t>
            </a:r>
            <a:endParaRPr lang="en-US" sz="1350" dirty="0"/>
          </a:p>
        </p:txBody>
      </p:sp>
      <p:sp>
        <p:nvSpPr>
          <p:cNvPr id="16" name="Text 13"/>
          <p:cNvSpPr txBox="1"/>
          <p:nvPr/>
        </p:nvSpPr>
        <p:spPr>
          <a:xfrm>
            <a:off x="6053328" y="5943600"/>
            <a:ext cx="2606040" cy="457200"/>
          </a:xfrm>
          <a:prstGeom prst="rect">
            <a:avLst/>
          </a:prstGeom>
          <a:noFill/>
          <a:ln/>
        </p:spPr>
        <p:txBody>
          <a:bodyPr wrap="square" lIns="0" tIns="0" rIns="0" bIns="0" rtlCol="0" anchor="ctr"/>
          <a:lstStyle/>
          <a:p>
            <a:pPr indent="0" marL="0">
              <a:buNone/>
            </a:pPr>
            <a:r>
              <a:rPr lang="en-US" sz="1050" dirty="0">
                <a:solidFill>
                  <a:srgbClr val="9AAA9E"/>
                </a:solidFill>
                <a:latin typeface="Calibri" pitchFamily="34" charset="0"/>
                <a:ea typeface="Calibri" pitchFamily="34" charset="-122"/>
                <a:cs typeface="Calibri" pitchFamily="34" charset="-120"/>
              </a:rPr>
              <a:t>Product &amp; Frontend Lead</a:t>
            </a:r>
            <a:endParaRPr lang="en-US" sz="1050" dirty="0"/>
          </a:p>
        </p:txBody>
      </p:sp>
      <p:sp>
        <p:nvSpPr>
          <p:cNvPr id="17" name="Text 14"/>
          <p:cNvSpPr txBox="1"/>
          <p:nvPr/>
        </p:nvSpPr>
        <p:spPr>
          <a:xfrm>
            <a:off x="8796528" y="5623560"/>
            <a:ext cx="260604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Kevin Chege</a:t>
            </a:r>
            <a:endParaRPr lang="en-US" sz="1350" dirty="0"/>
          </a:p>
        </p:txBody>
      </p:sp>
      <p:sp>
        <p:nvSpPr>
          <p:cNvPr id="18" name="Text 15"/>
          <p:cNvSpPr txBox="1"/>
          <p:nvPr/>
        </p:nvSpPr>
        <p:spPr>
          <a:xfrm>
            <a:off x="8796528" y="5943600"/>
            <a:ext cx="2606040" cy="457200"/>
          </a:xfrm>
          <a:prstGeom prst="rect">
            <a:avLst/>
          </a:prstGeom>
          <a:noFill/>
          <a:ln/>
        </p:spPr>
        <p:txBody>
          <a:bodyPr wrap="square" lIns="0" tIns="0" rIns="0" bIns="0" rtlCol="0" anchor="ctr"/>
          <a:lstStyle/>
          <a:p>
            <a:pPr indent="0" marL="0">
              <a:buNone/>
            </a:pPr>
            <a:r>
              <a:rPr lang="en-US" sz="1050" dirty="0">
                <a:solidFill>
                  <a:srgbClr val="9AAA9E"/>
                </a:solidFill>
                <a:latin typeface="Calibri" pitchFamily="34" charset="0"/>
                <a:ea typeface="Calibri" pitchFamily="34" charset="-122"/>
                <a:cs typeface="Calibri" pitchFamily="34" charset="-120"/>
              </a:rPr>
              <a:t>Backend &amp; Infrastructure Lead</a:t>
            </a:r>
            <a:endParaRPr lang="en-US" sz="1050" dirty="0"/>
          </a:p>
        </p:txBody>
      </p:sp>
      <p:sp>
        <p:nvSpPr>
          <p:cNvPr id="19" name="Text 1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FFFFFF">
                    <a:alpha val="65000"/>
                  </a:srgbClr>
                </a:solidFill>
                <a:latin typeface="Calibri" pitchFamily="34" charset="0"/>
                <a:ea typeface="Calibri" pitchFamily="34" charset="-122"/>
                <a:cs typeface="Calibri" pitchFamily="34" charset="-120"/>
              </a:rPr>
              <a:t>PitchVision  ·  PARC 2026 AI League</a:t>
            </a:r>
            <a:endParaRPr lang="en-US" sz="900" dirty="0"/>
          </a:p>
        </p:txBody>
      </p:sp>
      <p:sp>
        <p:nvSpPr>
          <p:cNvPr id="20" name="Text 17"/>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FFFFFF">
                    <a:alpha val="65000"/>
                  </a:srgbClr>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2"/>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14532D"/>
                </a:solidFill>
                <a:latin typeface="Calibri" pitchFamily="34" charset="0"/>
                <a:ea typeface="Calibri" pitchFamily="34" charset="-122"/>
                <a:cs typeface="Calibri" pitchFamily="34" charset="-120"/>
              </a:rPr>
              <a:t>THE PROBLEM</a:t>
            </a:r>
            <a:endParaRPr lang="en-US" sz="1250" dirty="0"/>
          </a:p>
        </p:txBody>
      </p:sp>
      <p:sp>
        <p:nvSpPr>
          <p:cNvPr id="3" name="Text 1"/>
          <p:cNvSpPr txBox="1"/>
          <p:nvPr/>
        </p:nvSpPr>
        <p:spPr>
          <a:xfrm>
            <a:off x="548640" y="658368"/>
            <a:ext cx="9601200" cy="658368"/>
          </a:xfrm>
          <a:prstGeom prst="rect">
            <a:avLst/>
          </a:prstGeom>
          <a:noFill/>
          <a:ln/>
        </p:spPr>
        <p:txBody>
          <a:bodyPr wrap="square" lIns="0" tIns="0" rIns="0" bIns="0" rtlCol="0" anchor="ctr"/>
          <a:lstStyle/>
          <a:p>
            <a:pPr indent="0" marL="0">
              <a:buNone/>
            </a:pPr>
            <a:r>
              <a:rPr lang="en-US" sz="3000" b="1" dirty="0">
                <a:solidFill>
                  <a:srgbClr val="1B2420"/>
                </a:solidFill>
                <a:latin typeface="Cambria" pitchFamily="34" charset="0"/>
                <a:ea typeface="Cambria" pitchFamily="34" charset="-122"/>
                <a:cs typeface="Cambria" pitchFamily="34" charset="-120"/>
              </a:rPr>
              <a:t>Millions of matches are filmed. Almost none are understood.</a:t>
            </a:r>
            <a:endParaRPr lang="en-US" sz="3000" dirty="0"/>
          </a:p>
        </p:txBody>
      </p:sp>
      <p:sp>
        <p:nvSpPr>
          <p:cNvPr id="4" name="Text 2"/>
          <p:cNvSpPr txBox="1"/>
          <p:nvPr/>
        </p:nvSpPr>
        <p:spPr>
          <a:xfrm>
            <a:off x="548640" y="1417320"/>
            <a:ext cx="10424160" cy="566928"/>
          </a:xfrm>
          <a:prstGeom prst="rect">
            <a:avLst/>
          </a:prstGeom>
          <a:noFill/>
          <a:ln/>
        </p:spPr>
        <p:txBody>
          <a:bodyPr wrap="square" lIns="0" tIns="0" rIns="0" bIns="0" rtlCol="0" anchor="ctr"/>
          <a:lstStyle/>
          <a:p>
            <a:pPr indent="0" marL="0">
              <a:buNone/>
            </a:pPr>
            <a:r>
              <a:rPr lang="en-US" sz="1500" dirty="0">
                <a:solidFill>
                  <a:srgbClr val="5B6660"/>
                </a:solidFill>
                <a:latin typeface="Calibri" pitchFamily="34" charset="0"/>
                <a:ea typeface="Calibri" pitchFamily="34" charset="-122"/>
                <a:cs typeface="Calibri" pitchFamily="34" charset="-120"/>
              </a:rPr>
              <a:t>Every weekend, grassroots, school and academy soccer is recorded on a single sideline camera or a parent’s phone — the same footage professional clubs pay analysts to break down.</a:t>
            </a:r>
            <a:endParaRPr lang="en-US" sz="1500" dirty="0"/>
          </a:p>
        </p:txBody>
      </p:sp>
      <p:sp>
        <p:nvSpPr>
          <p:cNvPr id="5" name="Shape 3"/>
          <p:cNvSpPr/>
          <p:nvPr/>
        </p:nvSpPr>
        <p:spPr>
          <a:xfrm>
            <a:off x="548640" y="2331720"/>
            <a:ext cx="3346704" cy="3246120"/>
          </a:xfrm>
          <a:prstGeom prst="roundRect">
            <a:avLst>
              <a:gd name="adj" fmla="val 2817"/>
            </a:avLst>
          </a:prstGeom>
          <a:solidFill>
            <a:srgbClr val="FFFFFF"/>
          </a:solidFill>
          <a:ln w="12700">
            <a:solidFill>
              <a:srgbClr val="DDE3DD"/>
            </a:solidFill>
            <a:prstDash val="solid"/>
          </a:ln>
          <a:effectLst>
            <a:outerShdw sx="100000" sy="100000" kx="0" ky="0" algn="bl" rotWithShape="0" blurRad="127000" dist="38100" dir="5400000">
              <a:srgbClr val="13182B">
                <a:alpha val="10000"/>
              </a:srgbClr>
            </a:outerShdw>
          </a:effectLst>
        </p:spPr>
      </p:sp>
      <p:sp>
        <p:nvSpPr>
          <p:cNvPr id="6" name="Shape 4"/>
          <p:cNvSpPr/>
          <p:nvPr/>
        </p:nvSpPr>
        <p:spPr>
          <a:xfrm>
            <a:off x="841248" y="2624328"/>
            <a:ext cx="658368" cy="658368"/>
          </a:xfrm>
          <a:prstGeom prst="ellipse">
            <a:avLst/>
          </a:prstGeom>
          <a:solidFill>
            <a:srgbClr val="14532D"/>
          </a:solidFill>
          <a:ln/>
        </p:spPr>
      </p:sp>
      <p:pic>
        <p:nvPicPr>
          <p:cNvPr id="7" name="Image 0" descr="/home/claude/deck/icons/camera.png">    </p:cNvPr>
          <p:cNvPicPr>
            <a:picLocks noChangeAspect="1"/>
          </p:cNvPicPr>
          <p:nvPr/>
        </p:nvPicPr>
        <p:blipFill>
          <a:blip r:embed="rId1"/>
          <a:stretch>
            <a:fillRect/>
          </a:stretch>
        </p:blipFill>
        <p:spPr>
          <a:xfrm>
            <a:off x="1012424" y="2795504"/>
            <a:ext cx="316017" cy="316017"/>
          </a:xfrm>
          <a:prstGeom prst="rect">
            <a:avLst/>
          </a:prstGeom>
        </p:spPr>
      </p:pic>
      <p:sp>
        <p:nvSpPr>
          <p:cNvPr id="8" name="Text 5"/>
          <p:cNvSpPr txBox="1"/>
          <p:nvPr/>
        </p:nvSpPr>
        <p:spPr>
          <a:xfrm>
            <a:off x="841248" y="3447288"/>
            <a:ext cx="2761488" cy="548640"/>
          </a:xfrm>
          <a:prstGeom prst="rect">
            <a:avLst/>
          </a:prstGeom>
          <a:noFill/>
          <a:ln/>
        </p:spPr>
        <p:txBody>
          <a:bodyPr wrap="square" lIns="0" tIns="0" rIns="0" bIns="0" rtlCol="0" anchor="ctr"/>
          <a:lstStyle/>
          <a:p>
            <a:pPr indent="0" marL="0">
              <a:buNone/>
            </a:pPr>
            <a:r>
              <a:rPr lang="en-US" sz="1700" b="1" dirty="0">
                <a:solidFill>
                  <a:srgbClr val="1B2420"/>
                </a:solidFill>
                <a:latin typeface="Cambria" pitchFamily="34" charset="0"/>
                <a:ea typeface="Cambria" pitchFamily="34" charset="-122"/>
                <a:cs typeface="Cambria" pitchFamily="34" charset="-120"/>
              </a:rPr>
              <a:t>The footage exists</a:t>
            </a:r>
            <a:endParaRPr lang="en-US" sz="1700" dirty="0"/>
          </a:p>
        </p:txBody>
      </p:sp>
      <p:sp>
        <p:nvSpPr>
          <p:cNvPr id="9" name="Text 6"/>
          <p:cNvSpPr txBox="1"/>
          <p:nvPr/>
        </p:nvSpPr>
        <p:spPr>
          <a:xfrm>
            <a:off x="841248" y="4023360"/>
            <a:ext cx="2761488" cy="1371600"/>
          </a:xfrm>
          <a:prstGeom prst="rect">
            <a:avLst/>
          </a:prstGeom>
          <a:noFill/>
          <a:ln/>
        </p:spPr>
        <p:txBody>
          <a:bodyPr wrap="square" lIns="0" tIns="0" rIns="0" bIns="0" rtlCol="0" anchor="ctr"/>
          <a:lstStyle/>
          <a:p>
            <a:pPr indent="0" marL="0">
              <a:lnSpc>
                <a:spcPct val="115000"/>
              </a:lnSpc>
              <a:buNone/>
            </a:pPr>
            <a:r>
              <a:rPr lang="en-US" sz="1250" dirty="0">
                <a:solidFill>
                  <a:srgbClr val="5B6660"/>
                </a:solidFill>
                <a:latin typeface="Calibri" pitchFamily="34" charset="0"/>
                <a:ea typeface="Calibri" pitchFamily="34" charset="-122"/>
                <a:cs typeface="Calibri" pitchFamily="34" charset="-120"/>
              </a:rPr>
              <a:t>A phone or one fixed camera captures the whole match — but raw video is all anyone gets.</a:t>
            </a:r>
            <a:endParaRPr lang="en-US" sz="1250" dirty="0"/>
          </a:p>
        </p:txBody>
      </p:sp>
      <p:sp>
        <p:nvSpPr>
          <p:cNvPr id="10" name="Shape 7"/>
          <p:cNvSpPr/>
          <p:nvPr/>
        </p:nvSpPr>
        <p:spPr>
          <a:xfrm>
            <a:off x="4151376" y="2331720"/>
            <a:ext cx="3346704" cy="3246120"/>
          </a:xfrm>
          <a:prstGeom prst="roundRect">
            <a:avLst>
              <a:gd name="adj" fmla="val 2817"/>
            </a:avLst>
          </a:prstGeom>
          <a:solidFill>
            <a:srgbClr val="FFFFFF"/>
          </a:solidFill>
          <a:ln w="12700">
            <a:solidFill>
              <a:srgbClr val="DDE3DD"/>
            </a:solidFill>
            <a:prstDash val="solid"/>
          </a:ln>
          <a:effectLst>
            <a:outerShdw sx="100000" sy="100000" kx="0" ky="0" algn="bl" rotWithShape="0" blurRad="127000" dist="38100" dir="5400000">
              <a:srgbClr val="13182B">
                <a:alpha val="10000"/>
              </a:srgbClr>
            </a:outerShdw>
          </a:effectLst>
        </p:spPr>
      </p:sp>
      <p:sp>
        <p:nvSpPr>
          <p:cNvPr id="11" name="Shape 8"/>
          <p:cNvSpPr/>
          <p:nvPr/>
        </p:nvSpPr>
        <p:spPr>
          <a:xfrm>
            <a:off x="4443984" y="2624328"/>
            <a:ext cx="658368" cy="658368"/>
          </a:xfrm>
          <a:prstGeom prst="ellipse">
            <a:avLst/>
          </a:prstGeom>
          <a:solidFill>
            <a:srgbClr val="14532D"/>
          </a:solidFill>
          <a:ln/>
        </p:spPr>
      </p:sp>
      <p:pic>
        <p:nvPicPr>
          <p:cNvPr id="12" name="Image 1" descr="/home/claude/deck/icons/clock.png">    </p:cNvPr>
          <p:cNvPicPr>
            <a:picLocks noChangeAspect="1"/>
          </p:cNvPicPr>
          <p:nvPr/>
        </p:nvPicPr>
        <p:blipFill>
          <a:blip r:embed="rId2"/>
          <a:stretch>
            <a:fillRect/>
          </a:stretch>
        </p:blipFill>
        <p:spPr>
          <a:xfrm>
            <a:off x="4615160" y="2795504"/>
            <a:ext cx="316017" cy="316017"/>
          </a:xfrm>
          <a:prstGeom prst="rect">
            <a:avLst/>
          </a:prstGeom>
        </p:spPr>
      </p:pic>
      <p:sp>
        <p:nvSpPr>
          <p:cNvPr id="13" name="Text 9"/>
          <p:cNvSpPr txBox="1"/>
          <p:nvPr/>
        </p:nvSpPr>
        <p:spPr>
          <a:xfrm>
            <a:off x="4443984" y="3447288"/>
            <a:ext cx="2761488" cy="548640"/>
          </a:xfrm>
          <a:prstGeom prst="rect">
            <a:avLst/>
          </a:prstGeom>
          <a:noFill/>
          <a:ln/>
        </p:spPr>
        <p:txBody>
          <a:bodyPr wrap="square" lIns="0" tIns="0" rIns="0" bIns="0" rtlCol="0" anchor="ctr"/>
          <a:lstStyle/>
          <a:p>
            <a:pPr indent="0" marL="0">
              <a:buNone/>
            </a:pPr>
            <a:r>
              <a:rPr lang="en-US" sz="1700" b="1" dirty="0">
                <a:solidFill>
                  <a:srgbClr val="1B2420"/>
                </a:solidFill>
                <a:latin typeface="Cambria" pitchFamily="34" charset="0"/>
                <a:ea typeface="Cambria" pitchFamily="34" charset="-122"/>
                <a:cs typeface="Cambria" pitchFamily="34" charset="-120"/>
              </a:rPr>
              <a:t>No one has 90 minutes</a:t>
            </a:r>
            <a:endParaRPr lang="en-US" sz="1700" dirty="0"/>
          </a:p>
        </p:txBody>
      </p:sp>
      <p:sp>
        <p:nvSpPr>
          <p:cNvPr id="14" name="Text 10"/>
          <p:cNvSpPr txBox="1"/>
          <p:nvPr/>
        </p:nvSpPr>
        <p:spPr>
          <a:xfrm>
            <a:off x="4443984" y="4023360"/>
            <a:ext cx="2761488" cy="1371600"/>
          </a:xfrm>
          <a:prstGeom prst="rect">
            <a:avLst/>
          </a:prstGeom>
          <a:noFill/>
          <a:ln/>
        </p:spPr>
        <p:txBody>
          <a:bodyPr wrap="square" lIns="0" tIns="0" rIns="0" bIns="0" rtlCol="0" anchor="ctr"/>
          <a:lstStyle/>
          <a:p>
            <a:pPr indent="0" marL="0">
              <a:lnSpc>
                <a:spcPct val="115000"/>
              </a:lnSpc>
              <a:buNone/>
            </a:pPr>
            <a:r>
              <a:rPr lang="en-US" sz="1250" dirty="0">
                <a:solidFill>
                  <a:srgbClr val="5B6660"/>
                </a:solidFill>
                <a:latin typeface="Calibri" pitchFamily="34" charset="0"/>
                <a:ea typeface="Calibri" pitchFamily="34" charset="-122"/>
                <a:cs typeface="Calibri" pitchFamily="34" charset="-120"/>
              </a:rPr>
              <a:t>Coaches don’t have time to rewatch a full match to find every pass, shot and tackle.</a:t>
            </a:r>
            <a:endParaRPr lang="en-US" sz="1250" dirty="0"/>
          </a:p>
        </p:txBody>
      </p:sp>
      <p:sp>
        <p:nvSpPr>
          <p:cNvPr id="15" name="Shape 11"/>
          <p:cNvSpPr/>
          <p:nvPr/>
        </p:nvSpPr>
        <p:spPr>
          <a:xfrm>
            <a:off x="7754112" y="2331720"/>
            <a:ext cx="3346704" cy="3246120"/>
          </a:xfrm>
          <a:prstGeom prst="roundRect">
            <a:avLst>
              <a:gd name="adj" fmla="val 2817"/>
            </a:avLst>
          </a:prstGeom>
          <a:solidFill>
            <a:srgbClr val="FFFFFF"/>
          </a:solidFill>
          <a:ln w="12700">
            <a:solidFill>
              <a:srgbClr val="DDE3DD"/>
            </a:solidFill>
            <a:prstDash val="solid"/>
          </a:ln>
          <a:effectLst>
            <a:outerShdw sx="100000" sy="100000" kx="0" ky="0" algn="bl" rotWithShape="0" blurRad="127000" dist="38100" dir="5400000">
              <a:srgbClr val="13182B">
                <a:alpha val="10000"/>
              </a:srgbClr>
            </a:outerShdw>
          </a:effectLst>
        </p:spPr>
      </p:sp>
      <p:sp>
        <p:nvSpPr>
          <p:cNvPr id="16" name="Shape 12"/>
          <p:cNvSpPr/>
          <p:nvPr/>
        </p:nvSpPr>
        <p:spPr>
          <a:xfrm>
            <a:off x="8046720" y="2624328"/>
            <a:ext cx="658368" cy="658368"/>
          </a:xfrm>
          <a:prstGeom prst="ellipse">
            <a:avLst/>
          </a:prstGeom>
          <a:solidFill>
            <a:srgbClr val="14532D"/>
          </a:solidFill>
          <a:ln/>
        </p:spPr>
      </p:sp>
      <p:pic>
        <p:nvPicPr>
          <p:cNvPr id="17" name="Image 2" descr="/home/claude/deck/icons/fans.png">    </p:cNvPr>
          <p:cNvPicPr>
            <a:picLocks noChangeAspect="1"/>
          </p:cNvPicPr>
          <p:nvPr/>
        </p:nvPicPr>
        <p:blipFill>
          <a:blip r:embed="rId3"/>
          <a:stretch>
            <a:fillRect/>
          </a:stretch>
        </p:blipFill>
        <p:spPr>
          <a:xfrm>
            <a:off x="8217896" y="2795504"/>
            <a:ext cx="316017" cy="316017"/>
          </a:xfrm>
          <a:prstGeom prst="rect">
            <a:avLst/>
          </a:prstGeom>
        </p:spPr>
      </p:pic>
      <p:sp>
        <p:nvSpPr>
          <p:cNvPr id="18" name="Text 13"/>
          <p:cNvSpPr txBox="1"/>
          <p:nvPr/>
        </p:nvSpPr>
        <p:spPr>
          <a:xfrm>
            <a:off x="8046720" y="3447288"/>
            <a:ext cx="2761488" cy="548640"/>
          </a:xfrm>
          <a:prstGeom prst="rect">
            <a:avLst/>
          </a:prstGeom>
          <a:noFill/>
          <a:ln/>
        </p:spPr>
        <p:txBody>
          <a:bodyPr wrap="square" lIns="0" tIns="0" rIns="0" bIns="0" rtlCol="0" anchor="ctr"/>
          <a:lstStyle/>
          <a:p>
            <a:pPr indent="0" marL="0">
              <a:buNone/>
            </a:pPr>
            <a:r>
              <a:rPr lang="en-US" sz="1700" b="1" dirty="0">
                <a:solidFill>
                  <a:srgbClr val="1B2420"/>
                </a:solidFill>
                <a:latin typeface="Cambria" pitchFamily="34" charset="0"/>
                <a:ea typeface="Cambria" pitchFamily="34" charset="-122"/>
                <a:cs typeface="Cambria" pitchFamily="34" charset="-120"/>
              </a:rPr>
              <a:t>Fans get nothing back</a:t>
            </a:r>
            <a:endParaRPr lang="en-US" sz="1700" dirty="0"/>
          </a:p>
        </p:txBody>
      </p:sp>
      <p:sp>
        <p:nvSpPr>
          <p:cNvPr id="19" name="Text 14"/>
          <p:cNvSpPr txBox="1"/>
          <p:nvPr/>
        </p:nvSpPr>
        <p:spPr>
          <a:xfrm>
            <a:off x="8046720" y="4023360"/>
            <a:ext cx="2761488" cy="1371600"/>
          </a:xfrm>
          <a:prstGeom prst="rect">
            <a:avLst/>
          </a:prstGeom>
          <a:noFill/>
          <a:ln/>
        </p:spPr>
        <p:txBody>
          <a:bodyPr wrap="square" lIns="0" tIns="0" rIns="0" bIns="0" rtlCol="0" anchor="ctr"/>
          <a:lstStyle/>
          <a:p>
            <a:pPr indent="0" marL="0">
              <a:lnSpc>
                <a:spcPct val="115000"/>
              </a:lnSpc>
              <a:buNone/>
            </a:pPr>
            <a:r>
              <a:rPr lang="en-US" sz="1250" dirty="0">
                <a:solidFill>
                  <a:srgbClr val="5B6660"/>
                </a:solidFill>
                <a:latin typeface="Calibri" pitchFamily="34" charset="0"/>
                <a:ea typeface="Calibri" pitchFamily="34" charset="-122"/>
                <a:cs typeface="Calibri" pitchFamily="34" charset="-120"/>
              </a:rPr>
              <a:t>Parents and supporters never see a highlight reel, a stat, or a moment to share — the final whistle is the end of the story.</a:t>
            </a:r>
            <a:endParaRPr lang="en-US" sz="1250" dirty="0"/>
          </a:p>
        </p:txBody>
      </p:sp>
      <p:sp>
        <p:nvSpPr>
          <p:cNvPr id="20" name="Shape 15"/>
          <p:cNvSpPr/>
          <p:nvPr/>
        </p:nvSpPr>
        <p:spPr>
          <a:xfrm>
            <a:off x="548640" y="5806440"/>
            <a:ext cx="11091672" cy="685800"/>
          </a:xfrm>
          <a:prstGeom prst="roundRect">
            <a:avLst>
              <a:gd name="adj" fmla="val 13333"/>
            </a:avLst>
          </a:prstGeom>
          <a:solidFill>
            <a:srgbClr val="14532D"/>
          </a:solidFill>
          <a:ln/>
        </p:spPr>
      </p:sp>
      <p:sp>
        <p:nvSpPr>
          <p:cNvPr id="21" name="Text 16"/>
          <p:cNvSpPr txBox="1"/>
          <p:nvPr/>
        </p:nvSpPr>
        <p:spPr>
          <a:xfrm>
            <a:off x="822960" y="5806440"/>
            <a:ext cx="10607040" cy="685800"/>
          </a:xfrm>
          <a:prstGeom prst="rect">
            <a:avLst/>
          </a:prstGeom>
          <a:noFill/>
          <a:ln/>
        </p:spPr>
        <p:txBody>
          <a:bodyPr wrap="square" lIns="0" tIns="0" rIns="0" bIns="0" rtlCol="0" anchor="ctr"/>
          <a:lstStyle/>
          <a:p>
            <a:pPr indent="0" marL="0">
              <a:buNone/>
            </a:pPr>
            <a:r>
              <a:rPr lang="en-US" sz="1650" b="1" i="1" dirty="0">
                <a:solidFill>
                  <a:srgbClr val="FFFFFF"/>
                </a:solidFill>
                <a:latin typeface="Cambria" pitchFamily="34" charset="0"/>
                <a:ea typeface="Cambria" pitchFamily="34" charset="-122"/>
                <a:cs typeface="Cambria" pitchFamily="34" charset="-120"/>
              </a:rPr>
              <a:t>90 minutes of football. One camera. Zero highlights, zero stats — today.</a:t>
            </a:r>
            <a:endParaRPr lang="en-US" sz="1650" dirty="0"/>
          </a:p>
        </p:txBody>
      </p:sp>
      <p:sp>
        <p:nvSpPr>
          <p:cNvPr id="22" name="Text 17"/>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660"/>
                </a:solidFill>
                <a:latin typeface="Calibri" pitchFamily="34" charset="0"/>
                <a:ea typeface="Calibri" pitchFamily="34" charset="-122"/>
                <a:cs typeface="Calibri" pitchFamily="34" charset="-120"/>
              </a:rPr>
              <a:t>PitchVision  ·  PARC 2026 AI League</a:t>
            </a:r>
            <a:endParaRPr lang="en-US" sz="900" dirty="0"/>
          </a:p>
        </p:txBody>
      </p:sp>
      <p:sp>
        <p:nvSpPr>
          <p:cNvPr id="23" name="Text 18"/>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66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14532D"/>
                </a:solidFill>
                <a:latin typeface="Calibri" pitchFamily="34" charset="0"/>
                <a:ea typeface="Calibri" pitchFamily="34" charset="-122"/>
                <a:cs typeface="Calibri" pitchFamily="34" charset="-120"/>
              </a:rPr>
              <a:t>THE GAP WE FOUND</a:t>
            </a:r>
            <a:endParaRPr lang="en-US" sz="1250" dirty="0"/>
          </a:p>
        </p:txBody>
      </p:sp>
      <p:sp>
        <p:nvSpPr>
          <p:cNvPr id="3" name="Text 1"/>
          <p:cNvSpPr txBox="1"/>
          <p:nvPr/>
        </p:nvSpPr>
        <p:spPr>
          <a:xfrm>
            <a:off x="548640" y="658368"/>
            <a:ext cx="9601200" cy="658368"/>
          </a:xfrm>
          <a:prstGeom prst="rect">
            <a:avLst/>
          </a:prstGeom>
          <a:noFill/>
          <a:ln/>
        </p:spPr>
        <p:txBody>
          <a:bodyPr wrap="square" lIns="0" tIns="0" rIns="0" bIns="0" rtlCol="0" anchor="ctr"/>
          <a:lstStyle/>
          <a:p>
            <a:pPr indent="0" marL="0">
              <a:buNone/>
            </a:pPr>
            <a:r>
              <a:rPr lang="en-US" sz="3000" b="1" dirty="0">
                <a:solidFill>
                  <a:srgbClr val="1B2420"/>
                </a:solidFill>
                <a:latin typeface="Cambria" pitchFamily="34" charset="0"/>
                <a:ea typeface="Cambria" pitchFamily="34" charset="-122"/>
                <a:cs typeface="Cambria" pitchFamily="34" charset="-120"/>
              </a:rPr>
              <a:t>Every existing tool sells you a camera. We built software.</a:t>
            </a:r>
            <a:endParaRPr lang="en-US" sz="3000" dirty="0"/>
          </a:p>
        </p:txBody>
      </p:sp>
      <p:sp>
        <p:nvSpPr>
          <p:cNvPr id="4" name="Shape 2"/>
          <p:cNvSpPr/>
          <p:nvPr/>
        </p:nvSpPr>
        <p:spPr>
          <a:xfrm>
            <a:off x="548640" y="1481328"/>
            <a:ext cx="5349240" cy="3246120"/>
          </a:xfrm>
          <a:prstGeom prst="roundRect">
            <a:avLst>
              <a:gd name="adj" fmla="val 2817"/>
            </a:avLst>
          </a:prstGeom>
          <a:solidFill>
            <a:srgbClr val="EDEEEC"/>
          </a:solidFill>
          <a:ln/>
          <a:effectLst>
            <a:outerShdw sx="100000" sy="100000" kx="0" ky="0" algn="bl" rotWithShape="0" blurRad="127000" dist="38100" dir="5400000">
              <a:srgbClr val="13182B">
                <a:alpha val="10000"/>
              </a:srgbClr>
            </a:outerShdw>
          </a:effectLst>
        </p:spPr>
      </p:sp>
      <p:sp>
        <p:nvSpPr>
          <p:cNvPr id="5" name="Shape 3"/>
          <p:cNvSpPr/>
          <p:nvPr/>
        </p:nvSpPr>
        <p:spPr>
          <a:xfrm>
            <a:off x="868680" y="1755648"/>
            <a:ext cx="548640" cy="548640"/>
          </a:xfrm>
          <a:prstGeom prst="ellipse">
            <a:avLst/>
          </a:prstGeom>
          <a:solidFill>
            <a:srgbClr val="3A4440"/>
          </a:solidFill>
          <a:ln/>
        </p:spPr>
      </p:sp>
      <p:pic>
        <p:nvPicPr>
          <p:cNvPr id="6" name="Image 0" descr="/home/claude/deck/icons/lock.png">    </p:cNvPr>
          <p:cNvPicPr>
            <a:picLocks noChangeAspect="1"/>
          </p:cNvPicPr>
          <p:nvPr/>
        </p:nvPicPr>
        <p:blipFill>
          <a:blip r:embed="rId1"/>
          <a:stretch>
            <a:fillRect/>
          </a:stretch>
        </p:blipFill>
        <p:spPr>
          <a:xfrm>
            <a:off x="1011326" y="1898294"/>
            <a:ext cx="263347" cy="263347"/>
          </a:xfrm>
          <a:prstGeom prst="rect">
            <a:avLst/>
          </a:prstGeom>
        </p:spPr>
      </p:pic>
      <p:sp>
        <p:nvSpPr>
          <p:cNvPr id="7" name="Text 4"/>
          <p:cNvSpPr txBox="1"/>
          <p:nvPr/>
        </p:nvSpPr>
        <p:spPr>
          <a:xfrm>
            <a:off x="1600200" y="1801368"/>
            <a:ext cx="4114800" cy="457200"/>
          </a:xfrm>
          <a:prstGeom prst="rect">
            <a:avLst/>
          </a:prstGeom>
          <a:noFill/>
          <a:ln/>
        </p:spPr>
        <p:txBody>
          <a:bodyPr wrap="square" lIns="0" tIns="0" rIns="0" bIns="0" rtlCol="0" anchor="ctr"/>
          <a:lstStyle/>
          <a:p>
            <a:pPr indent="0" marL="0">
              <a:buNone/>
            </a:pPr>
            <a:r>
              <a:rPr lang="en-US" sz="1700" b="1" dirty="0">
                <a:solidFill>
                  <a:srgbClr val="1B2420"/>
                </a:solidFill>
                <a:latin typeface="Cambria" pitchFamily="34" charset="0"/>
                <a:ea typeface="Cambria" pitchFamily="34" charset="-122"/>
                <a:cs typeface="Cambria" pitchFamily="34" charset="-120"/>
              </a:rPr>
              <a:t>What exists today</a:t>
            </a:r>
            <a:endParaRPr lang="en-US" sz="1700" dirty="0"/>
          </a:p>
        </p:txBody>
      </p:sp>
      <p:sp>
        <p:nvSpPr>
          <p:cNvPr id="8" name="Text 5"/>
          <p:cNvSpPr txBox="1"/>
          <p:nvPr/>
        </p:nvSpPr>
        <p:spPr>
          <a:xfrm>
            <a:off x="868680" y="2532888"/>
            <a:ext cx="320040" cy="548640"/>
          </a:xfrm>
          <a:prstGeom prst="rect">
            <a:avLst/>
          </a:prstGeom>
          <a:noFill/>
          <a:ln/>
        </p:spPr>
        <p:txBody>
          <a:bodyPr wrap="square" lIns="0" tIns="0" rIns="0" bIns="0" rtlCol="0" anchor="ctr"/>
          <a:lstStyle/>
          <a:p>
            <a:pPr indent="0" marL="0">
              <a:buNone/>
            </a:pPr>
            <a:r>
              <a:rPr lang="en-US" sz="1500" b="1" dirty="0">
                <a:solidFill>
                  <a:srgbClr val="B3453D"/>
                </a:solidFill>
                <a:latin typeface="Calibri" pitchFamily="34" charset="0"/>
                <a:ea typeface="Calibri" pitchFamily="34" charset="-122"/>
                <a:cs typeface="Calibri" pitchFamily="34" charset="-120"/>
              </a:rPr>
              <a:t>✗</a:t>
            </a:r>
            <a:endParaRPr lang="en-US" sz="1500" dirty="0"/>
          </a:p>
        </p:txBody>
      </p:sp>
      <p:sp>
        <p:nvSpPr>
          <p:cNvPr id="9" name="Text 6"/>
          <p:cNvSpPr txBox="1"/>
          <p:nvPr/>
        </p:nvSpPr>
        <p:spPr>
          <a:xfrm>
            <a:off x="1207008" y="2505456"/>
            <a:ext cx="4434840" cy="594360"/>
          </a:xfrm>
          <a:prstGeom prst="rect">
            <a:avLst/>
          </a:prstGeom>
          <a:noFill/>
          <a:ln/>
        </p:spPr>
        <p:txBody>
          <a:bodyPr wrap="square" lIns="0" tIns="0" rIns="0" bIns="0" rtlCol="0" anchor="ctr"/>
          <a:lstStyle/>
          <a:p>
            <a:pPr indent="0" marL="0">
              <a:buNone/>
            </a:pPr>
            <a:r>
              <a:rPr lang="en-US" sz="1300" dirty="0">
                <a:solidFill>
                  <a:srgbClr val="3A4440"/>
                </a:solidFill>
                <a:latin typeface="Calibri" pitchFamily="34" charset="0"/>
                <a:ea typeface="Calibri" pitchFamily="34" charset="-122"/>
                <a:cs typeface="Calibri" pitchFamily="34" charset="-120"/>
              </a:rPr>
              <a:t>A dedicated $500+ auto-tracking camera is required</a:t>
            </a:r>
            <a:endParaRPr lang="en-US" sz="1300" dirty="0"/>
          </a:p>
        </p:txBody>
      </p:sp>
      <p:sp>
        <p:nvSpPr>
          <p:cNvPr id="10" name="Text 7"/>
          <p:cNvSpPr txBox="1"/>
          <p:nvPr/>
        </p:nvSpPr>
        <p:spPr>
          <a:xfrm>
            <a:off x="868680" y="3191256"/>
            <a:ext cx="320040" cy="548640"/>
          </a:xfrm>
          <a:prstGeom prst="rect">
            <a:avLst/>
          </a:prstGeom>
          <a:noFill/>
          <a:ln/>
        </p:spPr>
        <p:txBody>
          <a:bodyPr wrap="square" lIns="0" tIns="0" rIns="0" bIns="0" rtlCol="0" anchor="ctr"/>
          <a:lstStyle/>
          <a:p>
            <a:pPr indent="0" marL="0">
              <a:buNone/>
            </a:pPr>
            <a:r>
              <a:rPr lang="en-US" sz="1500" b="1" dirty="0">
                <a:solidFill>
                  <a:srgbClr val="B3453D"/>
                </a:solidFill>
                <a:latin typeface="Calibri" pitchFamily="34" charset="0"/>
                <a:ea typeface="Calibri" pitchFamily="34" charset="-122"/>
                <a:cs typeface="Calibri" pitchFamily="34" charset="-120"/>
              </a:rPr>
              <a:t>✗</a:t>
            </a:r>
            <a:endParaRPr lang="en-US" sz="1500" dirty="0"/>
          </a:p>
        </p:txBody>
      </p:sp>
      <p:sp>
        <p:nvSpPr>
          <p:cNvPr id="11" name="Text 8"/>
          <p:cNvSpPr txBox="1"/>
          <p:nvPr/>
        </p:nvSpPr>
        <p:spPr>
          <a:xfrm>
            <a:off x="1207008" y="3163824"/>
            <a:ext cx="4434840" cy="594360"/>
          </a:xfrm>
          <a:prstGeom prst="rect">
            <a:avLst/>
          </a:prstGeom>
          <a:noFill/>
          <a:ln/>
        </p:spPr>
        <p:txBody>
          <a:bodyPr wrap="square" lIns="0" tIns="0" rIns="0" bIns="0" rtlCol="0" anchor="ctr"/>
          <a:lstStyle/>
          <a:p>
            <a:pPr indent="0" marL="0">
              <a:buNone/>
            </a:pPr>
            <a:r>
              <a:rPr lang="en-US" sz="1300" dirty="0">
                <a:solidFill>
                  <a:srgbClr val="3A4440"/>
                </a:solidFill>
                <a:latin typeface="Calibri" pitchFamily="34" charset="0"/>
                <a:ea typeface="Calibri" pitchFamily="34" charset="-122"/>
                <a:cs typeface="Calibri" pitchFamily="34" charset="-120"/>
              </a:rPr>
              <a:t>Locked to a recurring monthly subscription</a:t>
            </a:r>
            <a:endParaRPr lang="en-US" sz="1300" dirty="0"/>
          </a:p>
        </p:txBody>
      </p:sp>
      <p:sp>
        <p:nvSpPr>
          <p:cNvPr id="12" name="Text 9"/>
          <p:cNvSpPr txBox="1"/>
          <p:nvPr/>
        </p:nvSpPr>
        <p:spPr>
          <a:xfrm>
            <a:off x="868680" y="3849624"/>
            <a:ext cx="320040" cy="548640"/>
          </a:xfrm>
          <a:prstGeom prst="rect">
            <a:avLst/>
          </a:prstGeom>
          <a:noFill/>
          <a:ln/>
        </p:spPr>
        <p:txBody>
          <a:bodyPr wrap="square" lIns="0" tIns="0" rIns="0" bIns="0" rtlCol="0" anchor="ctr"/>
          <a:lstStyle/>
          <a:p>
            <a:pPr indent="0" marL="0">
              <a:buNone/>
            </a:pPr>
            <a:r>
              <a:rPr lang="en-US" sz="1500" b="1" dirty="0">
                <a:solidFill>
                  <a:srgbClr val="B3453D"/>
                </a:solidFill>
                <a:latin typeface="Calibri" pitchFamily="34" charset="0"/>
                <a:ea typeface="Calibri" pitchFamily="34" charset="-122"/>
                <a:cs typeface="Calibri" pitchFamily="34" charset="-120"/>
              </a:rPr>
              <a:t>✗</a:t>
            </a:r>
            <a:endParaRPr lang="en-US" sz="1500" dirty="0"/>
          </a:p>
        </p:txBody>
      </p:sp>
      <p:sp>
        <p:nvSpPr>
          <p:cNvPr id="13" name="Text 10"/>
          <p:cNvSpPr txBox="1"/>
          <p:nvPr/>
        </p:nvSpPr>
        <p:spPr>
          <a:xfrm>
            <a:off x="1207008" y="3822192"/>
            <a:ext cx="4434840" cy="594360"/>
          </a:xfrm>
          <a:prstGeom prst="rect">
            <a:avLst/>
          </a:prstGeom>
          <a:noFill/>
          <a:ln/>
        </p:spPr>
        <p:txBody>
          <a:bodyPr wrap="square" lIns="0" tIns="0" rIns="0" bIns="0" rtlCol="0" anchor="ctr"/>
          <a:lstStyle/>
          <a:p>
            <a:pPr indent="0" marL="0">
              <a:buNone/>
            </a:pPr>
            <a:r>
              <a:rPr lang="en-US" sz="1300" dirty="0">
                <a:solidFill>
                  <a:srgbClr val="3A4440"/>
                </a:solidFill>
                <a:latin typeface="Calibri" pitchFamily="34" charset="0"/>
                <a:ea typeface="Calibri" pitchFamily="34" charset="-122"/>
                <a:cs typeface="Calibri" pitchFamily="34" charset="-120"/>
              </a:rPr>
              <a:t>Built for well-funded clubs and academies</a:t>
            </a:r>
            <a:endParaRPr lang="en-US" sz="1300" dirty="0"/>
          </a:p>
        </p:txBody>
      </p:sp>
      <p:sp>
        <p:nvSpPr>
          <p:cNvPr id="14" name="Shape 11"/>
          <p:cNvSpPr/>
          <p:nvPr/>
        </p:nvSpPr>
        <p:spPr>
          <a:xfrm>
            <a:off x="6080760" y="1481328"/>
            <a:ext cx="5349240" cy="3246120"/>
          </a:xfrm>
          <a:prstGeom prst="roundRect">
            <a:avLst>
              <a:gd name="adj" fmla="val 2817"/>
            </a:avLst>
          </a:prstGeom>
          <a:solidFill>
            <a:srgbClr val="14532D"/>
          </a:solidFill>
          <a:ln/>
          <a:effectLst>
            <a:outerShdw sx="100000" sy="100000" kx="0" ky="0" algn="bl" rotWithShape="0" blurRad="127000" dist="38100" dir="5400000">
              <a:srgbClr val="13182B">
                <a:alpha val="10000"/>
              </a:srgbClr>
            </a:outerShdw>
          </a:effectLst>
        </p:spPr>
      </p:sp>
      <p:sp>
        <p:nvSpPr>
          <p:cNvPr id="15" name="Shape 12"/>
          <p:cNvSpPr/>
          <p:nvPr/>
        </p:nvSpPr>
        <p:spPr>
          <a:xfrm>
            <a:off x="6400800" y="1755648"/>
            <a:ext cx="548640" cy="548640"/>
          </a:xfrm>
          <a:prstGeom prst="ellipse">
            <a:avLst/>
          </a:prstGeom>
          <a:solidFill>
            <a:srgbClr val="1E7A45"/>
          </a:solidFill>
          <a:ln/>
        </p:spPr>
      </p:sp>
      <p:pic>
        <p:nvPicPr>
          <p:cNvPr id="16" name="Image 1" descr="/home/claude/deck/icons/phone.png">    </p:cNvPr>
          <p:cNvPicPr>
            <a:picLocks noChangeAspect="1"/>
          </p:cNvPicPr>
          <p:nvPr/>
        </p:nvPicPr>
        <p:blipFill>
          <a:blip r:embed="rId2"/>
          <a:stretch>
            <a:fillRect/>
          </a:stretch>
        </p:blipFill>
        <p:spPr>
          <a:xfrm>
            <a:off x="6543446" y="1898294"/>
            <a:ext cx="263347" cy="263347"/>
          </a:xfrm>
          <a:prstGeom prst="rect">
            <a:avLst/>
          </a:prstGeom>
        </p:spPr>
      </p:pic>
      <p:sp>
        <p:nvSpPr>
          <p:cNvPr id="17" name="Text 13"/>
          <p:cNvSpPr txBox="1"/>
          <p:nvPr/>
        </p:nvSpPr>
        <p:spPr>
          <a:xfrm>
            <a:off x="7132320" y="1801368"/>
            <a:ext cx="411480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PitchVision</a:t>
            </a:r>
            <a:endParaRPr lang="en-US" sz="1700" dirty="0"/>
          </a:p>
        </p:txBody>
      </p:sp>
      <p:sp>
        <p:nvSpPr>
          <p:cNvPr id="18" name="Shape 14"/>
          <p:cNvSpPr/>
          <p:nvPr/>
        </p:nvSpPr>
        <p:spPr>
          <a:xfrm>
            <a:off x="6400800" y="2468880"/>
            <a:ext cx="292608" cy="292608"/>
          </a:xfrm>
          <a:prstGeom prst="ellipse">
            <a:avLst/>
          </a:prstGeom>
          <a:solidFill>
            <a:srgbClr val="F0A83C"/>
          </a:solidFill>
          <a:ln/>
        </p:spPr>
      </p:sp>
      <p:pic>
        <p:nvPicPr>
          <p:cNvPr id="19" name="Image 2" descr="/home/claude/deck/icons/check.png">    </p:cNvPr>
          <p:cNvPicPr>
            <a:picLocks noChangeAspect="1"/>
          </p:cNvPicPr>
          <p:nvPr/>
        </p:nvPicPr>
        <p:blipFill>
          <a:blip r:embed="rId3"/>
          <a:stretch>
            <a:fillRect/>
          </a:stretch>
        </p:blipFill>
        <p:spPr>
          <a:xfrm>
            <a:off x="6476878" y="2544958"/>
            <a:ext cx="140452" cy="140452"/>
          </a:xfrm>
          <a:prstGeom prst="rect">
            <a:avLst/>
          </a:prstGeom>
        </p:spPr>
      </p:pic>
      <p:sp>
        <p:nvSpPr>
          <p:cNvPr id="20" name="Text 15"/>
          <p:cNvSpPr txBox="1"/>
          <p:nvPr/>
        </p:nvSpPr>
        <p:spPr>
          <a:xfrm>
            <a:off x="6784848" y="2468880"/>
            <a:ext cx="4480560" cy="5943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Works with any camera you already own — even a phone</a:t>
            </a:r>
            <a:endParaRPr lang="en-US" sz="1300" dirty="0"/>
          </a:p>
        </p:txBody>
      </p:sp>
      <p:sp>
        <p:nvSpPr>
          <p:cNvPr id="21" name="Shape 16"/>
          <p:cNvSpPr/>
          <p:nvPr/>
        </p:nvSpPr>
        <p:spPr>
          <a:xfrm>
            <a:off x="6400800" y="3127248"/>
            <a:ext cx="292608" cy="292608"/>
          </a:xfrm>
          <a:prstGeom prst="ellipse">
            <a:avLst/>
          </a:prstGeom>
          <a:solidFill>
            <a:srgbClr val="F0A83C"/>
          </a:solidFill>
          <a:ln/>
        </p:spPr>
      </p:sp>
      <p:pic>
        <p:nvPicPr>
          <p:cNvPr id="22" name="Image 3" descr="/home/claude/deck/icons/check.png">    </p:cNvPr>
          <p:cNvPicPr>
            <a:picLocks noChangeAspect="1"/>
          </p:cNvPicPr>
          <p:nvPr/>
        </p:nvPicPr>
        <p:blipFill>
          <a:blip r:embed="rId4"/>
          <a:stretch>
            <a:fillRect/>
          </a:stretch>
        </p:blipFill>
        <p:spPr>
          <a:xfrm>
            <a:off x="6476878" y="3203326"/>
            <a:ext cx="140452" cy="140452"/>
          </a:xfrm>
          <a:prstGeom prst="rect">
            <a:avLst/>
          </a:prstGeom>
        </p:spPr>
      </p:pic>
      <p:sp>
        <p:nvSpPr>
          <p:cNvPr id="23" name="Text 17"/>
          <p:cNvSpPr txBox="1"/>
          <p:nvPr/>
        </p:nvSpPr>
        <p:spPr>
          <a:xfrm>
            <a:off x="6784848" y="3127248"/>
            <a:ext cx="4480560" cy="5943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Software-only: no proprietary hardware, ever</a:t>
            </a:r>
            <a:endParaRPr lang="en-US" sz="1300" dirty="0"/>
          </a:p>
        </p:txBody>
      </p:sp>
      <p:sp>
        <p:nvSpPr>
          <p:cNvPr id="24" name="Shape 18"/>
          <p:cNvSpPr/>
          <p:nvPr/>
        </p:nvSpPr>
        <p:spPr>
          <a:xfrm>
            <a:off x="6400800" y="3785616"/>
            <a:ext cx="292608" cy="292608"/>
          </a:xfrm>
          <a:prstGeom prst="ellipse">
            <a:avLst/>
          </a:prstGeom>
          <a:solidFill>
            <a:srgbClr val="F0A83C"/>
          </a:solidFill>
          <a:ln/>
        </p:spPr>
      </p:sp>
      <p:pic>
        <p:nvPicPr>
          <p:cNvPr id="25" name="Image 4" descr="/home/claude/deck/icons/check.png">    </p:cNvPr>
          <p:cNvPicPr>
            <a:picLocks noChangeAspect="1"/>
          </p:cNvPicPr>
          <p:nvPr/>
        </p:nvPicPr>
        <p:blipFill>
          <a:blip r:embed="rId5"/>
          <a:stretch>
            <a:fillRect/>
          </a:stretch>
        </p:blipFill>
        <p:spPr>
          <a:xfrm>
            <a:off x="6476878" y="3861694"/>
            <a:ext cx="140452" cy="140452"/>
          </a:xfrm>
          <a:prstGeom prst="rect">
            <a:avLst/>
          </a:prstGeom>
        </p:spPr>
      </p:pic>
      <p:sp>
        <p:nvSpPr>
          <p:cNvPr id="26" name="Text 19"/>
          <p:cNvSpPr txBox="1"/>
          <p:nvPr/>
        </p:nvSpPr>
        <p:spPr>
          <a:xfrm>
            <a:off x="6784848" y="3785616"/>
            <a:ext cx="4480560" cy="5943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No subscription lock-in to use your own footage</a:t>
            </a:r>
            <a:endParaRPr lang="en-US" sz="1300" dirty="0"/>
          </a:p>
        </p:txBody>
      </p:sp>
      <p:sp>
        <p:nvSpPr>
          <p:cNvPr id="27" name="Shape 20"/>
          <p:cNvSpPr/>
          <p:nvPr/>
        </p:nvSpPr>
        <p:spPr>
          <a:xfrm>
            <a:off x="548640" y="4983480"/>
            <a:ext cx="11091672" cy="1234440"/>
          </a:xfrm>
          <a:prstGeom prst="roundRect">
            <a:avLst>
              <a:gd name="adj" fmla="val 7407"/>
            </a:avLst>
          </a:prstGeom>
          <a:solidFill>
            <a:srgbClr val="F3F6F2"/>
          </a:solidFill>
          <a:ln/>
        </p:spPr>
      </p:sp>
      <p:sp>
        <p:nvSpPr>
          <p:cNvPr id="28" name="Text 21"/>
          <p:cNvSpPr txBox="1"/>
          <p:nvPr/>
        </p:nvSpPr>
        <p:spPr>
          <a:xfrm>
            <a:off x="868680" y="4983480"/>
            <a:ext cx="10469880" cy="731520"/>
          </a:xfrm>
          <a:prstGeom prst="rect">
            <a:avLst/>
          </a:prstGeom>
          <a:noFill/>
          <a:ln/>
        </p:spPr>
        <p:txBody>
          <a:bodyPr wrap="square" lIns="0" tIns="0" rIns="0" bIns="0" rtlCol="0" anchor="ctr"/>
          <a:lstStyle/>
          <a:p>
            <a:pPr indent="0" marL="0">
              <a:buNone/>
            </a:pPr>
            <a:r>
              <a:rPr lang="en-US" sz="1550" b="1" i="1" dirty="0">
                <a:solidFill>
                  <a:srgbClr val="14532D"/>
                </a:solidFill>
                <a:latin typeface="Cambria" pitchFamily="34" charset="0"/>
                <a:ea typeface="Cambria" pitchFamily="34" charset="-122"/>
                <a:cs typeface="Cambria" pitchFamily="34" charset="-120"/>
              </a:rPr>
              <a:t>The gap: software-only automatic event spotting that runs on a single ordinary camera or a phone recording — no proprietary hardware, no subscription lock-in.</a:t>
            </a:r>
            <a:endParaRPr lang="en-US" sz="1550" dirty="0"/>
          </a:p>
        </p:txBody>
      </p:sp>
      <p:sp>
        <p:nvSpPr>
          <p:cNvPr id="29" name="Text 22"/>
          <p:cNvSpPr txBox="1"/>
          <p:nvPr/>
        </p:nvSpPr>
        <p:spPr>
          <a:xfrm>
            <a:off x="868680" y="5669280"/>
            <a:ext cx="10469880" cy="457200"/>
          </a:xfrm>
          <a:prstGeom prst="rect">
            <a:avLst/>
          </a:prstGeom>
          <a:noFill/>
          <a:ln/>
        </p:spPr>
        <p:txBody>
          <a:bodyPr wrap="square" lIns="0" tIns="0" rIns="0" bIns="0" rtlCol="0" anchor="ctr"/>
          <a:lstStyle/>
          <a:p>
            <a:pPr indent="0" marL="0">
              <a:buNone/>
            </a:pPr>
            <a:r>
              <a:rPr lang="en-US" sz="1250" dirty="0">
                <a:solidFill>
                  <a:srgbClr val="5B6660"/>
                </a:solidFill>
                <a:latin typeface="Calibri" pitchFamily="34" charset="0"/>
                <a:ea typeface="Calibri" pitchFamily="34" charset="-122"/>
                <a:cs typeface="Calibri" pitchFamily="34" charset="-120"/>
              </a:rPr>
              <a:t>Built for coaches and analysts — and, just as importantly, for the players and fans who simply want to relive the game.</a:t>
            </a:r>
            <a:endParaRPr lang="en-US" sz="1250" dirty="0"/>
          </a:p>
        </p:txBody>
      </p:sp>
      <p:sp>
        <p:nvSpPr>
          <p:cNvPr id="30" name="Text 2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660"/>
                </a:solidFill>
                <a:latin typeface="Calibri" pitchFamily="34" charset="0"/>
                <a:ea typeface="Calibri" pitchFamily="34" charset="-122"/>
                <a:cs typeface="Calibri" pitchFamily="34" charset="-120"/>
              </a:rPr>
              <a:t>PitchVision  ·  PARC 2026 AI League</a:t>
            </a:r>
            <a:endParaRPr lang="en-US" sz="900" dirty="0"/>
          </a:p>
        </p:txBody>
      </p:sp>
      <p:sp>
        <p:nvSpPr>
          <p:cNvPr id="31" name="Text 24"/>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66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14532D"/>
                </a:solidFill>
                <a:latin typeface="Calibri" pitchFamily="34" charset="0"/>
                <a:ea typeface="Calibri" pitchFamily="34" charset="-122"/>
                <a:cs typeface="Calibri" pitchFamily="34" charset="-120"/>
              </a:rPr>
              <a:t>1 · LEARNING TASK &amp; RESEARCH QUESTION</a:t>
            </a:r>
            <a:endParaRPr lang="en-US" sz="1250" dirty="0"/>
          </a:p>
        </p:txBody>
      </p:sp>
      <p:sp>
        <p:nvSpPr>
          <p:cNvPr id="3" name="Text 1"/>
          <p:cNvSpPr txBox="1"/>
          <p:nvPr/>
        </p:nvSpPr>
        <p:spPr>
          <a:xfrm>
            <a:off x="548640" y="658368"/>
            <a:ext cx="9601200" cy="658368"/>
          </a:xfrm>
          <a:prstGeom prst="rect">
            <a:avLst/>
          </a:prstGeom>
          <a:noFill/>
          <a:ln/>
        </p:spPr>
        <p:txBody>
          <a:bodyPr wrap="square" lIns="0" tIns="0" rIns="0" bIns="0" rtlCol="0" anchor="ctr"/>
          <a:lstStyle/>
          <a:p>
            <a:pPr indent="0" marL="0">
              <a:buNone/>
            </a:pPr>
            <a:r>
              <a:rPr lang="en-US" sz="3000" b="1" dirty="0">
                <a:solidFill>
                  <a:srgbClr val="1B2420"/>
                </a:solidFill>
                <a:latin typeface="Cambria" pitchFamily="34" charset="0"/>
                <a:ea typeface="Cambria" pitchFamily="34" charset="-122"/>
                <a:cs typeface="Cambria" pitchFamily="34" charset="-120"/>
              </a:rPr>
              <a:t>Not “when does the play happen” — “when, exactly, does the ball do something?”</a:t>
            </a:r>
            <a:endParaRPr lang="en-US" sz="3000" dirty="0"/>
          </a:p>
        </p:txBody>
      </p:sp>
      <p:sp>
        <p:nvSpPr>
          <p:cNvPr id="4" name="Shape 2"/>
          <p:cNvSpPr/>
          <p:nvPr/>
        </p:nvSpPr>
        <p:spPr>
          <a:xfrm>
            <a:off x="548640" y="1481328"/>
            <a:ext cx="6400800" cy="1920240"/>
          </a:xfrm>
          <a:prstGeom prst="roundRect">
            <a:avLst>
              <a:gd name="adj" fmla="val 4762"/>
            </a:avLst>
          </a:prstGeom>
          <a:solidFill>
            <a:srgbClr val="F3F6F2"/>
          </a:solidFill>
          <a:ln/>
          <a:effectLst>
            <a:outerShdw sx="100000" sy="100000" kx="0" ky="0" algn="bl" rotWithShape="0" blurRad="127000" dist="38100" dir="5400000">
              <a:srgbClr val="13182B">
                <a:alpha val="10000"/>
              </a:srgbClr>
            </a:outerShdw>
          </a:effectLst>
        </p:spPr>
      </p:sp>
      <p:sp>
        <p:nvSpPr>
          <p:cNvPr id="5" name="Text 3"/>
          <p:cNvSpPr txBox="1"/>
          <p:nvPr/>
        </p:nvSpPr>
        <p:spPr>
          <a:xfrm>
            <a:off x="822960" y="1664208"/>
            <a:ext cx="5852160" cy="365760"/>
          </a:xfrm>
          <a:prstGeom prst="rect">
            <a:avLst/>
          </a:prstGeom>
          <a:noFill/>
          <a:ln/>
        </p:spPr>
        <p:txBody>
          <a:bodyPr wrap="square" lIns="0" tIns="0" rIns="0" bIns="0" rtlCol="0" anchor="ctr"/>
          <a:lstStyle/>
          <a:p>
            <a:pPr indent="0" marL="0">
              <a:buNone/>
            </a:pPr>
            <a:r>
              <a:rPr lang="en-US" sz="1600" b="1" dirty="0">
                <a:solidFill>
                  <a:srgbClr val="14532D"/>
                </a:solidFill>
                <a:latin typeface="Cambria" pitchFamily="34" charset="0"/>
                <a:ea typeface="Cambria" pitchFamily="34" charset="-122"/>
                <a:cs typeface="Cambria" pitchFamily="34" charset="-120"/>
              </a:rPr>
              <a:t>The task: action spotting</a:t>
            </a:r>
            <a:endParaRPr lang="en-US" sz="1600" dirty="0"/>
          </a:p>
        </p:txBody>
      </p:sp>
      <p:sp>
        <p:nvSpPr>
          <p:cNvPr id="6" name="Text 4"/>
          <p:cNvSpPr txBox="1"/>
          <p:nvPr/>
        </p:nvSpPr>
        <p:spPr>
          <a:xfrm>
            <a:off x="822960" y="2029968"/>
            <a:ext cx="5852160" cy="1280160"/>
          </a:xfrm>
          <a:prstGeom prst="rect">
            <a:avLst/>
          </a:prstGeom>
          <a:noFill/>
          <a:ln/>
        </p:spPr>
        <p:txBody>
          <a:bodyPr wrap="square" lIns="0" tIns="0" rIns="0" bIns="0" rtlCol="0" anchor="ctr"/>
          <a:lstStyle/>
          <a:p>
            <a:pPr indent="0" marL="0">
              <a:lnSpc>
                <a:spcPct val="118000"/>
              </a:lnSpc>
              <a:buNone/>
            </a:pPr>
            <a:r>
              <a:rPr lang="en-US" sz="1300" dirty="0">
                <a:solidFill>
                  <a:srgbClr val="5B6660"/>
                </a:solidFill>
                <a:latin typeface="Calibri" pitchFamily="34" charset="0"/>
                <a:ea typeface="Calibri" pitchFamily="34" charset="-122"/>
                <a:cs typeface="Calibri" pitchFamily="34" charset="-120"/>
              </a:rPr>
              <a:t>Most video AI looks for a clip’s start and end. Soccer events — a pass, a shot, a tackle — are not clips; they happen in an instant. Our model watches the match and drops a single timestamped pin on every event, in one of 12 categories.</a:t>
            </a:r>
            <a:endParaRPr lang="en-US" sz="1300" dirty="0"/>
          </a:p>
        </p:txBody>
      </p:sp>
      <p:sp>
        <p:nvSpPr>
          <p:cNvPr id="7" name="Shape 5"/>
          <p:cNvSpPr/>
          <p:nvPr/>
        </p:nvSpPr>
        <p:spPr>
          <a:xfrm>
            <a:off x="7223760" y="1481328"/>
            <a:ext cx="1965960" cy="1920240"/>
          </a:xfrm>
          <a:prstGeom prst="roundRect">
            <a:avLst>
              <a:gd name="adj" fmla="val 4762"/>
            </a:avLst>
          </a:prstGeom>
          <a:solidFill>
            <a:srgbClr val="14532D"/>
          </a:solidFill>
          <a:ln/>
        </p:spPr>
      </p:sp>
      <p:sp>
        <p:nvSpPr>
          <p:cNvPr id="8" name="Text 6"/>
          <p:cNvSpPr txBox="1"/>
          <p:nvPr/>
        </p:nvSpPr>
        <p:spPr>
          <a:xfrm>
            <a:off x="7223760" y="1783080"/>
            <a:ext cx="196596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12</a:t>
            </a:r>
            <a:endParaRPr lang="en-US" sz="3000" dirty="0"/>
          </a:p>
        </p:txBody>
      </p:sp>
      <p:sp>
        <p:nvSpPr>
          <p:cNvPr id="9" name="Text 7"/>
          <p:cNvSpPr txBox="1"/>
          <p:nvPr/>
        </p:nvSpPr>
        <p:spPr>
          <a:xfrm>
            <a:off x="7223760" y="2468880"/>
            <a:ext cx="1965960" cy="457200"/>
          </a:xfrm>
          <a:prstGeom prst="rect">
            <a:avLst/>
          </a:prstGeom>
          <a:noFill/>
          <a:ln/>
        </p:spPr>
        <p:txBody>
          <a:bodyPr wrap="square" lIns="0" tIns="0" rIns="0" bIns="0" rtlCol="0" anchor="ctr"/>
          <a:lstStyle/>
          <a:p>
            <a:pPr algn="ctr" indent="0" marL="0">
              <a:buNone/>
            </a:pPr>
            <a:r>
              <a:rPr lang="en-US" sz="1150" dirty="0">
                <a:solidFill>
                  <a:srgbClr val="D8E6DC"/>
                </a:solidFill>
                <a:latin typeface="Calibri" pitchFamily="34" charset="0"/>
                <a:ea typeface="Calibri" pitchFamily="34" charset="-122"/>
                <a:cs typeface="Calibri" pitchFamily="34" charset="-120"/>
              </a:rPr>
              <a:t>event classes</a:t>
            </a:r>
            <a:endParaRPr lang="en-US" sz="1150" dirty="0"/>
          </a:p>
        </p:txBody>
      </p:sp>
      <p:sp>
        <p:nvSpPr>
          <p:cNvPr id="10" name="Shape 8"/>
          <p:cNvSpPr/>
          <p:nvPr/>
        </p:nvSpPr>
        <p:spPr>
          <a:xfrm>
            <a:off x="9372600" y="1481328"/>
            <a:ext cx="1965960" cy="1920240"/>
          </a:xfrm>
          <a:prstGeom prst="roundRect">
            <a:avLst>
              <a:gd name="adj" fmla="val 4762"/>
            </a:avLst>
          </a:prstGeom>
          <a:solidFill>
            <a:srgbClr val="14532D"/>
          </a:solidFill>
          <a:ln/>
        </p:spPr>
      </p:sp>
      <p:sp>
        <p:nvSpPr>
          <p:cNvPr id="11" name="Text 9"/>
          <p:cNvSpPr txBox="1"/>
          <p:nvPr/>
        </p:nvSpPr>
        <p:spPr>
          <a:xfrm>
            <a:off x="9372600" y="1783080"/>
            <a:ext cx="196596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 / sec</a:t>
            </a:r>
            <a:endParaRPr lang="en-US" sz="3000" dirty="0"/>
          </a:p>
        </p:txBody>
      </p:sp>
      <p:sp>
        <p:nvSpPr>
          <p:cNvPr id="12" name="Text 10"/>
          <p:cNvSpPr txBox="1"/>
          <p:nvPr/>
        </p:nvSpPr>
        <p:spPr>
          <a:xfrm>
            <a:off x="9372600" y="2468880"/>
            <a:ext cx="1965960" cy="457200"/>
          </a:xfrm>
          <a:prstGeom prst="rect">
            <a:avLst/>
          </a:prstGeom>
          <a:noFill/>
          <a:ln/>
        </p:spPr>
        <p:txBody>
          <a:bodyPr wrap="square" lIns="0" tIns="0" rIns="0" bIns="0" rtlCol="0" anchor="ctr"/>
          <a:lstStyle/>
          <a:p>
            <a:pPr algn="ctr" indent="0" marL="0">
              <a:buNone/>
            </a:pPr>
            <a:r>
              <a:rPr lang="en-US" sz="1150" dirty="0">
                <a:solidFill>
                  <a:srgbClr val="D8E6DC"/>
                </a:solidFill>
                <a:latin typeface="Calibri" pitchFamily="34" charset="0"/>
                <a:ea typeface="Calibri" pitchFamily="34" charset="-122"/>
                <a:cs typeface="Calibri" pitchFamily="34" charset="-120"/>
              </a:rPr>
              <a:t>sampling rate</a:t>
            </a:r>
            <a:endParaRPr lang="en-US" sz="1150" dirty="0"/>
          </a:p>
        </p:txBody>
      </p:sp>
      <p:sp>
        <p:nvSpPr>
          <p:cNvPr id="13" name="Shape 11"/>
          <p:cNvSpPr/>
          <p:nvPr/>
        </p:nvSpPr>
        <p:spPr>
          <a:xfrm>
            <a:off x="548640" y="3611880"/>
            <a:ext cx="11091672" cy="1417320"/>
          </a:xfrm>
          <a:prstGeom prst="roundRect">
            <a:avLst>
              <a:gd name="adj" fmla="val 6452"/>
            </a:avLst>
          </a:prstGeom>
          <a:solidFill>
            <a:srgbClr val="13182B"/>
          </a:solidFill>
          <a:ln/>
          <a:effectLst>
            <a:outerShdw sx="100000" sy="100000" kx="0" ky="0" algn="bl" rotWithShape="0" blurRad="127000" dist="38100" dir="5400000">
              <a:srgbClr val="13182B">
                <a:alpha val="10000"/>
              </a:srgbClr>
            </a:outerShdw>
          </a:effectLst>
        </p:spPr>
      </p:sp>
      <p:sp>
        <p:nvSpPr>
          <p:cNvPr id="14" name="Shape 12"/>
          <p:cNvSpPr/>
          <p:nvPr/>
        </p:nvSpPr>
        <p:spPr>
          <a:xfrm>
            <a:off x="841248" y="3840480"/>
            <a:ext cx="502920" cy="502920"/>
          </a:xfrm>
          <a:prstGeom prst="ellipse">
            <a:avLst/>
          </a:prstGeom>
          <a:solidFill>
            <a:srgbClr val="F0A83C"/>
          </a:solidFill>
          <a:ln/>
        </p:spPr>
      </p:sp>
      <p:pic>
        <p:nvPicPr>
          <p:cNvPr id="15" name="Image 0" descr="/home/claude/deck/icons/question.png">    </p:cNvPr>
          <p:cNvPicPr>
            <a:picLocks noChangeAspect="1"/>
          </p:cNvPicPr>
          <p:nvPr/>
        </p:nvPicPr>
        <p:blipFill>
          <a:blip r:embed="rId1"/>
          <a:stretch>
            <a:fillRect/>
          </a:stretch>
        </p:blipFill>
        <p:spPr>
          <a:xfrm>
            <a:off x="972007" y="3971239"/>
            <a:ext cx="241402" cy="241402"/>
          </a:xfrm>
          <a:prstGeom prst="rect">
            <a:avLst/>
          </a:prstGeom>
        </p:spPr>
      </p:pic>
      <p:sp>
        <p:nvSpPr>
          <p:cNvPr id="16" name="Text 13"/>
          <p:cNvSpPr txBox="1"/>
          <p:nvPr/>
        </p:nvSpPr>
        <p:spPr>
          <a:xfrm>
            <a:off x="1508760" y="3840480"/>
            <a:ext cx="5486400" cy="320040"/>
          </a:xfrm>
          <a:prstGeom prst="rect">
            <a:avLst/>
          </a:prstGeom>
          <a:noFill/>
          <a:ln/>
        </p:spPr>
        <p:txBody>
          <a:bodyPr wrap="square" lIns="0" tIns="0" rIns="0" bIns="0" rtlCol="0" anchor="ctr"/>
          <a:lstStyle/>
          <a:p>
            <a:pPr indent="0" marL="0">
              <a:buNone/>
            </a:pPr>
            <a:r>
              <a:rPr lang="en-US" sz="1250" b="1" spc="100" kern="0" dirty="0">
                <a:solidFill>
                  <a:srgbClr val="F0A83C"/>
                </a:solidFill>
                <a:latin typeface="Calibri" pitchFamily="34" charset="0"/>
                <a:ea typeface="Calibri" pitchFamily="34" charset="-122"/>
                <a:cs typeface="Calibri" pitchFamily="34" charset="-120"/>
              </a:rPr>
              <a:t>Our research question</a:t>
            </a:r>
            <a:endParaRPr lang="en-US" sz="1250" dirty="0"/>
          </a:p>
        </p:txBody>
      </p:sp>
      <p:sp>
        <p:nvSpPr>
          <p:cNvPr id="17" name="Text 14"/>
          <p:cNvSpPr txBox="1"/>
          <p:nvPr/>
        </p:nvSpPr>
        <p:spPr>
          <a:xfrm>
            <a:off x="1508760" y="4160520"/>
            <a:ext cx="9784080" cy="777240"/>
          </a:xfrm>
          <a:prstGeom prst="rect">
            <a:avLst/>
          </a:prstGeom>
          <a:noFill/>
          <a:ln/>
        </p:spPr>
        <p:txBody>
          <a:bodyPr wrap="square" lIns="0" tIns="0" rIns="0" bIns="0" rtlCol="0" anchor="ctr"/>
          <a:lstStyle/>
          <a:p>
            <a:pPr indent="0" marL="0">
              <a:lnSpc>
                <a:spcPct val="115000"/>
              </a:lnSpc>
              <a:buNone/>
            </a:pPr>
            <a:r>
              <a:rPr lang="en-US" sz="1650" i="1" dirty="0">
                <a:solidFill>
                  <a:srgbClr val="FFFFFF"/>
                </a:solidFill>
                <a:latin typeface="Cambria" pitchFamily="34" charset="0"/>
                <a:ea typeface="Cambria" pitchFamily="34" charset="-122"/>
                <a:cs typeface="Cambria" pitchFamily="34" charset="-120"/>
              </a:rPr>
              <a:t>“How much video context should the model look at around each moment to spot it well — and does the best answer change depending on how strict we are about being on time?”</a:t>
            </a:r>
            <a:endParaRPr lang="en-US" sz="1650" dirty="0"/>
          </a:p>
        </p:txBody>
      </p:sp>
      <p:sp>
        <p:nvSpPr>
          <p:cNvPr id="18" name="Text 15"/>
          <p:cNvSpPr txBox="1"/>
          <p:nvPr/>
        </p:nvSpPr>
        <p:spPr>
          <a:xfrm>
            <a:off x="548640" y="5230368"/>
            <a:ext cx="11091672" cy="685800"/>
          </a:xfrm>
          <a:prstGeom prst="rect">
            <a:avLst/>
          </a:prstGeom>
          <a:noFill/>
          <a:ln/>
        </p:spPr>
        <p:txBody>
          <a:bodyPr wrap="square" lIns="0" tIns="0" rIns="0" bIns="0" rtlCol="0" anchor="ctr"/>
          <a:lstStyle/>
          <a:p>
            <a:pPr indent="0" marL="0">
              <a:lnSpc>
                <a:spcPct val="120000"/>
              </a:lnSpc>
              <a:buNone/>
            </a:pPr>
            <a:r>
              <a:rPr lang="en-US" sz="1200" b="1" dirty="0">
                <a:solidFill>
                  <a:srgbClr val="14532D"/>
                </a:solidFill>
                <a:latin typeface="Calibri" pitchFamily="34" charset="0"/>
                <a:ea typeface="Calibri" pitchFamily="34" charset="-122"/>
                <a:cs typeface="Calibri" pitchFamily="34" charset="-120"/>
              </a:rPr>
              <a:t>Formally: </a:t>
            </a:r>
            <a:pPr indent="0" marL="0">
              <a:lnSpc>
                <a:spcPct val="120000"/>
              </a:lnSpc>
              <a:buNone/>
            </a:pPr>
            <a:r>
              <a:rPr lang="en-US" sz="1200" dirty="0">
                <a:solidFill>
                  <a:srgbClr val="5B6660"/>
                </a:solidFill>
                <a:latin typeface="Calibri" pitchFamily="34" charset="0"/>
                <a:ea typeface="Calibri" pitchFamily="34" charset="-122"/>
                <a:cs typeface="Calibri" pitchFamily="34" charset="-120"/>
              </a:rPr>
              <a:t>how does the temporal context window W affect spotting precision at fine tolerances (δ ≤ 5s) versus coarse tolerances (δ ≥ 20s)?   </a:t>
            </a:r>
            <a:pPr indent="0" marL="0">
              <a:lnSpc>
                <a:spcPct val="120000"/>
              </a:lnSpc>
              <a:buNone/>
            </a:pPr>
            <a:r>
              <a:rPr lang="en-US" sz="1200" b="1" dirty="0">
                <a:solidFill>
                  <a:srgbClr val="14532D"/>
                </a:solidFill>
                <a:latin typeface="Calibri" pitchFamily="34" charset="0"/>
                <a:ea typeface="Calibri" pitchFamily="34" charset="-122"/>
                <a:cs typeface="Calibri" pitchFamily="34" charset="-120"/>
              </a:rPr>
              <a:t>Hypothesis: </a:t>
            </a:r>
            <a:pPr indent="0" marL="0">
              <a:lnSpc>
                <a:spcPct val="120000"/>
              </a:lnSpc>
              <a:buNone/>
            </a:pPr>
            <a:r>
              <a:rPr lang="en-US" sz="1200" dirty="0">
                <a:solidFill>
                  <a:srgbClr val="5B6660"/>
                </a:solidFill>
                <a:latin typeface="Calibri" pitchFamily="34" charset="0"/>
                <a:ea typeface="Calibri" pitchFamily="34" charset="-122"/>
                <a:cs typeface="Calibri" pitchFamily="34" charset="-120"/>
              </a:rPr>
              <a:t>a shorter window keeps localization sharp; a longer window dilutes the moment with surrounding play.</a:t>
            </a:r>
            <a:endParaRPr lang="en-US" sz="1200" dirty="0"/>
          </a:p>
        </p:txBody>
      </p:sp>
      <p:sp>
        <p:nvSpPr>
          <p:cNvPr id="19" name="Text 16"/>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660"/>
                </a:solidFill>
                <a:latin typeface="Calibri" pitchFamily="34" charset="0"/>
                <a:ea typeface="Calibri" pitchFamily="34" charset="-122"/>
                <a:cs typeface="Calibri" pitchFamily="34" charset="-120"/>
              </a:rPr>
              <a:t>PitchVision  ·  PARC 2026 AI League</a:t>
            </a:r>
            <a:endParaRPr lang="en-US" sz="900" dirty="0"/>
          </a:p>
        </p:txBody>
      </p:sp>
      <p:sp>
        <p:nvSpPr>
          <p:cNvPr id="20" name="Text 17"/>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66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2"/>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14532D"/>
                </a:solidFill>
                <a:latin typeface="Calibri" pitchFamily="34" charset="0"/>
                <a:ea typeface="Calibri" pitchFamily="34" charset="-122"/>
                <a:cs typeface="Calibri" pitchFamily="34" charset="-120"/>
              </a:rPr>
              <a:t>3 · EXPERIMENT DESIGN &amp; DATASET</a:t>
            </a:r>
            <a:endParaRPr lang="en-US" sz="1250" dirty="0"/>
          </a:p>
        </p:txBody>
      </p:sp>
      <p:sp>
        <p:nvSpPr>
          <p:cNvPr id="3" name="Text 1"/>
          <p:cNvSpPr txBox="1"/>
          <p:nvPr/>
        </p:nvSpPr>
        <p:spPr>
          <a:xfrm>
            <a:off x="548640" y="658368"/>
            <a:ext cx="9601200" cy="658368"/>
          </a:xfrm>
          <a:prstGeom prst="rect">
            <a:avLst/>
          </a:prstGeom>
          <a:noFill/>
          <a:ln/>
        </p:spPr>
        <p:txBody>
          <a:bodyPr wrap="square" lIns="0" tIns="0" rIns="0" bIns="0" rtlCol="0" anchor="ctr"/>
          <a:lstStyle/>
          <a:p>
            <a:pPr indent="0" marL="0">
              <a:buNone/>
            </a:pPr>
            <a:r>
              <a:rPr lang="en-US" sz="3000" b="1" dirty="0">
                <a:solidFill>
                  <a:srgbClr val="1B2420"/>
                </a:solidFill>
                <a:latin typeface="Cambria" pitchFamily="34" charset="0"/>
                <a:ea typeface="Cambria" pitchFamily="34" charset="-122"/>
                <a:cs typeface="Cambria" pitchFamily="34" charset="-120"/>
              </a:rPr>
              <a:t>One variable changes. Everything else — and every seed — is held constant.</a:t>
            </a:r>
            <a:endParaRPr lang="en-US" sz="3000" dirty="0"/>
          </a:p>
        </p:txBody>
      </p:sp>
      <p:sp>
        <p:nvSpPr>
          <p:cNvPr id="4" name="Shape 2"/>
          <p:cNvSpPr/>
          <p:nvPr/>
        </p:nvSpPr>
        <p:spPr>
          <a:xfrm>
            <a:off x="548640" y="1481328"/>
            <a:ext cx="5349240" cy="4160520"/>
          </a:xfrm>
          <a:prstGeom prst="roundRect">
            <a:avLst>
              <a:gd name="adj" fmla="val 2198"/>
            </a:avLst>
          </a:prstGeom>
          <a:solidFill>
            <a:srgbClr val="FFFFFF"/>
          </a:solidFill>
          <a:ln w="12700">
            <a:solidFill>
              <a:srgbClr val="DDE3DD"/>
            </a:solidFill>
            <a:prstDash val="solid"/>
          </a:ln>
          <a:effectLst>
            <a:outerShdw sx="100000" sy="100000" kx="0" ky="0" algn="bl" rotWithShape="0" blurRad="127000" dist="38100" dir="5400000">
              <a:srgbClr val="13182B">
                <a:alpha val="10000"/>
              </a:srgbClr>
            </a:outerShdw>
          </a:effectLst>
        </p:spPr>
      </p:sp>
      <p:sp>
        <p:nvSpPr>
          <p:cNvPr id="5" name="Shape 3"/>
          <p:cNvSpPr/>
          <p:nvPr/>
        </p:nvSpPr>
        <p:spPr>
          <a:xfrm>
            <a:off x="841248" y="1737360"/>
            <a:ext cx="502920" cy="502920"/>
          </a:xfrm>
          <a:prstGeom prst="ellipse">
            <a:avLst/>
          </a:prstGeom>
          <a:solidFill>
            <a:srgbClr val="14532D"/>
          </a:solidFill>
          <a:ln/>
        </p:spPr>
      </p:sp>
      <p:pic>
        <p:nvPicPr>
          <p:cNvPr id="6" name="Image 0" descr="/home/claude/deck/icons/database.png">    </p:cNvPr>
          <p:cNvPicPr>
            <a:picLocks noChangeAspect="1"/>
          </p:cNvPicPr>
          <p:nvPr/>
        </p:nvPicPr>
        <p:blipFill>
          <a:blip r:embed="rId1"/>
          <a:stretch>
            <a:fillRect/>
          </a:stretch>
        </p:blipFill>
        <p:spPr>
          <a:xfrm>
            <a:off x="972007" y="1868119"/>
            <a:ext cx="241402" cy="241402"/>
          </a:xfrm>
          <a:prstGeom prst="rect">
            <a:avLst/>
          </a:prstGeom>
        </p:spPr>
      </p:pic>
      <p:sp>
        <p:nvSpPr>
          <p:cNvPr id="7" name="Text 4"/>
          <p:cNvSpPr txBox="1"/>
          <p:nvPr/>
        </p:nvSpPr>
        <p:spPr>
          <a:xfrm>
            <a:off x="1481328" y="1783080"/>
            <a:ext cx="3657600" cy="411480"/>
          </a:xfrm>
          <a:prstGeom prst="rect">
            <a:avLst/>
          </a:prstGeom>
          <a:noFill/>
          <a:ln/>
        </p:spPr>
        <p:txBody>
          <a:bodyPr wrap="square" lIns="0" tIns="0" rIns="0" bIns="0" rtlCol="0" anchor="ctr"/>
          <a:lstStyle/>
          <a:p>
            <a:pPr indent="0" marL="0">
              <a:buNone/>
            </a:pPr>
            <a:r>
              <a:rPr lang="en-US" sz="1600" b="1" dirty="0">
                <a:solidFill>
                  <a:srgbClr val="1B2420"/>
                </a:solidFill>
                <a:latin typeface="Cambria" pitchFamily="34" charset="0"/>
                <a:ea typeface="Cambria" pitchFamily="34" charset="-122"/>
                <a:cs typeface="Cambria" pitchFamily="34" charset="-120"/>
              </a:rPr>
              <a:t>The dataset</a:t>
            </a:r>
            <a:endParaRPr lang="en-US" sz="1600" dirty="0"/>
          </a:p>
        </p:txBody>
      </p:sp>
      <p:sp>
        <p:nvSpPr>
          <p:cNvPr id="8" name="Shape 5"/>
          <p:cNvSpPr/>
          <p:nvPr/>
        </p:nvSpPr>
        <p:spPr>
          <a:xfrm>
            <a:off x="841248" y="2395728"/>
            <a:ext cx="292608" cy="292608"/>
          </a:xfrm>
          <a:prstGeom prst="ellipse">
            <a:avLst/>
          </a:prstGeom>
          <a:solidFill>
            <a:srgbClr val="C97F1E"/>
          </a:solidFill>
          <a:ln/>
        </p:spPr>
      </p:sp>
      <p:pic>
        <p:nvPicPr>
          <p:cNvPr id="9" name="Image 1" descr="/home/claude/deck/icons/check.png">    </p:cNvPr>
          <p:cNvPicPr>
            <a:picLocks noChangeAspect="1"/>
          </p:cNvPicPr>
          <p:nvPr/>
        </p:nvPicPr>
        <p:blipFill>
          <a:blip r:embed="rId2"/>
          <a:stretch>
            <a:fillRect/>
          </a:stretch>
        </p:blipFill>
        <p:spPr>
          <a:xfrm>
            <a:off x="917326" y="2471806"/>
            <a:ext cx="140452" cy="140452"/>
          </a:xfrm>
          <a:prstGeom prst="rect">
            <a:avLst/>
          </a:prstGeom>
        </p:spPr>
      </p:pic>
      <p:sp>
        <p:nvSpPr>
          <p:cNvPr id="10" name="Text 6"/>
          <p:cNvSpPr txBox="1"/>
          <p:nvPr/>
        </p:nvSpPr>
        <p:spPr>
          <a:xfrm>
            <a:off x="1261872" y="2377440"/>
            <a:ext cx="4434840" cy="896112"/>
          </a:xfrm>
          <a:prstGeom prst="rect">
            <a:avLst/>
          </a:prstGeom>
          <a:noFill/>
          <a:ln/>
        </p:spPr>
        <p:txBody>
          <a:bodyPr wrap="square" lIns="0" tIns="0" rIns="0" bIns="0" rtlCol="0" anchor="t"/>
          <a:lstStyle/>
          <a:p>
            <a:pPr indent="0" marL="0">
              <a:lnSpc>
                <a:spcPct val="112000"/>
              </a:lnSpc>
              <a:buNone/>
            </a:pPr>
            <a:r>
              <a:rPr lang="en-US" sz="1200" dirty="0">
                <a:solidFill>
                  <a:srgbClr val="5B6660"/>
                </a:solidFill>
                <a:latin typeface="Calibri" pitchFamily="34" charset="0"/>
                <a:ea typeface="Calibri" pitchFamily="34" charset="-122"/>
                <a:cs typeface="Calibri" pitchFamily="34" charset="-120"/>
              </a:rPr>
              <a:t>SoccerNet Ball Action Spotting — real EFL Championship broadcast matches, 12 fine-grained ball-event classes</a:t>
            </a:r>
            <a:endParaRPr lang="en-US" sz="1200" dirty="0"/>
          </a:p>
        </p:txBody>
      </p:sp>
      <p:sp>
        <p:nvSpPr>
          <p:cNvPr id="11" name="Shape 7"/>
          <p:cNvSpPr/>
          <p:nvPr/>
        </p:nvSpPr>
        <p:spPr>
          <a:xfrm>
            <a:off x="841248" y="3328416"/>
            <a:ext cx="292608" cy="292608"/>
          </a:xfrm>
          <a:prstGeom prst="ellipse">
            <a:avLst/>
          </a:prstGeom>
          <a:solidFill>
            <a:srgbClr val="C97F1E"/>
          </a:solidFill>
          <a:ln/>
        </p:spPr>
      </p:sp>
      <p:pic>
        <p:nvPicPr>
          <p:cNvPr id="12" name="Image 2" descr="/home/claude/deck/icons/check.png">    </p:cNvPr>
          <p:cNvPicPr>
            <a:picLocks noChangeAspect="1"/>
          </p:cNvPicPr>
          <p:nvPr/>
        </p:nvPicPr>
        <p:blipFill>
          <a:blip r:embed="rId3"/>
          <a:stretch>
            <a:fillRect/>
          </a:stretch>
        </p:blipFill>
        <p:spPr>
          <a:xfrm>
            <a:off x="917326" y="3404494"/>
            <a:ext cx="140452" cy="140452"/>
          </a:xfrm>
          <a:prstGeom prst="rect">
            <a:avLst/>
          </a:prstGeom>
        </p:spPr>
      </p:pic>
      <p:sp>
        <p:nvSpPr>
          <p:cNvPr id="13" name="Text 8"/>
          <p:cNvSpPr txBox="1"/>
          <p:nvPr/>
        </p:nvSpPr>
        <p:spPr>
          <a:xfrm>
            <a:off x="1261872" y="3310128"/>
            <a:ext cx="4434840" cy="896112"/>
          </a:xfrm>
          <a:prstGeom prst="rect">
            <a:avLst/>
          </a:prstGeom>
          <a:noFill/>
          <a:ln/>
        </p:spPr>
        <p:txBody>
          <a:bodyPr wrap="square" lIns="0" tIns="0" rIns="0" bIns="0" rtlCol="0" anchor="t"/>
          <a:lstStyle/>
          <a:p>
            <a:pPr indent="0" marL="0">
              <a:lnSpc>
                <a:spcPct val="112000"/>
              </a:lnSpc>
              <a:buNone/>
            </a:pPr>
            <a:r>
              <a:rPr lang="en-US" sz="1200" dirty="0">
                <a:solidFill>
                  <a:srgbClr val="5B6660"/>
                </a:solidFill>
                <a:latin typeface="Calibri" pitchFamily="34" charset="0"/>
                <a:ea typeface="Calibri" pitchFamily="34" charset="-122"/>
                <a:cs typeface="Calibri" pitchFamily="34" charset="-120"/>
              </a:rPr>
              <a:t>One training match and one validation match so far, with no shared footage between them</a:t>
            </a:r>
            <a:endParaRPr lang="en-US" sz="1200" dirty="0"/>
          </a:p>
        </p:txBody>
      </p:sp>
      <p:sp>
        <p:nvSpPr>
          <p:cNvPr id="14" name="Shape 9"/>
          <p:cNvSpPr/>
          <p:nvPr/>
        </p:nvSpPr>
        <p:spPr>
          <a:xfrm>
            <a:off x="841248" y="4261104"/>
            <a:ext cx="292608" cy="292608"/>
          </a:xfrm>
          <a:prstGeom prst="ellipse">
            <a:avLst/>
          </a:prstGeom>
          <a:solidFill>
            <a:srgbClr val="C97F1E"/>
          </a:solidFill>
          <a:ln/>
        </p:spPr>
      </p:sp>
      <p:pic>
        <p:nvPicPr>
          <p:cNvPr id="15" name="Image 3" descr="/home/claude/deck/icons/check.png">    </p:cNvPr>
          <p:cNvPicPr>
            <a:picLocks noChangeAspect="1"/>
          </p:cNvPicPr>
          <p:nvPr/>
        </p:nvPicPr>
        <p:blipFill>
          <a:blip r:embed="rId4"/>
          <a:stretch>
            <a:fillRect/>
          </a:stretch>
        </p:blipFill>
        <p:spPr>
          <a:xfrm>
            <a:off x="917326" y="4337182"/>
            <a:ext cx="140452" cy="140452"/>
          </a:xfrm>
          <a:prstGeom prst="rect">
            <a:avLst/>
          </a:prstGeom>
        </p:spPr>
      </p:pic>
      <p:sp>
        <p:nvSpPr>
          <p:cNvPr id="16" name="Text 10"/>
          <p:cNvSpPr txBox="1"/>
          <p:nvPr/>
        </p:nvSpPr>
        <p:spPr>
          <a:xfrm>
            <a:off x="1261872" y="4242816"/>
            <a:ext cx="4434840" cy="896112"/>
          </a:xfrm>
          <a:prstGeom prst="rect">
            <a:avLst/>
          </a:prstGeom>
          <a:noFill/>
          <a:ln/>
        </p:spPr>
        <p:txBody>
          <a:bodyPr wrap="square" lIns="0" tIns="0" rIns="0" bIns="0" rtlCol="0" anchor="t"/>
          <a:lstStyle/>
          <a:p>
            <a:pPr indent="0" marL="0">
              <a:lnSpc>
                <a:spcPct val="112000"/>
              </a:lnSpc>
              <a:buNone/>
            </a:pPr>
            <a:r>
              <a:rPr lang="en-US" sz="1200" dirty="0">
                <a:solidFill>
                  <a:srgbClr val="5B6660"/>
                </a:solidFill>
                <a:latin typeface="Calibri" pitchFamily="34" charset="0"/>
                <a:ea typeface="Calibri" pitchFamily="34" charset="-122"/>
                <a:cs typeface="Calibri" pitchFamily="34" charset="-120"/>
              </a:rPr>
              <a:t>1 frame/second video sampled through a pretrained ResNet-18 into 512-number feature vectors</a:t>
            </a:r>
            <a:endParaRPr lang="en-US" sz="1200" dirty="0"/>
          </a:p>
        </p:txBody>
      </p:sp>
      <p:sp>
        <p:nvSpPr>
          <p:cNvPr id="17" name="Shape 11"/>
          <p:cNvSpPr/>
          <p:nvPr/>
        </p:nvSpPr>
        <p:spPr>
          <a:xfrm>
            <a:off x="841248" y="5193792"/>
            <a:ext cx="4754880" cy="0"/>
          </a:xfrm>
          <a:prstGeom prst="line">
            <a:avLst/>
          </a:prstGeom>
          <a:noFill/>
          <a:ln w="12700">
            <a:solidFill>
              <a:srgbClr val="DDE3DD"/>
            </a:solidFill>
            <a:prstDash val="solid"/>
          </a:ln>
        </p:spPr>
      </p:sp>
      <p:sp>
        <p:nvSpPr>
          <p:cNvPr id="18" name="Text 12"/>
          <p:cNvSpPr txBox="1"/>
          <p:nvPr/>
        </p:nvSpPr>
        <p:spPr>
          <a:xfrm>
            <a:off x="841248" y="5303520"/>
            <a:ext cx="4754880" cy="292608"/>
          </a:xfrm>
          <a:prstGeom prst="rect">
            <a:avLst/>
          </a:prstGeom>
          <a:noFill/>
          <a:ln/>
        </p:spPr>
        <p:txBody>
          <a:bodyPr wrap="square" lIns="0" tIns="0" rIns="0" bIns="0" rtlCol="0" anchor="ctr"/>
          <a:lstStyle/>
          <a:p>
            <a:pPr indent="0" marL="0">
              <a:buNone/>
            </a:pPr>
            <a:r>
              <a:rPr lang="en-US" sz="1100" i="1" dirty="0">
                <a:solidFill>
                  <a:srgbClr val="14532D"/>
                </a:solidFill>
                <a:latin typeface="Calibri" pitchFamily="34" charset="0"/>
                <a:ea typeface="Calibri" pitchFamily="34" charset="-122"/>
                <a:cs typeface="Calibri" pitchFamily="34" charset="-120"/>
              </a:rPr>
              <a:t>Next: scale to all 4 training matches plus 2 fully held-out test matches.</a:t>
            </a:r>
            <a:endParaRPr lang="en-US" sz="1100" dirty="0"/>
          </a:p>
        </p:txBody>
      </p:sp>
      <p:sp>
        <p:nvSpPr>
          <p:cNvPr id="19" name="Shape 13"/>
          <p:cNvSpPr/>
          <p:nvPr/>
        </p:nvSpPr>
        <p:spPr>
          <a:xfrm>
            <a:off x="6080760" y="1481328"/>
            <a:ext cx="5559552" cy="4160520"/>
          </a:xfrm>
          <a:prstGeom prst="roundRect">
            <a:avLst>
              <a:gd name="adj" fmla="val 2198"/>
            </a:avLst>
          </a:prstGeom>
          <a:solidFill>
            <a:srgbClr val="FFFFFF"/>
          </a:solidFill>
          <a:ln w="12700">
            <a:solidFill>
              <a:srgbClr val="DDE3DD"/>
            </a:solidFill>
            <a:prstDash val="solid"/>
          </a:ln>
          <a:effectLst>
            <a:outerShdw sx="100000" sy="100000" kx="0" ky="0" algn="bl" rotWithShape="0" blurRad="127000" dist="38100" dir="5400000">
              <a:srgbClr val="13182B">
                <a:alpha val="10000"/>
              </a:srgbClr>
            </a:outerShdw>
          </a:effectLst>
        </p:spPr>
      </p:sp>
      <p:sp>
        <p:nvSpPr>
          <p:cNvPr id="20" name="Shape 14"/>
          <p:cNvSpPr/>
          <p:nvPr/>
        </p:nvSpPr>
        <p:spPr>
          <a:xfrm>
            <a:off x="6373368" y="1737360"/>
            <a:ext cx="502920" cy="502920"/>
          </a:xfrm>
          <a:prstGeom prst="ellipse">
            <a:avLst/>
          </a:prstGeom>
          <a:solidFill>
            <a:srgbClr val="14532D"/>
          </a:solidFill>
          <a:ln/>
        </p:spPr>
      </p:sp>
      <p:pic>
        <p:nvPicPr>
          <p:cNvPr id="21" name="Image 4" descr="/home/claude/deck/icons/scale.png">    </p:cNvPr>
          <p:cNvPicPr>
            <a:picLocks noChangeAspect="1"/>
          </p:cNvPicPr>
          <p:nvPr/>
        </p:nvPicPr>
        <p:blipFill>
          <a:blip r:embed="rId5"/>
          <a:stretch>
            <a:fillRect/>
          </a:stretch>
        </p:blipFill>
        <p:spPr>
          <a:xfrm>
            <a:off x="6504127" y="1868119"/>
            <a:ext cx="241402" cy="241402"/>
          </a:xfrm>
          <a:prstGeom prst="rect">
            <a:avLst/>
          </a:prstGeom>
        </p:spPr>
      </p:pic>
      <p:sp>
        <p:nvSpPr>
          <p:cNvPr id="22" name="Text 15"/>
          <p:cNvSpPr txBox="1"/>
          <p:nvPr/>
        </p:nvSpPr>
        <p:spPr>
          <a:xfrm>
            <a:off x="7013448" y="1783080"/>
            <a:ext cx="4114800" cy="411480"/>
          </a:xfrm>
          <a:prstGeom prst="rect">
            <a:avLst/>
          </a:prstGeom>
          <a:noFill/>
          <a:ln/>
        </p:spPr>
        <p:txBody>
          <a:bodyPr wrap="square" lIns="0" tIns="0" rIns="0" bIns="0" rtlCol="0" anchor="ctr"/>
          <a:lstStyle/>
          <a:p>
            <a:pPr indent="0" marL="0">
              <a:buNone/>
            </a:pPr>
            <a:r>
              <a:rPr lang="en-US" sz="1600" b="1" dirty="0">
                <a:solidFill>
                  <a:srgbClr val="1B2420"/>
                </a:solidFill>
                <a:latin typeface="Cambria" pitchFamily="34" charset="0"/>
                <a:ea typeface="Cambria" pitchFamily="34" charset="-122"/>
                <a:cs typeface="Cambria" pitchFamily="34" charset="-120"/>
              </a:rPr>
              <a:t>Variable control</a:t>
            </a:r>
            <a:endParaRPr lang="en-US" sz="1600" dirty="0"/>
          </a:p>
        </p:txBody>
      </p:sp>
      <p:sp>
        <p:nvSpPr>
          <p:cNvPr id="23" name="Text 16"/>
          <p:cNvSpPr txBox="1"/>
          <p:nvPr/>
        </p:nvSpPr>
        <p:spPr>
          <a:xfrm>
            <a:off x="6373368" y="2359152"/>
            <a:ext cx="4937760" cy="237744"/>
          </a:xfrm>
          <a:prstGeom prst="rect">
            <a:avLst/>
          </a:prstGeom>
          <a:noFill/>
          <a:ln/>
        </p:spPr>
        <p:txBody>
          <a:bodyPr wrap="square" lIns="0" tIns="0" rIns="0" bIns="0" rtlCol="0" anchor="ctr"/>
          <a:lstStyle/>
          <a:p>
            <a:pPr indent="0" marL="0">
              <a:buNone/>
            </a:pPr>
            <a:r>
              <a:rPr lang="en-US" sz="1050" b="1" spc="150" kern="0" dirty="0">
                <a:solidFill>
                  <a:srgbClr val="C97F1E"/>
                </a:solidFill>
                <a:latin typeface="Calibri" pitchFamily="34" charset="0"/>
                <a:ea typeface="Calibri" pitchFamily="34" charset="-122"/>
                <a:cs typeface="Calibri" pitchFamily="34" charset="-120"/>
              </a:rPr>
              <a:t>INDEPENDENT</a:t>
            </a:r>
            <a:endParaRPr lang="en-US" sz="1050" dirty="0"/>
          </a:p>
        </p:txBody>
      </p:sp>
      <p:sp>
        <p:nvSpPr>
          <p:cNvPr id="24" name="Text 17"/>
          <p:cNvSpPr txBox="1"/>
          <p:nvPr/>
        </p:nvSpPr>
        <p:spPr>
          <a:xfrm>
            <a:off x="6373368" y="2578608"/>
            <a:ext cx="4937760" cy="274320"/>
          </a:xfrm>
          <a:prstGeom prst="rect">
            <a:avLst/>
          </a:prstGeom>
          <a:noFill/>
          <a:ln/>
        </p:spPr>
        <p:txBody>
          <a:bodyPr wrap="square" lIns="0" tIns="0" rIns="0" bIns="0" rtlCol="0" anchor="ctr"/>
          <a:lstStyle/>
          <a:p>
            <a:pPr indent="0" marL="0">
              <a:buNone/>
            </a:pPr>
            <a:r>
              <a:rPr lang="en-US" sz="1400" b="1" dirty="0">
                <a:solidFill>
                  <a:srgbClr val="1B2420"/>
                </a:solidFill>
                <a:latin typeface="Cambria" pitchFamily="34" charset="0"/>
                <a:ea typeface="Cambria" pitchFamily="34" charset="-122"/>
                <a:cs typeface="Cambria" pitchFamily="34" charset="-120"/>
              </a:rPr>
              <a:t>Context window W</a:t>
            </a:r>
            <a:endParaRPr lang="en-US" sz="1400" dirty="0"/>
          </a:p>
        </p:txBody>
      </p:sp>
      <p:sp>
        <p:nvSpPr>
          <p:cNvPr id="25" name="Text 18"/>
          <p:cNvSpPr txBox="1"/>
          <p:nvPr/>
        </p:nvSpPr>
        <p:spPr>
          <a:xfrm>
            <a:off x="6373368" y="2843784"/>
            <a:ext cx="4937760" cy="274320"/>
          </a:xfrm>
          <a:prstGeom prst="rect">
            <a:avLst/>
          </a:prstGeom>
          <a:noFill/>
          <a:ln/>
        </p:spPr>
        <p:txBody>
          <a:bodyPr wrap="square" lIns="0" tIns="0" rIns="0" bIns="0" rtlCol="0" anchor="ctr"/>
          <a:lstStyle/>
          <a:p>
            <a:pPr indent="0" marL="0">
              <a:lnSpc>
                <a:spcPct val="110000"/>
              </a:lnSpc>
              <a:buNone/>
            </a:pPr>
            <a:r>
              <a:rPr lang="en-US" sz="1150" dirty="0">
                <a:solidFill>
                  <a:srgbClr val="5B6660"/>
                </a:solidFill>
                <a:latin typeface="Calibri" pitchFamily="34" charset="0"/>
                <a:ea typeface="Calibri" pitchFamily="34" charset="-122"/>
                <a:cs typeface="Calibri" pitchFamily="34" charset="-120"/>
              </a:rPr>
              <a:t>Condition 1: 7s   ·   Baseline: 15s   ·   Condition 2: 31s</a:t>
            </a:r>
            <a:endParaRPr lang="en-US" sz="1150" dirty="0"/>
          </a:p>
        </p:txBody>
      </p:sp>
      <p:sp>
        <p:nvSpPr>
          <p:cNvPr id="26" name="Text 19"/>
          <p:cNvSpPr txBox="1"/>
          <p:nvPr/>
        </p:nvSpPr>
        <p:spPr>
          <a:xfrm>
            <a:off x="6373368" y="3300984"/>
            <a:ext cx="4937760" cy="237744"/>
          </a:xfrm>
          <a:prstGeom prst="rect">
            <a:avLst/>
          </a:prstGeom>
          <a:noFill/>
          <a:ln/>
        </p:spPr>
        <p:txBody>
          <a:bodyPr wrap="square" lIns="0" tIns="0" rIns="0" bIns="0" rtlCol="0" anchor="ctr"/>
          <a:lstStyle/>
          <a:p>
            <a:pPr indent="0" marL="0">
              <a:buNone/>
            </a:pPr>
            <a:r>
              <a:rPr lang="en-US" sz="1050" b="1" spc="150" kern="0" dirty="0">
                <a:solidFill>
                  <a:srgbClr val="C97F1E"/>
                </a:solidFill>
                <a:latin typeface="Calibri" pitchFamily="34" charset="0"/>
                <a:ea typeface="Calibri" pitchFamily="34" charset="-122"/>
                <a:cs typeface="Calibri" pitchFamily="34" charset="-120"/>
              </a:rPr>
              <a:t>CONTROLLED</a:t>
            </a:r>
            <a:endParaRPr lang="en-US" sz="1050" dirty="0"/>
          </a:p>
        </p:txBody>
      </p:sp>
      <p:sp>
        <p:nvSpPr>
          <p:cNvPr id="27" name="Text 20"/>
          <p:cNvSpPr txBox="1"/>
          <p:nvPr/>
        </p:nvSpPr>
        <p:spPr>
          <a:xfrm>
            <a:off x="6373368" y="3520440"/>
            <a:ext cx="4937760" cy="274320"/>
          </a:xfrm>
          <a:prstGeom prst="rect">
            <a:avLst/>
          </a:prstGeom>
          <a:noFill/>
          <a:ln/>
        </p:spPr>
        <p:txBody>
          <a:bodyPr wrap="square" lIns="0" tIns="0" rIns="0" bIns="0" rtlCol="0" anchor="ctr"/>
          <a:lstStyle/>
          <a:p>
            <a:pPr indent="0" marL="0">
              <a:buNone/>
            </a:pPr>
            <a:r>
              <a:rPr lang="en-US" sz="1400" b="1" dirty="0">
                <a:solidFill>
                  <a:srgbClr val="1B2420"/>
                </a:solidFill>
                <a:latin typeface="Cambria" pitchFamily="34" charset="0"/>
                <a:ea typeface="Cambria" pitchFamily="34" charset="-122"/>
                <a:cs typeface="Cambria" pitchFamily="34" charset="-120"/>
              </a:rPr>
              <a:t>Everything else</a:t>
            </a:r>
            <a:endParaRPr lang="en-US" sz="1400" dirty="0"/>
          </a:p>
        </p:txBody>
      </p:sp>
      <p:sp>
        <p:nvSpPr>
          <p:cNvPr id="28" name="Text 21"/>
          <p:cNvSpPr txBox="1"/>
          <p:nvPr/>
        </p:nvSpPr>
        <p:spPr>
          <a:xfrm>
            <a:off x="6373368" y="3785616"/>
            <a:ext cx="4937760" cy="274320"/>
          </a:xfrm>
          <a:prstGeom prst="rect">
            <a:avLst/>
          </a:prstGeom>
          <a:noFill/>
          <a:ln/>
        </p:spPr>
        <p:txBody>
          <a:bodyPr wrap="square" lIns="0" tIns="0" rIns="0" bIns="0" rtlCol="0" anchor="ctr"/>
          <a:lstStyle/>
          <a:p>
            <a:pPr indent="0" marL="0">
              <a:lnSpc>
                <a:spcPct val="110000"/>
              </a:lnSpc>
              <a:buNone/>
            </a:pPr>
            <a:r>
              <a:rPr lang="en-US" sz="1150" dirty="0">
                <a:solidFill>
                  <a:srgbClr val="5B6660"/>
                </a:solidFill>
                <a:latin typeface="Calibri" pitchFamily="34" charset="0"/>
                <a:ea typeface="Calibri" pitchFamily="34" charset="-122"/>
                <a:cs typeface="Calibri" pitchFamily="34" charset="-120"/>
              </a:rPr>
              <a:t>Architecture, loss, learning rate, batch size, epochs — identical every run</a:t>
            </a:r>
            <a:endParaRPr lang="en-US" sz="1150" dirty="0"/>
          </a:p>
        </p:txBody>
      </p:sp>
      <p:sp>
        <p:nvSpPr>
          <p:cNvPr id="29" name="Text 22"/>
          <p:cNvSpPr txBox="1"/>
          <p:nvPr/>
        </p:nvSpPr>
        <p:spPr>
          <a:xfrm>
            <a:off x="6373368" y="4242816"/>
            <a:ext cx="4937760" cy="237744"/>
          </a:xfrm>
          <a:prstGeom prst="rect">
            <a:avLst/>
          </a:prstGeom>
          <a:noFill/>
          <a:ln/>
        </p:spPr>
        <p:txBody>
          <a:bodyPr wrap="square" lIns="0" tIns="0" rIns="0" bIns="0" rtlCol="0" anchor="ctr"/>
          <a:lstStyle/>
          <a:p>
            <a:pPr indent="0" marL="0">
              <a:buNone/>
            </a:pPr>
            <a:r>
              <a:rPr lang="en-US" sz="1050" b="1" spc="150" kern="0" dirty="0">
                <a:solidFill>
                  <a:srgbClr val="C97F1E"/>
                </a:solidFill>
                <a:latin typeface="Calibri" pitchFamily="34" charset="0"/>
                <a:ea typeface="Calibri" pitchFamily="34" charset="-122"/>
                <a:cs typeface="Calibri" pitchFamily="34" charset="-120"/>
              </a:rPr>
              <a:t>DEPENDENT</a:t>
            </a:r>
            <a:endParaRPr lang="en-US" sz="1050" dirty="0"/>
          </a:p>
        </p:txBody>
      </p:sp>
      <p:sp>
        <p:nvSpPr>
          <p:cNvPr id="30" name="Text 23"/>
          <p:cNvSpPr txBox="1"/>
          <p:nvPr/>
        </p:nvSpPr>
        <p:spPr>
          <a:xfrm>
            <a:off x="6373368" y="4462272"/>
            <a:ext cx="4937760" cy="274320"/>
          </a:xfrm>
          <a:prstGeom prst="rect">
            <a:avLst/>
          </a:prstGeom>
          <a:noFill/>
          <a:ln/>
        </p:spPr>
        <p:txBody>
          <a:bodyPr wrap="square" lIns="0" tIns="0" rIns="0" bIns="0" rtlCol="0" anchor="ctr"/>
          <a:lstStyle/>
          <a:p>
            <a:pPr indent="0" marL="0">
              <a:buNone/>
            </a:pPr>
            <a:r>
              <a:rPr lang="en-US" sz="1400" b="1" dirty="0">
                <a:solidFill>
                  <a:srgbClr val="1B2420"/>
                </a:solidFill>
                <a:latin typeface="Cambria" pitchFamily="34" charset="0"/>
                <a:ea typeface="Cambria" pitchFamily="34" charset="-122"/>
                <a:cs typeface="Cambria" pitchFamily="34" charset="-120"/>
              </a:rPr>
              <a:t>What we measure</a:t>
            </a:r>
            <a:endParaRPr lang="en-US" sz="1400" dirty="0"/>
          </a:p>
        </p:txBody>
      </p:sp>
      <p:sp>
        <p:nvSpPr>
          <p:cNvPr id="31" name="Text 24"/>
          <p:cNvSpPr txBox="1"/>
          <p:nvPr/>
        </p:nvSpPr>
        <p:spPr>
          <a:xfrm>
            <a:off x="6373368" y="4727448"/>
            <a:ext cx="4937760" cy="274320"/>
          </a:xfrm>
          <a:prstGeom prst="rect">
            <a:avLst/>
          </a:prstGeom>
          <a:noFill/>
          <a:ln/>
        </p:spPr>
        <p:txBody>
          <a:bodyPr wrap="square" lIns="0" tIns="0" rIns="0" bIns="0" rtlCol="0" anchor="ctr"/>
          <a:lstStyle/>
          <a:p>
            <a:pPr indent="0" marL="0">
              <a:lnSpc>
                <a:spcPct val="110000"/>
              </a:lnSpc>
              <a:buNone/>
            </a:pPr>
            <a:r>
              <a:rPr lang="en-US" sz="1150" dirty="0">
                <a:solidFill>
                  <a:srgbClr val="5B6660"/>
                </a:solidFill>
                <a:latin typeface="Calibri" pitchFamily="34" charset="0"/>
                <a:ea typeface="Calibri" pitchFamily="34" charset="-122"/>
                <a:cs typeface="Calibri" pitchFamily="34" charset="-120"/>
              </a:rPr>
              <a:t>Accuracy at 6 timing tolerances, plus training/inference speed</a:t>
            </a:r>
            <a:endParaRPr lang="en-US" sz="1150" dirty="0"/>
          </a:p>
        </p:txBody>
      </p:sp>
      <p:sp>
        <p:nvSpPr>
          <p:cNvPr id="32" name="Shape 25"/>
          <p:cNvSpPr/>
          <p:nvPr/>
        </p:nvSpPr>
        <p:spPr>
          <a:xfrm>
            <a:off x="6373368" y="5193792"/>
            <a:ext cx="4937760" cy="0"/>
          </a:xfrm>
          <a:prstGeom prst="line">
            <a:avLst/>
          </a:prstGeom>
          <a:noFill/>
          <a:ln w="12700">
            <a:solidFill>
              <a:srgbClr val="DDE3DD"/>
            </a:solidFill>
            <a:prstDash val="solid"/>
          </a:ln>
        </p:spPr>
      </p:sp>
      <p:sp>
        <p:nvSpPr>
          <p:cNvPr id="33" name="Text 26"/>
          <p:cNvSpPr txBox="1"/>
          <p:nvPr/>
        </p:nvSpPr>
        <p:spPr>
          <a:xfrm>
            <a:off x="6373368" y="5303520"/>
            <a:ext cx="4983480" cy="594360"/>
          </a:xfrm>
          <a:prstGeom prst="rect">
            <a:avLst/>
          </a:prstGeom>
          <a:noFill/>
          <a:ln/>
        </p:spPr>
        <p:txBody>
          <a:bodyPr wrap="square" lIns="0" tIns="0" rIns="0" bIns="0" rtlCol="0" anchor="ctr"/>
          <a:lstStyle/>
          <a:p>
            <a:pPr indent="0" marL="0">
              <a:lnSpc>
                <a:spcPct val="112000"/>
              </a:lnSpc>
              <a:buNone/>
            </a:pPr>
            <a:r>
              <a:rPr lang="en-US" sz="1080" i="1" dirty="0">
                <a:solidFill>
                  <a:srgbClr val="14532D"/>
                </a:solidFill>
                <a:latin typeface="Calibri" pitchFamily="34" charset="0"/>
                <a:ea typeface="Calibri" pitchFamily="34" charset="-122"/>
                <a:cs typeface="Calibri" pitchFamily="34" charset="-120"/>
              </a:rPr>
              <a:t>Rigor check: every condition is trained 5 times from 5 different random starting points — a result only counts if it holds up 5/5 times, not once by luck.</a:t>
            </a:r>
            <a:endParaRPr lang="en-US" sz="1080" dirty="0"/>
          </a:p>
        </p:txBody>
      </p:sp>
      <p:sp>
        <p:nvSpPr>
          <p:cNvPr id="34" name="Text 27"/>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660"/>
                </a:solidFill>
                <a:latin typeface="Calibri" pitchFamily="34" charset="0"/>
                <a:ea typeface="Calibri" pitchFamily="34" charset="-122"/>
                <a:cs typeface="Calibri" pitchFamily="34" charset="-120"/>
              </a:rPr>
              <a:t>PitchVision  ·  PARC 2026 AI League</a:t>
            </a:r>
            <a:endParaRPr lang="en-US" sz="900" dirty="0"/>
          </a:p>
        </p:txBody>
      </p:sp>
      <p:sp>
        <p:nvSpPr>
          <p:cNvPr id="35" name="Text 28"/>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66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14532D"/>
                </a:solidFill>
                <a:latin typeface="Calibri" pitchFamily="34" charset="0"/>
                <a:ea typeface="Calibri" pitchFamily="34" charset="-122"/>
                <a:cs typeface="Calibri" pitchFamily="34" charset="-120"/>
              </a:rPr>
              <a:t>2 · LEARNING MODEL</a:t>
            </a:r>
            <a:endParaRPr lang="en-US" sz="1250" dirty="0"/>
          </a:p>
        </p:txBody>
      </p:sp>
      <p:sp>
        <p:nvSpPr>
          <p:cNvPr id="3" name="Text 1"/>
          <p:cNvSpPr txBox="1"/>
          <p:nvPr/>
        </p:nvSpPr>
        <p:spPr>
          <a:xfrm>
            <a:off x="548640" y="658368"/>
            <a:ext cx="9601200" cy="658368"/>
          </a:xfrm>
          <a:prstGeom prst="rect">
            <a:avLst/>
          </a:prstGeom>
          <a:noFill/>
          <a:ln/>
        </p:spPr>
        <p:txBody>
          <a:bodyPr wrap="square" lIns="0" tIns="0" rIns="0" bIns="0" rtlCol="0" anchor="ctr"/>
          <a:lstStyle/>
          <a:p>
            <a:pPr indent="0" marL="0">
              <a:buNone/>
            </a:pPr>
            <a:r>
              <a:rPr lang="en-US" sz="3000" b="1" dirty="0">
                <a:solidFill>
                  <a:srgbClr val="1B2420"/>
                </a:solidFill>
                <a:latin typeface="Cambria" pitchFamily="34" charset="0"/>
                <a:ea typeface="Cambria" pitchFamily="34" charset="-122"/>
                <a:cs typeface="Cambria" pitchFamily="34" charset="-120"/>
              </a:rPr>
              <a:t>A small, deliberately simple network — built to run anywhere.</a:t>
            </a:r>
            <a:endParaRPr lang="en-US" sz="3000" dirty="0"/>
          </a:p>
        </p:txBody>
      </p:sp>
      <p:sp>
        <p:nvSpPr>
          <p:cNvPr id="4" name="Shape 2"/>
          <p:cNvSpPr/>
          <p:nvPr/>
        </p:nvSpPr>
        <p:spPr>
          <a:xfrm>
            <a:off x="548640" y="1481328"/>
            <a:ext cx="2542032" cy="1234440"/>
          </a:xfrm>
          <a:prstGeom prst="roundRect">
            <a:avLst>
              <a:gd name="adj" fmla="val 7407"/>
            </a:avLst>
          </a:prstGeom>
          <a:solidFill>
            <a:srgbClr val="F3F6F2"/>
          </a:solidFill>
          <a:ln/>
        </p:spPr>
      </p:sp>
      <p:sp>
        <p:nvSpPr>
          <p:cNvPr id="5" name="Shape 3"/>
          <p:cNvSpPr/>
          <p:nvPr/>
        </p:nvSpPr>
        <p:spPr>
          <a:xfrm>
            <a:off x="749808" y="1700784"/>
            <a:ext cx="512064" cy="512064"/>
          </a:xfrm>
          <a:prstGeom prst="ellipse">
            <a:avLst/>
          </a:prstGeom>
          <a:solidFill>
            <a:srgbClr val="14532D"/>
          </a:solidFill>
          <a:ln/>
        </p:spPr>
      </p:sp>
      <p:pic>
        <p:nvPicPr>
          <p:cNvPr id="6" name="Image 0" descr="/home/claude/deck/icons/film.png">    </p:cNvPr>
          <p:cNvPicPr>
            <a:picLocks noChangeAspect="1"/>
          </p:cNvPicPr>
          <p:nvPr/>
        </p:nvPicPr>
        <p:blipFill>
          <a:blip r:embed="rId1"/>
          <a:stretch>
            <a:fillRect/>
          </a:stretch>
        </p:blipFill>
        <p:spPr>
          <a:xfrm>
            <a:off x="882945" y="1833921"/>
            <a:ext cx="245791" cy="245791"/>
          </a:xfrm>
          <a:prstGeom prst="rect">
            <a:avLst/>
          </a:prstGeom>
        </p:spPr>
      </p:pic>
      <p:sp>
        <p:nvSpPr>
          <p:cNvPr id="7" name="Text 4"/>
          <p:cNvSpPr txBox="1"/>
          <p:nvPr/>
        </p:nvSpPr>
        <p:spPr>
          <a:xfrm>
            <a:off x="1371600" y="1645920"/>
            <a:ext cx="1581912" cy="914400"/>
          </a:xfrm>
          <a:prstGeom prst="rect">
            <a:avLst/>
          </a:prstGeom>
          <a:noFill/>
          <a:ln/>
        </p:spPr>
        <p:txBody>
          <a:bodyPr wrap="square" lIns="0" tIns="0" rIns="0" bIns="0" rtlCol="0" anchor="ctr"/>
          <a:lstStyle/>
          <a:p>
            <a:pPr indent="0" marL="0">
              <a:lnSpc>
                <a:spcPct val="105000"/>
              </a:lnSpc>
              <a:buNone/>
            </a:pPr>
            <a:r>
              <a:rPr lang="en-US" sz="1250" b="1" dirty="0">
                <a:solidFill>
                  <a:srgbClr val="1B2420"/>
                </a:solidFill>
                <a:latin typeface="Calibri" pitchFamily="34" charset="0"/>
                <a:ea typeface="Calibri" pitchFamily="34" charset="-122"/>
                <a:cs typeface="Calibri" pitchFamily="34" charset="-120"/>
              </a:rPr>
              <a:t>Video frame</a:t>
            </a:r>
            <a:endParaRPr lang="en-US" sz="1250" dirty="0"/>
          </a:p>
          <a:p>
            <a:pPr indent="0" marL="0">
              <a:lnSpc>
                <a:spcPct val="105000"/>
              </a:lnSpc>
              <a:buNone/>
            </a:pPr>
            <a:r>
              <a:rPr lang="en-US" sz="1250" b="1" dirty="0">
                <a:solidFill>
                  <a:srgbClr val="1B2420"/>
                </a:solidFill>
                <a:latin typeface="Calibri" pitchFamily="34" charset="0"/>
                <a:ea typeface="Calibri" pitchFamily="34" charset="-122"/>
                <a:cs typeface="Calibri" pitchFamily="34" charset="-120"/>
              </a:rPr>
              <a:t>(1/sec)</a:t>
            </a:r>
            <a:endParaRPr lang="en-US" sz="1250" dirty="0"/>
          </a:p>
        </p:txBody>
      </p:sp>
      <p:sp>
        <p:nvSpPr>
          <p:cNvPr id="8" name="Text 5"/>
          <p:cNvSpPr txBox="1"/>
          <p:nvPr/>
        </p:nvSpPr>
        <p:spPr>
          <a:xfrm>
            <a:off x="3099816" y="1865376"/>
            <a:ext cx="237744" cy="457200"/>
          </a:xfrm>
          <a:prstGeom prst="rect">
            <a:avLst/>
          </a:prstGeom>
          <a:noFill/>
          <a:ln/>
        </p:spPr>
        <p:txBody>
          <a:bodyPr wrap="square" lIns="0" tIns="0" rIns="0" bIns="0" rtlCol="0" anchor="ctr"/>
          <a:lstStyle/>
          <a:p>
            <a:pPr algn="ctr" indent="0" marL="0">
              <a:buNone/>
            </a:pPr>
            <a:r>
              <a:rPr lang="en-US" sz="1800" b="1" dirty="0">
                <a:solidFill>
                  <a:srgbClr val="5B6660"/>
                </a:solidFill>
                <a:latin typeface="Calibri" pitchFamily="34" charset="0"/>
                <a:ea typeface="Calibri" pitchFamily="34" charset="-122"/>
                <a:cs typeface="Calibri" pitchFamily="34" charset="-120"/>
              </a:rPr>
              <a:t>→</a:t>
            </a:r>
            <a:endParaRPr lang="en-US" sz="1800" dirty="0"/>
          </a:p>
        </p:txBody>
      </p:sp>
      <p:sp>
        <p:nvSpPr>
          <p:cNvPr id="9" name="Shape 6"/>
          <p:cNvSpPr/>
          <p:nvPr/>
        </p:nvSpPr>
        <p:spPr>
          <a:xfrm>
            <a:off x="3346704" y="1481328"/>
            <a:ext cx="2542032" cy="1234440"/>
          </a:xfrm>
          <a:prstGeom prst="roundRect">
            <a:avLst>
              <a:gd name="adj" fmla="val 7407"/>
            </a:avLst>
          </a:prstGeom>
          <a:solidFill>
            <a:srgbClr val="F3F6F2"/>
          </a:solidFill>
          <a:ln/>
        </p:spPr>
      </p:sp>
      <p:sp>
        <p:nvSpPr>
          <p:cNvPr id="10" name="Shape 7"/>
          <p:cNvSpPr/>
          <p:nvPr/>
        </p:nvSpPr>
        <p:spPr>
          <a:xfrm>
            <a:off x="3547872" y="1700784"/>
            <a:ext cx="512064" cy="512064"/>
          </a:xfrm>
          <a:prstGeom prst="ellipse">
            <a:avLst/>
          </a:prstGeom>
          <a:solidFill>
            <a:srgbClr val="14532D"/>
          </a:solidFill>
          <a:ln/>
        </p:spPr>
      </p:sp>
      <p:pic>
        <p:nvPicPr>
          <p:cNvPr id="11" name="Image 1" descr="/home/claude/deck/icons/chip.png">    </p:cNvPr>
          <p:cNvPicPr>
            <a:picLocks noChangeAspect="1"/>
          </p:cNvPicPr>
          <p:nvPr/>
        </p:nvPicPr>
        <p:blipFill>
          <a:blip r:embed="rId2"/>
          <a:stretch>
            <a:fillRect/>
          </a:stretch>
        </p:blipFill>
        <p:spPr>
          <a:xfrm>
            <a:off x="3681009" y="1833921"/>
            <a:ext cx="245791" cy="245791"/>
          </a:xfrm>
          <a:prstGeom prst="rect">
            <a:avLst/>
          </a:prstGeom>
        </p:spPr>
      </p:pic>
      <p:sp>
        <p:nvSpPr>
          <p:cNvPr id="12" name="Text 8"/>
          <p:cNvSpPr txBox="1"/>
          <p:nvPr/>
        </p:nvSpPr>
        <p:spPr>
          <a:xfrm>
            <a:off x="4169664" y="1645920"/>
            <a:ext cx="1581912" cy="914400"/>
          </a:xfrm>
          <a:prstGeom prst="rect">
            <a:avLst/>
          </a:prstGeom>
          <a:noFill/>
          <a:ln/>
        </p:spPr>
        <p:txBody>
          <a:bodyPr wrap="square" lIns="0" tIns="0" rIns="0" bIns="0" rtlCol="0" anchor="ctr"/>
          <a:lstStyle/>
          <a:p>
            <a:pPr indent="0" marL="0">
              <a:lnSpc>
                <a:spcPct val="105000"/>
              </a:lnSpc>
              <a:buNone/>
            </a:pPr>
            <a:r>
              <a:rPr lang="en-US" sz="1250" b="1" dirty="0">
                <a:solidFill>
                  <a:srgbClr val="1B2420"/>
                </a:solidFill>
                <a:latin typeface="Calibri" pitchFamily="34" charset="0"/>
                <a:ea typeface="Calibri" pitchFamily="34" charset="-122"/>
                <a:cs typeface="Calibri" pitchFamily="34" charset="-120"/>
              </a:rPr>
              <a:t>ResNet-18</a:t>
            </a:r>
            <a:endParaRPr lang="en-US" sz="1250" dirty="0"/>
          </a:p>
          <a:p>
            <a:pPr indent="0" marL="0">
              <a:lnSpc>
                <a:spcPct val="105000"/>
              </a:lnSpc>
              <a:buNone/>
            </a:pPr>
            <a:r>
              <a:rPr lang="en-US" sz="1250" b="1" dirty="0">
                <a:solidFill>
                  <a:srgbClr val="1B2420"/>
                </a:solidFill>
                <a:latin typeface="Calibri" pitchFamily="34" charset="0"/>
                <a:ea typeface="Calibri" pitchFamily="34" charset="-122"/>
                <a:cs typeface="Calibri" pitchFamily="34" charset="-120"/>
              </a:rPr>
              <a:t>→ 512 numbers</a:t>
            </a:r>
            <a:endParaRPr lang="en-US" sz="1250" dirty="0"/>
          </a:p>
        </p:txBody>
      </p:sp>
      <p:sp>
        <p:nvSpPr>
          <p:cNvPr id="13" name="Text 9"/>
          <p:cNvSpPr txBox="1"/>
          <p:nvPr/>
        </p:nvSpPr>
        <p:spPr>
          <a:xfrm>
            <a:off x="5897880" y="1865376"/>
            <a:ext cx="237744" cy="457200"/>
          </a:xfrm>
          <a:prstGeom prst="rect">
            <a:avLst/>
          </a:prstGeom>
          <a:noFill/>
          <a:ln/>
        </p:spPr>
        <p:txBody>
          <a:bodyPr wrap="square" lIns="0" tIns="0" rIns="0" bIns="0" rtlCol="0" anchor="ctr"/>
          <a:lstStyle/>
          <a:p>
            <a:pPr algn="ctr" indent="0" marL="0">
              <a:buNone/>
            </a:pPr>
            <a:r>
              <a:rPr lang="en-US" sz="1800" b="1" dirty="0">
                <a:solidFill>
                  <a:srgbClr val="5B6660"/>
                </a:solidFill>
                <a:latin typeface="Calibri" pitchFamily="34" charset="0"/>
                <a:ea typeface="Calibri" pitchFamily="34" charset="-122"/>
                <a:cs typeface="Calibri" pitchFamily="34" charset="-120"/>
              </a:rPr>
              <a:t>→</a:t>
            </a:r>
            <a:endParaRPr lang="en-US" sz="1800" dirty="0"/>
          </a:p>
        </p:txBody>
      </p:sp>
      <p:sp>
        <p:nvSpPr>
          <p:cNvPr id="14" name="Shape 10"/>
          <p:cNvSpPr/>
          <p:nvPr/>
        </p:nvSpPr>
        <p:spPr>
          <a:xfrm>
            <a:off x="6144768" y="1481328"/>
            <a:ext cx="2542032" cy="1234440"/>
          </a:xfrm>
          <a:prstGeom prst="roundRect">
            <a:avLst>
              <a:gd name="adj" fmla="val 7407"/>
            </a:avLst>
          </a:prstGeom>
          <a:solidFill>
            <a:srgbClr val="14532D"/>
          </a:solidFill>
          <a:ln/>
        </p:spPr>
      </p:sp>
      <p:sp>
        <p:nvSpPr>
          <p:cNvPr id="15" name="Shape 11"/>
          <p:cNvSpPr/>
          <p:nvPr/>
        </p:nvSpPr>
        <p:spPr>
          <a:xfrm>
            <a:off x="6345936" y="1700784"/>
            <a:ext cx="512064" cy="512064"/>
          </a:xfrm>
          <a:prstGeom prst="ellipse">
            <a:avLst/>
          </a:prstGeom>
          <a:solidFill>
            <a:srgbClr val="F0A83C"/>
          </a:solidFill>
          <a:ln/>
        </p:spPr>
      </p:sp>
      <p:pic>
        <p:nvPicPr>
          <p:cNvPr id="16" name="Image 2" descr="/home/claude/deck/icons/layers.png">    </p:cNvPr>
          <p:cNvPicPr>
            <a:picLocks noChangeAspect="1"/>
          </p:cNvPicPr>
          <p:nvPr/>
        </p:nvPicPr>
        <p:blipFill>
          <a:blip r:embed="rId3"/>
          <a:stretch>
            <a:fillRect/>
          </a:stretch>
        </p:blipFill>
        <p:spPr>
          <a:xfrm>
            <a:off x="6479073" y="1833921"/>
            <a:ext cx="245791" cy="245791"/>
          </a:xfrm>
          <a:prstGeom prst="rect">
            <a:avLst/>
          </a:prstGeom>
        </p:spPr>
      </p:pic>
      <p:sp>
        <p:nvSpPr>
          <p:cNvPr id="17" name="Text 12"/>
          <p:cNvSpPr txBox="1"/>
          <p:nvPr/>
        </p:nvSpPr>
        <p:spPr>
          <a:xfrm>
            <a:off x="6967728" y="1645920"/>
            <a:ext cx="1581912" cy="914400"/>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Conv1D + pool</a:t>
            </a:r>
            <a:endParaRPr lang="en-US" sz="1250" dirty="0"/>
          </a:p>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 window W</a:t>
            </a:r>
            <a:endParaRPr lang="en-US" sz="1250" dirty="0"/>
          </a:p>
        </p:txBody>
      </p:sp>
      <p:sp>
        <p:nvSpPr>
          <p:cNvPr id="18" name="Text 13"/>
          <p:cNvSpPr txBox="1"/>
          <p:nvPr/>
        </p:nvSpPr>
        <p:spPr>
          <a:xfrm>
            <a:off x="8695944" y="1865376"/>
            <a:ext cx="237744" cy="457200"/>
          </a:xfrm>
          <a:prstGeom prst="rect">
            <a:avLst/>
          </a:prstGeom>
          <a:noFill/>
          <a:ln/>
        </p:spPr>
        <p:txBody>
          <a:bodyPr wrap="square" lIns="0" tIns="0" rIns="0" bIns="0" rtlCol="0" anchor="ctr"/>
          <a:lstStyle/>
          <a:p>
            <a:pPr algn="ctr" indent="0" marL="0">
              <a:buNone/>
            </a:pPr>
            <a:r>
              <a:rPr lang="en-US" sz="1800" b="1" dirty="0">
                <a:solidFill>
                  <a:srgbClr val="5B6660"/>
                </a:solidFill>
                <a:latin typeface="Calibri" pitchFamily="34" charset="0"/>
                <a:ea typeface="Calibri" pitchFamily="34" charset="-122"/>
                <a:cs typeface="Calibri" pitchFamily="34" charset="-120"/>
              </a:rPr>
              <a:t>→</a:t>
            </a:r>
            <a:endParaRPr lang="en-US" sz="1800" dirty="0"/>
          </a:p>
        </p:txBody>
      </p:sp>
      <p:sp>
        <p:nvSpPr>
          <p:cNvPr id="19" name="Shape 14"/>
          <p:cNvSpPr/>
          <p:nvPr/>
        </p:nvSpPr>
        <p:spPr>
          <a:xfrm>
            <a:off x="8942832" y="1481328"/>
            <a:ext cx="2542032" cy="1234440"/>
          </a:xfrm>
          <a:prstGeom prst="roundRect">
            <a:avLst>
              <a:gd name="adj" fmla="val 7407"/>
            </a:avLst>
          </a:prstGeom>
          <a:solidFill>
            <a:srgbClr val="F3F6F2"/>
          </a:solidFill>
          <a:ln/>
        </p:spPr>
      </p:sp>
      <p:sp>
        <p:nvSpPr>
          <p:cNvPr id="20" name="Shape 15"/>
          <p:cNvSpPr/>
          <p:nvPr/>
        </p:nvSpPr>
        <p:spPr>
          <a:xfrm>
            <a:off x="9144000" y="1700784"/>
            <a:ext cx="512064" cy="512064"/>
          </a:xfrm>
          <a:prstGeom prst="ellipse">
            <a:avLst/>
          </a:prstGeom>
          <a:solidFill>
            <a:srgbClr val="14532D"/>
          </a:solidFill>
          <a:ln/>
        </p:spPr>
      </p:sp>
      <p:pic>
        <p:nvPicPr>
          <p:cNvPr id="21" name="Image 3" descr="/home/claude/deck/icons/target.png">    </p:cNvPr>
          <p:cNvPicPr>
            <a:picLocks noChangeAspect="1"/>
          </p:cNvPicPr>
          <p:nvPr/>
        </p:nvPicPr>
        <p:blipFill>
          <a:blip r:embed="rId4"/>
          <a:stretch>
            <a:fillRect/>
          </a:stretch>
        </p:blipFill>
        <p:spPr>
          <a:xfrm>
            <a:off x="9277137" y="1833921"/>
            <a:ext cx="245791" cy="245791"/>
          </a:xfrm>
          <a:prstGeom prst="rect">
            <a:avLst/>
          </a:prstGeom>
        </p:spPr>
      </p:pic>
      <p:sp>
        <p:nvSpPr>
          <p:cNvPr id="22" name="Text 16"/>
          <p:cNvSpPr txBox="1"/>
          <p:nvPr/>
        </p:nvSpPr>
        <p:spPr>
          <a:xfrm>
            <a:off x="9765792" y="1645920"/>
            <a:ext cx="1581912" cy="914400"/>
          </a:xfrm>
          <a:prstGeom prst="rect">
            <a:avLst/>
          </a:prstGeom>
          <a:noFill/>
          <a:ln/>
        </p:spPr>
        <p:txBody>
          <a:bodyPr wrap="square" lIns="0" tIns="0" rIns="0" bIns="0" rtlCol="0" anchor="ctr"/>
          <a:lstStyle/>
          <a:p>
            <a:pPr indent="0" marL="0">
              <a:lnSpc>
                <a:spcPct val="105000"/>
              </a:lnSpc>
              <a:buNone/>
            </a:pPr>
            <a:r>
              <a:rPr lang="en-US" sz="1250" b="1" dirty="0">
                <a:solidFill>
                  <a:srgbClr val="1B2420"/>
                </a:solidFill>
                <a:latin typeface="Calibri" pitchFamily="34" charset="0"/>
                <a:ea typeface="Calibri" pitchFamily="34" charset="-122"/>
                <a:cs typeface="Calibri" pitchFamily="34" charset="-120"/>
              </a:rPr>
              <a:t>12 sigmoid</a:t>
            </a:r>
            <a:endParaRPr lang="en-US" sz="1250" dirty="0"/>
          </a:p>
          <a:p>
            <a:pPr indent="0" marL="0">
              <a:lnSpc>
                <a:spcPct val="105000"/>
              </a:lnSpc>
              <a:buNone/>
            </a:pPr>
            <a:r>
              <a:rPr lang="en-US" sz="1250" b="1" dirty="0">
                <a:solidFill>
                  <a:srgbClr val="1B2420"/>
                </a:solidFill>
                <a:latin typeface="Calibri" pitchFamily="34" charset="0"/>
                <a:ea typeface="Calibri" pitchFamily="34" charset="-122"/>
                <a:cs typeface="Calibri" pitchFamily="34" charset="-120"/>
              </a:rPr>
              <a:t>probabilities</a:t>
            </a:r>
            <a:endParaRPr lang="en-US" sz="1250" dirty="0"/>
          </a:p>
        </p:txBody>
      </p:sp>
      <p:sp>
        <p:nvSpPr>
          <p:cNvPr id="23" name="Text 17"/>
          <p:cNvSpPr txBox="1"/>
          <p:nvPr/>
        </p:nvSpPr>
        <p:spPr>
          <a:xfrm>
            <a:off x="548640" y="2788920"/>
            <a:ext cx="7315200" cy="274320"/>
          </a:xfrm>
          <a:prstGeom prst="rect">
            <a:avLst/>
          </a:prstGeom>
          <a:noFill/>
          <a:ln/>
        </p:spPr>
        <p:txBody>
          <a:bodyPr wrap="square" lIns="0" tIns="0" rIns="0" bIns="0" rtlCol="0" anchor="ctr"/>
          <a:lstStyle/>
          <a:p>
            <a:pPr indent="0" marL="0">
              <a:buNone/>
            </a:pPr>
            <a:r>
              <a:rPr lang="en-US" sz="1000" i="1" dirty="0">
                <a:solidFill>
                  <a:srgbClr val="5B6660"/>
                </a:solidFill>
                <a:latin typeface="Calibri" pitchFamily="34" charset="0"/>
                <a:ea typeface="Calibri" pitchFamily="34" charset="-122"/>
                <a:cs typeface="Calibri" pitchFamily="34" charset="-120"/>
              </a:rPr>
              <a:t>Giancola et al., CVPR Workshops 2018  ·  Lea et al., CVPR 2017 (temporal convolutions)</a:t>
            </a:r>
            <a:endParaRPr lang="en-US" sz="1000" dirty="0"/>
          </a:p>
        </p:txBody>
      </p:sp>
      <p:sp>
        <p:nvSpPr>
          <p:cNvPr id="24" name="Shape 18"/>
          <p:cNvSpPr/>
          <p:nvPr/>
        </p:nvSpPr>
        <p:spPr>
          <a:xfrm>
            <a:off x="548640" y="3200400"/>
            <a:ext cx="6400800" cy="2377440"/>
          </a:xfrm>
          <a:prstGeom prst="roundRect">
            <a:avLst>
              <a:gd name="adj" fmla="val 3846"/>
            </a:avLst>
          </a:prstGeom>
          <a:solidFill>
            <a:srgbClr val="F3F6F2"/>
          </a:solidFill>
          <a:ln/>
          <a:effectLst>
            <a:outerShdw sx="100000" sy="100000" kx="0" ky="0" algn="bl" rotWithShape="0" blurRad="127000" dist="38100" dir="5400000">
              <a:srgbClr val="13182B">
                <a:alpha val="10000"/>
              </a:srgbClr>
            </a:outerShdw>
          </a:effectLst>
        </p:spPr>
      </p:sp>
      <p:sp>
        <p:nvSpPr>
          <p:cNvPr id="25" name="Text 19"/>
          <p:cNvSpPr txBox="1"/>
          <p:nvPr/>
        </p:nvSpPr>
        <p:spPr>
          <a:xfrm>
            <a:off x="822960" y="3364992"/>
            <a:ext cx="5852160" cy="320040"/>
          </a:xfrm>
          <a:prstGeom prst="rect">
            <a:avLst/>
          </a:prstGeom>
          <a:noFill/>
          <a:ln/>
        </p:spPr>
        <p:txBody>
          <a:bodyPr wrap="square" lIns="0" tIns="0" rIns="0" bIns="0" rtlCol="0" anchor="ctr"/>
          <a:lstStyle/>
          <a:p>
            <a:pPr indent="0" marL="0">
              <a:buNone/>
            </a:pPr>
            <a:r>
              <a:rPr lang="en-US" sz="1500" b="1" dirty="0">
                <a:solidFill>
                  <a:srgbClr val="14532D"/>
                </a:solidFill>
                <a:latin typeface="Cambria" pitchFamily="34" charset="0"/>
                <a:ea typeface="Cambria" pitchFamily="34" charset="-122"/>
                <a:cs typeface="Cambria" pitchFamily="34" charset="-120"/>
              </a:rPr>
              <a:t>Why this design</a:t>
            </a:r>
            <a:endParaRPr lang="en-US" sz="1500" dirty="0"/>
          </a:p>
        </p:txBody>
      </p:sp>
      <p:sp>
        <p:nvSpPr>
          <p:cNvPr id="26" name="Shape 20"/>
          <p:cNvSpPr/>
          <p:nvPr/>
        </p:nvSpPr>
        <p:spPr>
          <a:xfrm>
            <a:off x="822960" y="3749040"/>
            <a:ext cx="274320" cy="274320"/>
          </a:xfrm>
          <a:prstGeom prst="ellipse">
            <a:avLst/>
          </a:prstGeom>
          <a:solidFill>
            <a:srgbClr val="C97F1E"/>
          </a:solidFill>
          <a:ln/>
        </p:spPr>
      </p:sp>
      <p:pic>
        <p:nvPicPr>
          <p:cNvPr id="27" name="Image 4" descr="/home/claude/deck/icons/check.png">    </p:cNvPr>
          <p:cNvPicPr>
            <a:picLocks noChangeAspect="1"/>
          </p:cNvPicPr>
          <p:nvPr/>
        </p:nvPicPr>
        <p:blipFill>
          <a:blip r:embed="rId5"/>
          <a:stretch>
            <a:fillRect/>
          </a:stretch>
        </p:blipFill>
        <p:spPr>
          <a:xfrm>
            <a:off x="894283" y="3820363"/>
            <a:ext cx="131674" cy="131674"/>
          </a:xfrm>
          <a:prstGeom prst="rect">
            <a:avLst/>
          </a:prstGeom>
        </p:spPr>
      </p:pic>
      <p:sp>
        <p:nvSpPr>
          <p:cNvPr id="28" name="Text 21"/>
          <p:cNvSpPr txBox="1"/>
          <p:nvPr/>
        </p:nvSpPr>
        <p:spPr>
          <a:xfrm>
            <a:off x="1188720" y="3721608"/>
            <a:ext cx="5486400" cy="548640"/>
          </a:xfrm>
          <a:prstGeom prst="rect">
            <a:avLst/>
          </a:prstGeom>
          <a:noFill/>
          <a:ln/>
        </p:spPr>
        <p:txBody>
          <a:bodyPr wrap="square" lIns="0" tIns="0" rIns="0" bIns="0" rtlCol="0" anchor="t"/>
          <a:lstStyle/>
          <a:p>
            <a:pPr indent="0" marL="0">
              <a:lnSpc>
                <a:spcPct val="110000"/>
              </a:lnSpc>
              <a:buNone/>
            </a:pPr>
            <a:r>
              <a:rPr lang="en-US" sz="1130" b="1" dirty="0">
                <a:solidFill>
                  <a:srgbClr val="1B2420"/>
                </a:solidFill>
                <a:latin typeface="Calibri" pitchFamily="34" charset="0"/>
                <a:ea typeface="Calibri" pitchFamily="34" charset="-122"/>
                <a:cs typeface="Calibri" pitchFamily="34" charset="-120"/>
              </a:rPr>
              <a:t>One size fits all windows.  </a:t>
            </a:r>
            <a:pPr indent="0" marL="0">
              <a:lnSpc>
                <a:spcPct val="110000"/>
              </a:lnSpc>
              <a:buNone/>
            </a:pPr>
            <a:r>
              <a:rPr lang="en-US" sz="1130" dirty="0">
                <a:solidFill>
                  <a:srgbClr val="5B6660"/>
                </a:solidFill>
                <a:latin typeface="Calibri" pitchFamily="34" charset="0"/>
                <a:ea typeface="Calibri" pitchFamily="34" charset="-122"/>
                <a:cs typeface="Calibri" pitchFamily="34" charset="-120"/>
              </a:rPr>
              <a:t>Average-pooling means the same 206,028 weights handle a 7s or 31s window — exactly what our experiment needs.</a:t>
            </a:r>
            <a:endParaRPr lang="en-US" sz="1130" dirty="0"/>
          </a:p>
        </p:txBody>
      </p:sp>
      <p:sp>
        <p:nvSpPr>
          <p:cNvPr id="29" name="Shape 22"/>
          <p:cNvSpPr/>
          <p:nvPr/>
        </p:nvSpPr>
        <p:spPr>
          <a:xfrm>
            <a:off x="822960" y="4343400"/>
            <a:ext cx="274320" cy="274320"/>
          </a:xfrm>
          <a:prstGeom prst="ellipse">
            <a:avLst/>
          </a:prstGeom>
          <a:solidFill>
            <a:srgbClr val="C97F1E"/>
          </a:solidFill>
          <a:ln/>
        </p:spPr>
      </p:sp>
      <p:pic>
        <p:nvPicPr>
          <p:cNvPr id="30" name="Image 5" descr="/home/claude/deck/icons/check.png">    </p:cNvPr>
          <p:cNvPicPr>
            <a:picLocks noChangeAspect="1"/>
          </p:cNvPicPr>
          <p:nvPr/>
        </p:nvPicPr>
        <p:blipFill>
          <a:blip r:embed="rId6"/>
          <a:stretch>
            <a:fillRect/>
          </a:stretch>
        </p:blipFill>
        <p:spPr>
          <a:xfrm>
            <a:off x="894283" y="4414723"/>
            <a:ext cx="131674" cy="131674"/>
          </a:xfrm>
          <a:prstGeom prst="rect">
            <a:avLst/>
          </a:prstGeom>
        </p:spPr>
      </p:pic>
      <p:sp>
        <p:nvSpPr>
          <p:cNvPr id="31" name="Text 23"/>
          <p:cNvSpPr txBox="1"/>
          <p:nvPr/>
        </p:nvSpPr>
        <p:spPr>
          <a:xfrm>
            <a:off x="1188720" y="4315968"/>
            <a:ext cx="5486400" cy="548640"/>
          </a:xfrm>
          <a:prstGeom prst="rect">
            <a:avLst/>
          </a:prstGeom>
          <a:noFill/>
          <a:ln/>
        </p:spPr>
        <p:txBody>
          <a:bodyPr wrap="square" lIns="0" tIns="0" rIns="0" bIns="0" rtlCol="0" anchor="t"/>
          <a:lstStyle/>
          <a:p>
            <a:pPr indent="0" marL="0">
              <a:lnSpc>
                <a:spcPct val="110000"/>
              </a:lnSpc>
              <a:buNone/>
            </a:pPr>
            <a:r>
              <a:rPr lang="en-US" sz="1130" b="1" dirty="0">
                <a:solidFill>
                  <a:srgbClr val="1B2420"/>
                </a:solidFill>
                <a:latin typeface="Calibri" pitchFamily="34" charset="0"/>
                <a:ea typeface="Calibri" pitchFamily="34" charset="-122"/>
                <a:cs typeface="Calibri" pitchFamily="34" charset="-120"/>
              </a:rPr>
              <a:t>Corrects for rare events.  </a:t>
            </a:r>
            <a:pPr indent="0" marL="0">
              <a:lnSpc>
                <a:spcPct val="110000"/>
              </a:lnSpc>
              <a:buNone/>
            </a:pPr>
            <a:r>
              <a:rPr lang="en-US" sz="1130" dirty="0">
                <a:solidFill>
                  <a:srgbClr val="5B6660"/>
                </a:solidFill>
                <a:latin typeface="Calibri" pitchFamily="34" charset="0"/>
                <a:ea typeface="Calibri" pitchFamily="34" charset="-122"/>
                <a:cs typeface="Calibri" pitchFamily="34" charset="-120"/>
              </a:rPr>
              <a:t>Real events are outnumbered ≈ 34-to-1 by quiet play, so the loss is weighted 15× toward positive detections.</a:t>
            </a:r>
            <a:endParaRPr lang="en-US" sz="1130" dirty="0"/>
          </a:p>
        </p:txBody>
      </p:sp>
      <p:sp>
        <p:nvSpPr>
          <p:cNvPr id="32" name="Shape 24"/>
          <p:cNvSpPr/>
          <p:nvPr/>
        </p:nvSpPr>
        <p:spPr>
          <a:xfrm>
            <a:off x="822960" y="4937760"/>
            <a:ext cx="274320" cy="274320"/>
          </a:xfrm>
          <a:prstGeom prst="ellipse">
            <a:avLst/>
          </a:prstGeom>
          <a:solidFill>
            <a:srgbClr val="C97F1E"/>
          </a:solidFill>
          <a:ln/>
        </p:spPr>
      </p:sp>
      <p:pic>
        <p:nvPicPr>
          <p:cNvPr id="33" name="Image 6" descr="/home/claude/deck/icons/check.png">    </p:cNvPr>
          <p:cNvPicPr>
            <a:picLocks noChangeAspect="1"/>
          </p:cNvPicPr>
          <p:nvPr/>
        </p:nvPicPr>
        <p:blipFill>
          <a:blip r:embed="rId7"/>
          <a:stretch>
            <a:fillRect/>
          </a:stretch>
        </p:blipFill>
        <p:spPr>
          <a:xfrm>
            <a:off x="894283" y="5009083"/>
            <a:ext cx="131674" cy="131674"/>
          </a:xfrm>
          <a:prstGeom prst="rect">
            <a:avLst/>
          </a:prstGeom>
        </p:spPr>
      </p:pic>
      <p:sp>
        <p:nvSpPr>
          <p:cNvPr id="34" name="Text 25"/>
          <p:cNvSpPr txBox="1"/>
          <p:nvPr/>
        </p:nvSpPr>
        <p:spPr>
          <a:xfrm>
            <a:off x="1188720" y="4910328"/>
            <a:ext cx="5486400" cy="548640"/>
          </a:xfrm>
          <a:prstGeom prst="rect">
            <a:avLst/>
          </a:prstGeom>
          <a:noFill/>
          <a:ln/>
        </p:spPr>
        <p:txBody>
          <a:bodyPr wrap="square" lIns="0" tIns="0" rIns="0" bIns="0" rtlCol="0" anchor="t"/>
          <a:lstStyle/>
          <a:p>
            <a:pPr indent="0" marL="0">
              <a:lnSpc>
                <a:spcPct val="110000"/>
              </a:lnSpc>
              <a:buNone/>
            </a:pPr>
            <a:r>
              <a:rPr lang="en-US" sz="1130" b="1" dirty="0">
                <a:solidFill>
                  <a:srgbClr val="1B2420"/>
                </a:solidFill>
                <a:latin typeface="Calibri" pitchFamily="34" charset="0"/>
                <a:ea typeface="Calibri" pitchFamily="34" charset="-122"/>
                <a:cs typeface="Calibri" pitchFamily="34" charset="-120"/>
              </a:rPr>
              <a:t>Light enough for real deployment.  </a:t>
            </a:r>
            <a:pPr indent="0" marL="0">
              <a:lnSpc>
                <a:spcPct val="110000"/>
              </a:lnSpc>
              <a:buNone/>
            </a:pPr>
            <a:r>
              <a:rPr lang="en-US" sz="1130" dirty="0">
                <a:solidFill>
                  <a:srgbClr val="5B6660"/>
                </a:solidFill>
                <a:latin typeface="Calibri" pitchFamily="34" charset="0"/>
                <a:ea typeface="Calibri" pitchFamily="34" charset="-122"/>
                <a:cs typeface="Calibri" pitchFamily="34" charset="-120"/>
              </a:rPr>
              <a:t>No recurrence, no heavy backbone — built for laptops and low-cost hardware, not server farms.</a:t>
            </a:r>
            <a:endParaRPr lang="en-US" sz="1130" dirty="0"/>
          </a:p>
        </p:txBody>
      </p:sp>
      <p:sp>
        <p:nvSpPr>
          <p:cNvPr id="35" name="Shape 26"/>
          <p:cNvSpPr/>
          <p:nvPr/>
        </p:nvSpPr>
        <p:spPr>
          <a:xfrm>
            <a:off x="7223760" y="3200400"/>
            <a:ext cx="4416552" cy="2377440"/>
          </a:xfrm>
          <a:prstGeom prst="roundRect">
            <a:avLst>
              <a:gd name="adj" fmla="val 3846"/>
            </a:avLst>
          </a:prstGeom>
          <a:solidFill>
            <a:srgbClr val="13182B"/>
          </a:solidFill>
          <a:ln/>
          <a:effectLst>
            <a:outerShdw sx="100000" sy="100000" kx="0" ky="0" algn="bl" rotWithShape="0" blurRad="127000" dist="38100" dir="5400000">
              <a:srgbClr val="13182B">
                <a:alpha val="10000"/>
              </a:srgbClr>
            </a:outerShdw>
          </a:effectLst>
        </p:spPr>
      </p:sp>
      <p:sp>
        <p:nvSpPr>
          <p:cNvPr id="36" name="Text 27"/>
          <p:cNvSpPr txBox="1"/>
          <p:nvPr/>
        </p:nvSpPr>
        <p:spPr>
          <a:xfrm>
            <a:off x="7498080" y="3364992"/>
            <a:ext cx="3931920" cy="274320"/>
          </a:xfrm>
          <a:prstGeom prst="rect">
            <a:avLst/>
          </a:prstGeom>
          <a:noFill/>
          <a:ln/>
        </p:spPr>
        <p:txBody>
          <a:bodyPr wrap="square" lIns="0" tIns="0" rIns="0" bIns="0" rtlCol="0" anchor="ctr"/>
          <a:lstStyle/>
          <a:p>
            <a:pPr indent="0" marL="0">
              <a:buNone/>
            </a:pPr>
            <a:r>
              <a:rPr lang="en-US" sz="1050" b="1" spc="150" kern="0" dirty="0">
                <a:solidFill>
                  <a:srgbClr val="F0A83C"/>
                </a:solidFill>
                <a:latin typeface="Calibri" pitchFamily="34" charset="0"/>
                <a:ea typeface="Calibri" pitchFamily="34" charset="-122"/>
                <a:cs typeface="Calibri" pitchFamily="34" charset="-120"/>
              </a:rPr>
              <a:t>VERIFIED ON GPU (COLAB T4)</a:t>
            </a:r>
            <a:endParaRPr lang="en-US" sz="1050" dirty="0"/>
          </a:p>
        </p:txBody>
      </p:sp>
      <p:sp>
        <p:nvSpPr>
          <p:cNvPr id="37" name="Text 28"/>
          <p:cNvSpPr txBox="1"/>
          <p:nvPr/>
        </p:nvSpPr>
        <p:spPr>
          <a:xfrm>
            <a:off x="7498080" y="3730752"/>
            <a:ext cx="173736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206,028</a:t>
            </a:r>
            <a:endParaRPr lang="en-US" sz="1900" dirty="0"/>
          </a:p>
        </p:txBody>
      </p:sp>
      <p:sp>
        <p:nvSpPr>
          <p:cNvPr id="38" name="Text 29"/>
          <p:cNvSpPr txBox="1"/>
          <p:nvPr/>
        </p:nvSpPr>
        <p:spPr>
          <a:xfrm>
            <a:off x="9281160" y="3730752"/>
            <a:ext cx="2286000" cy="457200"/>
          </a:xfrm>
          <a:prstGeom prst="rect">
            <a:avLst/>
          </a:prstGeom>
          <a:noFill/>
          <a:ln/>
        </p:spPr>
        <p:txBody>
          <a:bodyPr wrap="square" lIns="0" tIns="0" rIns="0" bIns="0" rtlCol="0" anchor="ctr"/>
          <a:lstStyle/>
          <a:p>
            <a:pPr indent="0" marL="0">
              <a:lnSpc>
                <a:spcPct val="105000"/>
              </a:lnSpc>
              <a:buNone/>
            </a:pPr>
            <a:r>
              <a:rPr lang="en-US" sz="1050" dirty="0">
                <a:solidFill>
                  <a:srgbClr val="B9C7BC"/>
                </a:solidFill>
                <a:latin typeface="Calibri" pitchFamily="34" charset="0"/>
                <a:ea typeface="Calibri" pitchFamily="34" charset="-122"/>
                <a:cs typeface="Calibri" pitchFamily="34" charset="-120"/>
              </a:rPr>
              <a:t>trainable parameters</a:t>
            </a:r>
            <a:endParaRPr lang="en-US" sz="1050" dirty="0"/>
          </a:p>
        </p:txBody>
      </p:sp>
      <p:sp>
        <p:nvSpPr>
          <p:cNvPr id="39" name="Text 30"/>
          <p:cNvSpPr txBox="1"/>
          <p:nvPr/>
        </p:nvSpPr>
        <p:spPr>
          <a:xfrm>
            <a:off x="7498080" y="4352544"/>
            <a:ext cx="173736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~2 sec</a:t>
            </a:r>
            <a:endParaRPr lang="en-US" sz="1900" dirty="0"/>
          </a:p>
        </p:txBody>
      </p:sp>
      <p:sp>
        <p:nvSpPr>
          <p:cNvPr id="40" name="Text 31"/>
          <p:cNvSpPr txBox="1"/>
          <p:nvPr/>
        </p:nvSpPr>
        <p:spPr>
          <a:xfrm>
            <a:off x="9281160" y="4352544"/>
            <a:ext cx="2286000" cy="457200"/>
          </a:xfrm>
          <a:prstGeom prst="rect">
            <a:avLst/>
          </a:prstGeom>
          <a:noFill/>
          <a:ln/>
        </p:spPr>
        <p:txBody>
          <a:bodyPr wrap="square" lIns="0" tIns="0" rIns="0" bIns="0" rtlCol="0" anchor="ctr"/>
          <a:lstStyle/>
          <a:p>
            <a:pPr indent="0" marL="0">
              <a:lnSpc>
                <a:spcPct val="105000"/>
              </a:lnSpc>
              <a:buNone/>
            </a:pPr>
            <a:r>
              <a:rPr lang="en-US" sz="1050" dirty="0">
                <a:solidFill>
                  <a:srgbClr val="B9C7BC"/>
                </a:solidFill>
                <a:latin typeface="Calibri" pitchFamily="34" charset="0"/>
                <a:ea typeface="Calibri" pitchFamily="34" charset="-122"/>
                <a:cs typeface="Calibri" pitchFamily="34" charset="-120"/>
              </a:rPr>
              <a:t>to train 12 epochs</a:t>
            </a:r>
            <a:endParaRPr lang="en-US" sz="1050" dirty="0"/>
          </a:p>
        </p:txBody>
      </p:sp>
      <p:sp>
        <p:nvSpPr>
          <p:cNvPr id="41" name="Text 32"/>
          <p:cNvSpPr txBox="1"/>
          <p:nvPr/>
        </p:nvSpPr>
        <p:spPr>
          <a:xfrm>
            <a:off x="7498080" y="4974336"/>
            <a:ext cx="173736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20k–33k /sec</a:t>
            </a:r>
            <a:endParaRPr lang="en-US" sz="1900" dirty="0"/>
          </a:p>
        </p:txBody>
      </p:sp>
      <p:sp>
        <p:nvSpPr>
          <p:cNvPr id="42" name="Text 33"/>
          <p:cNvSpPr txBox="1"/>
          <p:nvPr/>
        </p:nvSpPr>
        <p:spPr>
          <a:xfrm>
            <a:off x="9281160" y="4974336"/>
            <a:ext cx="2286000" cy="457200"/>
          </a:xfrm>
          <a:prstGeom prst="rect">
            <a:avLst/>
          </a:prstGeom>
          <a:noFill/>
          <a:ln/>
        </p:spPr>
        <p:txBody>
          <a:bodyPr wrap="square" lIns="0" tIns="0" rIns="0" bIns="0" rtlCol="0" anchor="ctr"/>
          <a:lstStyle/>
          <a:p>
            <a:pPr indent="0" marL="0">
              <a:lnSpc>
                <a:spcPct val="105000"/>
              </a:lnSpc>
              <a:buNone/>
            </a:pPr>
            <a:r>
              <a:rPr lang="en-US" sz="1050" dirty="0">
                <a:solidFill>
                  <a:srgbClr val="B9C7BC"/>
                </a:solidFill>
                <a:latin typeface="Calibri" pitchFamily="34" charset="0"/>
                <a:ea typeface="Calibri" pitchFamily="34" charset="-122"/>
                <a:cs typeface="Calibri" pitchFamily="34" charset="-120"/>
              </a:rPr>
              <a:t>windows scored per second at inference</a:t>
            </a:r>
            <a:endParaRPr lang="en-US" sz="1050" dirty="0"/>
          </a:p>
        </p:txBody>
      </p:sp>
      <p:sp>
        <p:nvSpPr>
          <p:cNvPr id="43" name="Text 34"/>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660"/>
                </a:solidFill>
                <a:latin typeface="Calibri" pitchFamily="34" charset="0"/>
                <a:ea typeface="Calibri" pitchFamily="34" charset="-122"/>
                <a:cs typeface="Calibri" pitchFamily="34" charset="-120"/>
              </a:rPr>
              <a:t>PitchVision  ·  PARC 2026 AI League</a:t>
            </a:r>
            <a:endParaRPr lang="en-US" sz="900" dirty="0"/>
          </a:p>
        </p:txBody>
      </p:sp>
      <p:sp>
        <p:nvSpPr>
          <p:cNvPr id="44" name="Text 35"/>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66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2"/>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14532D"/>
                </a:solidFill>
                <a:latin typeface="Calibri" pitchFamily="34" charset="0"/>
                <a:ea typeface="Calibri" pitchFamily="34" charset="-122"/>
                <a:cs typeface="Calibri" pitchFamily="34" charset="-120"/>
              </a:rPr>
              <a:t>4 · PRELIMINARY RESULTS</a:t>
            </a:r>
            <a:endParaRPr lang="en-US" sz="1250" dirty="0"/>
          </a:p>
        </p:txBody>
      </p:sp>
      <p:sp>
        <p:nvSpPr>
          <p:cNvPr id="3" name="Text 1"/>
          <p:cNvSpPr txBox="1"/>
          <p:nvPr/>
        </p:nvSpPr>
        <p:spPr>
          <a:xfrm>
            <a:off x="548640" y="658368"/>
            <a:ext cx="9601200" cy="658368"/>
          </a:xfrm>
          <a:prstGeom prst="rect">
            <a:avLst/>
          </a:prstGeom>
          <a:noFill/>
          <a:ln/>
        </p:spPr>
        <p:txBody>
          <a:bodyPr wrap="square" lIns="0" tIns="0" rIns="0" bIns="0" rtlCol="0" anchor="ctr"/>
          <a:lstStyle/>
          <a:p>
            <a:pPr indent="0" marL="0">
              <a:buNone/>
            </a:pPr>
            <a:r>
              <a:rPr lang="en-US" sz="3000" b="1" dirty="0">
                <a:solidFill>
                  <a:srgbClr val="1B2420"/>
                </a:solidFill>
                <a:latin typeface="Cambria" pitchFamily="34" charset="0"/>
                <a:ea typeface="Cambria" pitchFamily="34" charset="-122"/>
                <a:cs typeface="Cambria" pitchFamily="34" charset="-120"/>
              </a:rPr>
              <a:t>Shorter memory, sharper detection — confirmed 5 times over.</a:t>
            </a:r>
            <a:endParaRPr lang="en-US" sz="3000" dirty="0"/>
          </a:p>
        </p:txBody>
      </p:sp>
      <p:sp>
        <p:nvSpPr>
          <p:cNvPr id="4" name="Shape 2"/>
          <p:cNvSpPr/>
          <p:nvPr/>
        </p:nvSpPr>
        <p:spPr>
          <a:xfrm>
            <a:off x="548640" y="1481328"/>
            <a:ext cx="6537960" cy="4160520"/>
          </a:xfrm>
          <a:prstGeom prst="roundRect">
            <a:avLst>
              <a:gd name="adj" fmla="val 2198"/>
            </a:avLst>
          </a:prstGeom>
          <a:solidFill>
            <a:srgbClr val="FFFFFF"/>
          </a:solidFill>
          <a:ln w="12700">
            <a:solidFill>
              <a:srgbClr val="DDE3DD"/>
            </a:solidFill>
            <a:prstDash val="solid"/>
          </a:ln>
          <a:effectLst>
            <a:outerShdw sx="100000" sy="100000" kx="0" ky="0" algn="bl" rotWithShape="0" blurRad="127000" dist="38100" dir="5400000">
              <a:srgbClr val="13182B">
                <a:alpha val="10000"/>
              </a:srgbClr>
            </a:outerShdw>
          </a:effectLst>
        </p:spPr>
      </p:sp>
      <p:sp>
        <p:nvSpPr>
          <p:cNvPr id="5" name="Text 3"/>
          <p:cNvSpPr txBox="1"/>
          <p:nvPr/>
        </p:nvSpPr>
        <p:spPr>
          <a:xfrm>
            <a:off x="822960" y="1664208"/>
            <a:ext cx="5943600" cy="320040"/>
          </a:xfrm>
          <a:prstGeom prst="rect">
            <a:avLst/>
          </a:prstGeom>
          <a:noFill/>
          <a:ln/>
        </p:spPr>
        <p:txBody>
          <a:bodyPr wrap="square" lIns="0" tIns="0" rIns="0" bIns="0" rtlCol="0" anchor="ctr"/>
          <a:lstStyle/>
          <a:p>
            <a:pPr indent="0" marL="0">
              <a:buNone/>
            </a:pPr>
            <a:r>
              <a:rPr lang="en-US" sz="1450" b="1" dirty="0">
                <a:solidFill>
                  <a:srgbClr val="1B2420"/>
                </a:solidFill>
                <a:latin typeface="Cambria" pitchFamily="34" charset="0"/>
                <a:ea typeface="Cambria" pitchFamily="34" charset="-122"/>
                <a:cs typeface="Cambria" pitchFamily="34" charset="-120"/>
              </a:rPr>
              <a:t>Detection score by context window</a:t>
            </a:r>
            <a:endParaRPr lang="en-US" sz="1450" dirty="0"/>
          </a:p>
        </p:txBody>
      </p:sp>
      <p:graphicFrame>
        <p:nvGraphicFramePr>
          <p:cNvPr id="6" name="Chart 0" descr=""/>
          <p:cNvGraphicFramePr/>
          <p:nvPr/>
        </p:nvGraphicFramePr>
        <p:xfrm>
          <a:off x="685800" y="2011680"/>
          <a:ext cx="6263640" cy="32461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22960" y="5230368"/>
            <a:ext cx="6035040" cy="365760"/>
          </a:xfrm>
          <a:prstGeom prst="rect">
            <a:avLst/>
          </a:prstGeom>
          <a:noFill/>
          <a:ln/>
        </p:spPr>
        <p:txBody>
          <a:bodyPr wrap="square" lIns="0" tIns="0" rIns="0" bIns="0" rtlCol="0" anchor="ctr"/>
          <a:lstStyle/>
          <a:p>
            <a:pPr indent="0" marL="0">
              <a:lnSpc>
                <a:spcPct val="110000"/>
              </a:lnSpc>
              <a:buNone/>
            </a:pPr>
            <a:r>
              <a:rPr lang="en-US" sz="1000" i="1" dirty="0">
                <a:solidFill>
                  <a:srgbClr val="5B6660"/>
                </a:solidFill>
                <a:latin typeface="Calibri" pitchFamily="34" charset="0"/>
                <a:ea typeface="Calibri" pitchFamily="34" charset="-122"/>
                <a:cs typeface="Calibri" pitchFamily="34" charset="-120"/>
              </a:rPr>
              <a:t>For reference, guessing at random scores ≈ 0.225 on this same test: W=7 and W=15 clearly beat it; W=31 is roughly tied with random.</a:t>
            </a:r>
            <a:endParaRPr lang="en-US" sz="1000" dirty="0"/>
          </a:p>
        </p:txBody>
      </p:sp>
      <p:sp>
        <p:nvSpPr>
          <p:cNvPr id="8" name="Shape 5"/>
          <p:cNvSpPr/>
          <p:nvPr/>
        </p:nvSpPr>
        <p:spPr>
          <a:xfrm>
            <a:off x="7223760" y="1481328"/>
            <a:ext cx="4416552" cy="4160520"/>
          </a:xfrm>
          <a:prstGeom prst="roundRect">
            <a:avLst>
              <a:gd name="adj" fmla="val 2198"/>
            </a:avLst>
          </a:prstGeom>
          <a:solidFill>
            <a:srgbClr val="14532D"/>
          </a:solidFill>
          <a:ln/>
          <a:effectLst>
            <a:outerShdw sx="100000" sy="100000" kx="0" ky="0" algn="bl" rotWithShape="0" blurRad="127000" dist="38100" dir="5400000">
              <a:srgbClr val="13182B">
                <a:alpha val="10000"/>
              </a:srgbClr>
            </a:outerShdw>
          </a:effectLst>
        </p:spPr>
      </p:sp>
      <p:sp>
        <p:nvSpPr>
          <p:cNvPr id="9" name="Text 6"/>
          <p:cNvSpPr txBox="1"/>
          <p:nvPr/>
        </p:nvSpPr>
        <p:spPr>
          <a:xfrm>
            <a:off x="7498080" y="1645920"/>
            <a:ext cx="3931920" cy="3200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What this means</a:t>
            </a:r>
            <a:endParaRPr lang="en-US" sz="1500" dirty="0"/>
          </a:p>
        </p:txBody>
      </p:sp>
      <p:sp>
        <p:nvSpPr>
          <p:cNvPr id="10" name="Shape 7"/>
          <p:cNvSpPr/>
          <p:nvPr/>
        </p:nvSpPr>
        <p:spPr>
          <a:xfrm>
            <a:off x="7498080" y="2148840"/>
            <a:ext cx="292608" cy="292608"/>
          </a:xfrm>
          <a:prstGeom prst="ellipse">
            <a:avLst/>
          </a:prstGeom>
          <a:solidFill>
            <a:srgbClr val="F0A83C"/>
          </a:solidFill>
          <a:ln/>
        </p:spPr>
      </p:sp>
      <p:pic>
        <p:nvPicPr>
          <p:cNvPr id="11" name="Image 0" descr="/home/claude/deck/icons/check.png">    </p:cNvPr>
          <p:cNvPicPr>
            <a:picLocks noChangeAspect="1"/>
          </p:cNvPicPr>
          <p:nvPr/>
        </p:nvPicPr>
        <p:blipFill>
          <a:blip r:embed="rId2"/>
          <a:stretch>
            <a:fillRect/>
          </a:stretch>
        </p:blipFill>
        <p:spPr>
          <a:xfrm>
            <a:off x="7574158" y="2224918"/>
            <a:ext cx="140452" cy="140452"/>
          </a:xfrm>
          <a:prstGeom prst="rect">
            <a:avLst/>
          </a:prstGeom>
        </p:spPr>
      </p:pic>
      <p:sp>
        <p:nvSpPr>
          <p:cNvPr id="12" name="Text 8"/>
          <p:cNvSpPr txBox="1"/>
          <p:nvPr/>
        </p:nvSpPr>
        <p:spPr>
          <a:xfrm>
            <a:off x="7909560" y="2121408"/>
            <a:ext cx="3657600" cy="1005840"/>
          </a:xfrm>
          <a:prstGeom prst="rect">
            <a:avLst/>
          </a:prstGeom>
          <a:noFill/>
          <a:ln/>
        </p:spPr>
        <p:txBody>
          <a:bodyPr wrap="square" lIns="0" tIns="0" rIns="0" bIns="0" rtlCol="0" anchor="ctr"/>
          <a:lstStyle/>
          <a:p>
            <a:pPr indent="0" marL="0">
              <a:lnSpc>
                <a:spcPct val="115000"/>
              </a:lnSpc>
              <a:buNone/>
            </a:pPr>
            <a:r>
              <a:rPr lang="en-US" sz="1130" dirty="0">
                <a:solidFill>
                  <a:srgbClr val="FFFFFF"/>
                </a:solidFill>
                <a:latin typeface="Calibri" pitchFamily="34" charset="0"/>
                <a:ea typeface="Calibri" pitchFamily="34" charset="-122"/>
                <a:cs typeface="Calibri" pitchFamily="34" charset="-120"/>
              </a:rPr>
              <a:t>The 7-second window beat the 15-second baseline in all 5 independent runs — not a one-off.</a:t>
            </a:r>
            <a:endParaRPr lang="en-US" sz="1130" dirty="0"/>
          </a:p>
        </p:txBody>
      </p:sp>
      <p:sp>
        <p:nvSpPr>
          <p:cNvPr id="13" name="Shape 9"/>
          <p:cNvSpPr/>
          <p:nvPr/>
        </p:nvSpPr>
        <p:spPr>
          <a:xfrm>
            <a:off x="7498080" y="3227832"/>
            <a:ext cx="292608" cy="292608"/>
          </a:xfrm>
          <a:prstGeom prst="ellipse">
            <a:avLst/>
          </a:prstGeom>
          <a:solidFill>
            <a:srgbClr val="F0A83C"/>
          </a:solidFill>
          <a:ln/>
        </p:spPr>
      </p:sp>
      <p:pic>
        <p:nvPicPr>
          <p:cNvPr id="14" name="Image 1" descr="/home/claude/deck/icons/check.png">    </p:cNvPr>
          <p:cNvPicPr>
            <a:picLocks noChangeAspect="1"/>
          </p:cNvPicPr>
          <p:nvPr/>
        </p:nvPicPr>
        <p:blipFill>
          <a:blip r:embed="rId3"/>
          <a:stretch>
            <a:fillRect/>
          </a:stretch>
        </p:blipFill>
        <p:spPr>
          <a:xfrm>
            <a:off x="7574158" y="3303910"/>
            <a:ext cx="140452" cy="140452"/>
          </a:xfrm>
          <a:prstGeom prst="rect">
            <a:avLst/>
          </a:prstGeom>
        </p:spPr>
      </p:pic>
      <p:sp>
        <p:nvSpPr>
          <p:cNvPr id="15" name="Text 10"/>
          <p:cNvSpPr txBox="1"/>
          <p:nvPr/>
        </p:nvSpPr>
        <p:spPr>
          <a:xfrm>
            <a:off x="7909560" y="3200400"/>
            <a:ext cx="3657600" cy="1005840"/>
          </a:xfrm>
          <a:prstGeom prst="rect">
            <a:avLst/>
          </a:prstGeom>
          <a:noFill/>
          <a:ln/>
        </p:spPr>
        <p:txBody>
          <a:bodyPr wrap="square" lIns="0" tIns="0" rIns="0" bIns="0" rtlCol="0" anchor="ctr"/>
          <a:lstStyle/>
          <a:p>
            <a:pPr indent="0" marL="0">
              <a:lnSpc>
                <a:spcPct val="115000"/>
              </a:lnSpc>
              <a:buNone/>
            </a:pPr>
            <a:r>
              <a:rPr lang="en-US" sz="1130" dirty="0">
                <a:solidFill>
                  <a:srgbClr val="FFFFFF"/>
                </a:solidFill>
                <a:latin typeface="Calibri" pitchFamily="34" charset="0"/>
                <a:ea typeface="Calibri" pitchFamily="34" charset="-122"/>
                <a:cs typeface="Calibri" pitchFamily="34" charset="-120"/>
              </a:rPr>
              <a:t>The gain is largest exactly where it matters most: pinpointing the instant of an event, not just its general area.</a:t>
            </a:r>
            <a:endParaRPr lang="en-US" sz="1130" dirty="0"/>
          </a:p>
        </p:txBody>
      </p:sp>
      <p:sp>
        <p:nvSpPr>
          <p:cNvPr id="16" name="Shape 11"/>
          <p:cNvSpPr/>
          <p:nvPr/>
        </p:nvSpPr>
        <p:spPr>
          <a:xfrm>
            <a:off x="7498080" y="4306824"/>
            <a:ext cx="292608" cy="292608"/>
          </a:xfrm>
          <a:prstGeom prst="ellipse">
            <a:avLst/>
          </a:prstGeom>
          <a:solidFill>
            <a:srgbClr val="F0A83C"/>
          </a:solidFill>
          <a:ln/>
        </p:spPr>
      </p:sp>
      <p:pic>
        <p:nvPicPr>
          <p:cNvPr id="17" name="Image 2" descr="/home/claude/deck/icons/check.png">    </p:cNvPr>
          <p:cNvPicPr>
            <a:picLocks noChangeAspect="1"/>
          </p:cNvPicPr>
          <p:nvPr/>
        </p:nvPicPr>
        <p:blipFill>
          <a:blip r:embed="rId4"/>
          <a:stretch>
            <a:fillRect/>
          </a:stretch>
        </p:blipFill>
        <p:spPr>
          <a:xfrm>
            <a:off x="7574158" y="4382902"/>
            <a:ext cx="140452" cy="140452"/>
          </a:xfrm>
          <a:prstGeom prst="rect">
            <a:avLst/>
          </a:prstGeom>
        </p:spPr>
      </p:pic>
      <p:sp>
        <p:nvSpPr>
          <p:cNvPr id="18" name="Text 12"/>
          <p:cNvSpPr txBox="1"/>
          <p:nvPr/>
        </p:nvSpPr>
        <p:spPr>
          <a:xfrm>
            <a:off x="7909560" y="4279392"/>
            <a:ext cx="3657600" cy="1005840"/>
          </a:xfrm>
          <a:prstGeom prst="rect">
            <a:avLst/>
          </a:prstGeom>
          <a:noFill/>
          <a:ln/>
        </p:spPr>
        <p:txBody>
          <a:bodyPr wrap="square" lIns="0" tIns="0" rIns="0" bIns="0" rtlCol="0" anchor="ctr"/>
          <a:lstStyle/>
          <a:p>
            <a:pPr indent="0" marL="0">
              <a:lnSpc>
                <a:spcPct val="115000"/>
              </a:lnSpc>
              <a:buNone/>
            </a:pPr>
            <a:r>
              <a:rPr lang="en-US" sz="1130" dirty="0">
                <a:solidFill>
                  <a:srgbClr val="FFFFFF"/>
                </a:solidFill>
                <a:latin typeface="Calibri" pitchFamily="34" charset="0"/>
                <a:ea typeface="Calibri" pitchFamily="34" charset="-122"/>
                <a:cs typeface="Calibri" pitchFamily="34" charset="-120"/>
              </a:rPr>
              <a:t>We compared every result against a random-guess baseline before trusting it — that check is what caught a flawed first metric and made us fix it.</a:t>
            </a:r>
            <a:endParaRPr lang="en-US" sz="1130" dirty="0"/>
          </a:p>
        </p:txBody>
      </p:sp>
      <p:sp>
        <p:nvSpPr>
          <p:cNvPr id="19" name="Text 13"/>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660"/>
                </a:solidFill>
                <a:latin typeface="Calibri" pitchFamily="34" charset="0"/>
                <a:ea typeface="Calibri" pitchFamily="34" charset="-122"/>
                <a:cs typeface="Calibri" pitchFamily="34" charset="-120"/>
              </a:rPr>
              <a:t>PitchVision  ·  PARC 2026 AI League</a:t>
            </a:r>
            <a:endParaRPr lang="en-US" sz="900" dirty="0"/>
          </a:p>
        </p:txBody>
      </p:sp>
      <p:sp>
        <p:nvSpPr>
          <p:cNvPr id="20" name="Text 14"/>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66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50" b="1" spc="200" kern="0" dirty="0">
                <a:solidFill>
                  <a:srgbClr val="14532D"/>
                </a:solidFill>
                <a:latin typeface="Calibri" pitchFamily="34" charset="0"/>
                <a:ea typeface="Calibri" pitchFamily="34" charset="-122"/>
                <a:cs typeface="Calibri" pitchFamily="34" charset="-120"/>
              </a:rPr>
              <a:t>FROM RESEARCH TO PRODUCT</a:t>
            </a:r>
            <a:endParaRPr lang="en-US" sz="1250" dirty="0"/>
          </a:p>
        </p:txBody>
      </p:sp>
      <p:sp>
        <p:nvSpPr>
          <p:cNvPr id="3" name="Text 1"/>
          <p:cNvSpPr txBox="1"/>
          <p:nvPr/>
        </p:nvSpPr>
        <p:spPr>
          <a:xfrm>
            <a:off x="548640" y="658368"/>
            <a:ext cx="9601200" cy="658368"/>
          </a:xfrm>
          <a:prstGeom prst="rect">
            <a:avLst/>
          </a:prstGeom>
          <a:noFill/>
          <a:ln/>
        </p:spPr>
        <p:txBody>
          <a:bodyPr wrap="square" lIns="0" tIns="0" rIns="0" bIns="0" rtlCol="0" anchor="ctr"/>
          <a:lstStyle/>
          <a:p>
            <a:pPr indent="0" marL="0">
              <a:buNone/>
            </a:pPr>
            <a:r>
              <a:rPr lang="en-US" sz="3000" b="1" dirty="0">
                <a:solidFill>
                  <a:srgbClr val="1B2420"/>
                </a:solidFill>
                <a:latin typeface="Cambria" pitchFamily="34" charset="0"/>
                <a:ea typeface="Cambria" pitchFamily="34" charset="-122"/>
                <a:cs typeface="Cambria" pitchFamily="34" charset="-120"/>
              </a:rPr>
              <a:t>One upload. Two audiences who both get something they can’t get today.</a:t>
            </a:r>
            <a:endParaRPr lang="en-US" sz="3000" dirty="0"/>
          </a:p>
        </p:txBody>
      </p:sp>
      <p:sp>
        <p:nvSpPr>
          <p:cNvPr id="4" name="Text 2"/>
          <p:cNvSpPr txBox="1"/>
          <p:nvPr/>
        </p:nvSpPr>
        <p:spPr>
          <a:xfrm>
            <a:off x="548640" y="1353312"/>
            <a:ext cx="10607040" cy="320040"/>
          </a:xfrm>
          <a:prstGeom prst="rect">
            <a:avLst/>
          </a:prstGeom>
          <a:noFill/>
          <a:ln/>
        </p:spPr>
        <p:txBody>
          <a:bodyPr wrap="square" lIns="0" tIns="0" rIns="0" bIns="0" rtlCol="0" anchor="ctr"/>
          <a:lstStyle/>
          <a:p>
            <a:pPr indent="0" marL="0">
              <a:buNone/>
            </a:pPr>
            <a:r>
              <a:rPr lang="en-US" sz="1300" dirty="0">
                <a:solidFill>
                  <a:srgbClr val="5B6660"/>
                </a:solidFill>
                <a:latin typeface="Calibri" pitchFamily="34" charset="0"/>
                <a:ea typeface="Calibri" pitchFamily="34" charset="-122"/>
                <a:cs typeface="Calibri" pitchFamily="34" charset="-120"/>
              </a:rPr>
              <a:t>One event timeline. Two people who each finally get something useful from it.</a:t>
            </a:r>
            <a:endParaRPr lang="en-US" sz="1300" dirty="0"/>
          </a:p>
        </p:txBody>
      </p:sp>
      <p:sp>
        <p:nvSpPr>
          <p:cNvPr id="5" name="Shape 3"/>
          <p:cNvSpPr/>
          <p:nvPr/>
        </p:nvSpPr>
        <p:spPr>
          <a:xfrm>
            <a:off x="548640" y="1810512"/>
            <a:ext cx="3017520" cy="868680"/>
          </a:xfrm>
          <a:prstGeom prst="roundRect">
            <a:avLst>
              <a:gd name="adj" fmla="val 10526"/>
            </a:avLst>
          </a:prstGeom>
          <a:solidFill>
            <a:srgbClr val="13182B"/>
          </a:solidFill>
          <a:ln/>
          <a:effectLst>
            <a:outerShdw sx="100000" sy="100000" kx="0" ky="0" algn="bl" rotWithShape="0" blurRad="127000" dist="38100" dir="5400000">
              <a:srgbClr val="13182B">
                <a:alpha val="10000"/>
              </a:srgbClr>
            </a:outerShdw>
          </a:effectLst>
        </p:spPr>
      </p:sp>
      <p:sp>
        <p:nvSpPr>
          <p:cNvPr id="6" name="Shape 4"/>
          <p:cNvSpPr/>
          <p:nvPr/>
        </p:nvSpPr>
        <p:spPr>
          <a:xfrm>
            <a:off x="777240" y="1993392"/>
            <a:ext cx="502920" cy="502920"/>
          </a:xfrm>
          <a:prstGeom prst="ellipse">
            <a:avLst/>
          </a:prstGeom>
          <a:solidFill>
            <a:srgbClr val="F0A83C"/>
          </a:solidFill>
          <a:ln/>
        </p:spPr>
      </p:sp>
      <p:pic>
        <p:nvPicPr>
          <p:cNvPr id="7" name="Image 0" descr="/home/claude/deck/icons/phone.png">    </p:cNvPr>
          <p:cNvPicPr>
            <a:picLocks noChangeAspect="1"/>
          </p:cNvPicPr>
          <p:nvPr/>
        </p:nvPicPr>
        <p:blipFill>
          <a:blip r:embed="rId1"/>
          <a:stretch>
            <a:fillRect/>
          </a:stretch>
        </p:blipFill>
        <p:spPr>
          <a:xfrm>
            <a:off x="907999" y="2124151"/>
            <a:ext cx="241402" cy="241402"/>
          </a:xfrm>
          <a:prstGeom prst="rect">
            <a:avLst/>
          </a:prstGeom>
        </p:spPr>
      </p:pic>
      <p:sp>
        <p:nvSpPr>
          <p:cNvPr id="8" name="Text 5"/>
          <p:cNvSpPr txBox="1"/>
          <p:nvPr/>
        </p:nvSpPr>
        <p:spPr>
          <a:xfrm>
            <a:off x="1417320" y="1810512"/>
            <a:ext cx="2011680" cy="868680"/>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Any camera or phone</a:t>
            </a:r>
            <a:endParaRPr lang="en-US" sz="1250" dirty="0"/>
          </a:p>
        </p:txBody>
      </p:sp>
      <p:sp>
        <p:nvSpPr>
          <p:cNvPr id="9" name="Text 6"/>
          <p:cNvSpPr txBox="1"/>
          <p:nvPr/>
        </p:nvSpPr>
        <p:spPr>
          <a:xfrm>
            <a:off x="3611880" y="1810512"/>
            <a:ext cx="411480" cy="868680"/>
          </a:xfrm>
          <a:prstGeom prst="rect">
            <a:avLst/>
          </a:prstGeom>
          <a:noFill/>
          <a:ln/>
        </p:spPr>
        <p:txBody>
          <a:bodyPr wrap="square" lIns="0" tIns="0" rIns="0" bIns="0" rtlCol="0" anchor="ctr"/>
          <a:lstStyle/>
          <a:p>
            <a:pPr algn="ctr" indent="0" marL="0">
              <a:buNone/>
            </a:pPr>
            <a:r>
              <a:rPr lang="en-US" sz="2000" b="1" dirty="0">
                <a:solidFill>
                  <a:srgbClr val="5B6660"/>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4069080" y="1810512"/>
            <a:ext cx="3246120" cy="868680"/>
          </a:xfrm>
          <a:prstGeom prst="roundRect">
            <a:avLst>
              <a:gd name="adj" fmla="val 10526"/>
            </a:avLst>
          </a:prstGeom>
          <a:solidFill>
            <a:srgbClr val="14532D"/>
          </a:solidFill>
          <a:ln/>
          <a:effectLst>
            <a:outerShdw sx="100000" sy="100000" kx="0" ky="0" algn="bl" rotWithShape="0" blurRad="127000" dist="38100" dir="5400000">
              <a:srgbClr val="13182B">
                <a:alpha val="10000"/>
              </a:srgbClr>
            </a:outerShdw>
          </a:effectLst>
        </p:spPr>
      </p:sp>
      <p:sp>
        <p:nvSpPr>
          <p:cNvPr id="11" name="Shape 8"/>
          <p:cNvSpPr/>
          <p:nvPr/>
        </p:nvSpPr>
        <p:spPr>
          <a:xfrm>
            <a:off x="4297680" y="1993392"/>
            <a:ext cx="502920" cy="502920"/>
          </a:xfrm>
          <a:prstGeom prst="ellipse">
            <a:avLst/>
          </a:prstGeom>
          <a:solidFill>
            <a:srgbClr val="1E7A45"/>
          </a:solidFill>
          <a:ln/>
        </p:spPr>
      </p:sp>
      <p:pic>
        <p:nvPicPr>
          <p:cNvPr id="12" name="Image 1" descr="/home/claude/deck/icons/chip.png">    </p:cNvPr>
          <p:cNvPicPr>
            <a:picLocks noChangeAspect="1"/>
          </p:cNvPicPr>
          <p:nvPr/>
        </p:nvPicPr>
        <p:blipFill>
          <a:blip r:embed="rId2"/>
          <a:stretch>
            <a:fillRect/>
          </a:stretch>
        </p:blipFill>
        <p:spPr>
          <a:xfrm>
            <a:off x="4428439" y="2124151"/>
            <a:ext cx="241402" cy="241402"/>
          </a:xfrm>
          <a:prstGeom prst="rect">
            <a:avLst/>
          </a:prstGeom>
        </p:spPr>
      </p:pic>
      <p:sp>
        <p:nvSpPr>
          <p:cNvPr id="13" name="Text 9"/>
          <p:cNvSpPr txBox="1"/>
          <p:nvPr/>
        </p:nvSpPr>
        <p:spPr>
          <a:xfrm>
            <a:off x="4937760" y="1810512"/>
            <a:ext cx="2286000" cy="868680"/>
          </a:xfrm>
          <a:prstGeom prst="rect">
            <a:avLst/>
          </a:prstGeom>
          <a:noFill/>
          <a:ln/>
        </p:spPr>
        <p:txBody>
          <a:bodyPr wrap="square" lIns="0" tIns="0" rIns="0" bIns="0" rtlCol="0" anchor="ctr"/>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PitchVision spotting engine</a:t>
            </a:r>
            <a:endParaRPr lang="en-US" sz="1250" dirty="0"/>
          </a:p>
        </p:txBody>
      </p:sp>
      <p:sp>
        <p:nvSpPr>
          <p:cNvPr id="14" name="Text 10"/>
          <p:cNvSpPr txBox="1"/>
          <p:nvPr/>
        </p:nvSpPr>
        <p:spPr>
          <a:xfrm>
            <a:off x="7452360" y="1810512"/>
            <a:ext cx="4023360" cy="868680"/>
          </a:xfrm>
          <a:prstGeom prst="rect">
            <a:avLst/>
          </a:prstGeom>
          <a:noFill/>
          <a:ln/>
        </p:spPr>
        <p:txBody>
          <a:bodyPr wrap="square" lIns="0" tIns="0" rIns="0" bIns="0" rtlCol="0" anchor="ctr"/>
          <a:lstStyle/>
          <a:p>
            <a:pPr indent="0" marL="0">
              <a:buNone/>
            </a:pPr>
            <a:r>
              <a:rPr lang="en-US" sz="1150" i="1" dirty="0">
                <a:solidFill>
                  <a:srgbClr val="5B6660"/>
                </a:solidFill>
                <a:latin typeface="Calibri" pitchFamily="34" charset="0"/>
                <a:ea typeface="Calibri" pitchFamily="34" charset="-122"/>
                <a:cs typeface="Calibri" pitchFamily="34" charset="-120"/>
              </a:rPr>
              <a:t>one upload, automatically scored</a:t>
            </a:r>
            <a:endParaRPr lang="en-US" sz="1150" dirty="0"/>
          </a:p>
        </p:txBody>
      </p:sp>
      <p:sp>
        <p:nvSpPr>
          <p:cNvPr id="15" name="Shape 11"/>
          <p:cNvSpPr/>
          <p:nvPr/>
        </p:nvSpPr>
        <p:spPr>
          <a:xfrm>
            <a:off x="548640" y="2926080"/>
            <a:ext cx="5349240" cy="1417320"/>
          </a:xfrm>
          <a:prstGeom prst="roundRect">
            <a:avLst>
              <a:gd name="adj" fmla="val 6452"/>
            </a:avLst>
          </a:prstGeom>
          <a:solidFill>
            <a:srgbClr val="F3F6F2"/>
          </a:solidFill>
          <a:ln/>
          <a:effectLst>
            <a:outerShdw sx="100000" sy="100000" kx="0" ky="0" algn="bl" rotWithShape="0" blurRad="127000" dist="38100" dir="5400000">
              <a:srgbClr val="13182B">
                <a:alpha val="10000"/>
              </a:srgbClr>
            </a:outerShdw>
          </a:effectLst>
        </p:spPr>
      </p:sp>
      <p:sp>
        <p:nvSpPr>
          <p:cNvPr id="16" name="Shape 12"/>
          <p:cNvSpPr/>
          <p:nvPr/>
        </p:nvSpPr>
        <p:spPr>
          <a:xfrm>
            <a:off x="804672" y="3154680"/>
            <a:ext cx="502920" cy="502920"/>
          </a:xfrm>
          <a:prstGeom prst="ellipse">
            <a:avLst/>
          </a:prstGeom>
          <a:solidFill>
            <a:srgbClr val="14532D"/>
          </a:solidFill>
          <a:ln/>
        </p:spPr>
      </p:sp>
      <p:pic>
        <p:nvPicPr>
          <p:cNvPr id="17" name="Image 2" descr="/home/claude/deck/icons/dashboard.png">    </p:cNvPr>
          <p:cNvPicPr>
            <a:picLocks noChangeAspect="1"/>
          </p:cNvPicPr>
          <p:nvPr/>
        </p:nvPicPr>
        <p:blipFill>
          <a:blip r:embed="rId3"/>
          <a:stretch>
            <a:fillRect/>
          </a:stretch>
        </p:blipFill>
        <p:spPr>
          <a:xfrm>
            <a:off x="935431" y="3285439"/>
            <a:ext cx="241402" cy="241402"/>
          </a:xfrm>
          <a:prstGeom prst="rect">
            <a:avLst/>
          </a:prstGeom>
        </p:spPr>
      </p:pic>
      <p:sp>
        <p:nvSpPr>
          <p:cNvPr id="18" name="Text 13"/>
          <p:cNvSpPr txBox="1"/>
          <p:nvPr/>
        </p:nvSpPr>
        <p:spPr>
          <a:xfrm>
            <a:off x="1463040" y="3163824"/>
            <a:ext cx="4160520" cy="365760"/>
          </a:xfrm>
          <a:prstGeom prst="rect">
            <a:avLst/>
          </a:prstGeom>
          <a:noFill/>
          <a:ln/>
        </p:spPr>
        <p:txBody>
          <a:bodyPr wrap="square" lIns="0" tIns="0" rIns="0" bIns="0" rtlCol="0" anchor="ctr"/>
          <a:lstStyle/>
          <a:p>
            <a:pPr indent="0" marL="0">
              <a:buNone/>
            </a:pPr>
            <a:r>
              <a:rPr lang="en-US" sz="1450" b="1" dirty="0">
                <a:solidFill>
                  <a:srgbClr val="1B2420"/>
                </a:solidFill>
                <a:latin typeface="Cambria" pitchFamily="34" charset="0"/>
                <a:ea typeface="Cambria" pitchFamily="34" charset="-122"/>
                <a:cs typeface="Cambria" pitchFamily="34" charset="-120"/>
              </a:rPr>
              <a:t>For coaches &amp; analysts</a:t>
            </a:r>
            <a:endParaRPr lang="en-US" sz="1450" dirty="0"/>
          </a:p>
        </p:txBody>
      </p:sp>
      <p:sp>
        <p:nvSpPr>
          <p:cNvPr id="19" name="Text 14"/>
          <p:cNvSpPr txBox="1"/>
          <p:nvPr/>
        </p:nvSpPr>
        <p:spPr>
          <a:xfrm>
            <a:off x="804672" y="3730752"/>
            <a:ext cx="4837176" cy="548640"/>
          </a:xfrm>
          <a:prstGeom prst="rect">
            <a:avLst/>
          </a:prstGeom>
          <a:noFill/>
          <a:ln/>
        </p:spPr>
        <p:txBody>
          <a:bodyPr wrap="square" lIns="0" tIns="0" rIns="0" bIns="0" rtlCol="0" anchor="ctr"/>
          <a:lstStyle/>
          <a:p>
            <a:pPr indent="0" marL="0">
              <a:lnSpc>
                <a:spcPct val="115000"/>
              </a:lnSpc>
              <a:buNone/>
            </a:pPr>
            <a:r>
              <a:rPr lang="en-US" sz="1130" dirty="0">
                <a:solidFill>
                  <a:srgbClr val="5B6660"/>
                </a:solidFill>
                <a:latin typeface="Calibri" pitchFamily="34" charset="0"/>
                <a:ea typeface="Calibri" pitchFamily="34" charset="-122"/>
                <a:cs typeface="Calibri" pitchFamily="34" charset="-120"/>
              </a:rPr>
              <a:t>Searchable match timeline, tagged events, and simple stats — no more rewatching 90 minutes.</a:t>
            </a:r>
            <a:endParaRPr lang="en-US" sz="1130" dirty="0"/>
          </a:p>
        </p:txBody>
      </p:sp>
      <p:sp>
        <p:nvSpPr>
          <p:cNvPr id="20" name="Shape 15"/>
          <p:cNvSpPr/>
          <p:nvPr/>
        </p:nvSpPr>
        <p:spPr>
          <a:xfrm>
            <a:off x="6153912" y="2926080"/>
            <a:ext cx="5349240" cy="1417320"/>
          </a:xfrm>
          <a:prstGeom prst="roundRect">
            <a:avLst>
              <a:gd name="adj" fmla="val 6452"/>
            </a:avLst>
          </a:prstGeom>
          <a:solidFill>
            <a:srgbClr val="F3F6F2"/>
          </a:solidFill>
          <a:ln/>
          <a:effectLst>
            <a:outerShdw sx="100000" sy="100000" kx="0" ky="0" algn="bl" rotWithShape="0" blurRad="127000" dist="38100" dir="5400000">
              <a:srgbClr val="13182B">
                <a:alpha val="10000"/>
              </a:srgbClr>
            </a:outerShdw>
          </a:effectLst>
        </p:spPr>
      </p:sp>
      <p:sp>
        <p:nvSpPr>
          <p:cNvPr id="21" name="Shape 16"/>
          <p:cNvSpPr/>
          <p:nvPr/>
        </p:nvSpPr>
        <p:spPr>
          <a:xfrm>
            <a:off x="6409944" y="3154680"/>
            <a:ext cx="502920" cy="502920"/>
          </a:xfrm>
          <a:prstGeom prst="ellipse">
            <a:avLst/>
          </a:prstGeom>
          <a:solidFill>
            <a:srgbClr val="C97F1E"/>
          </a:solidFill>
          <a:ln/>
        </p:spPr>
      </p:sp>
      <p:pic>
        <p:nvPicPr>
          <p:cNvPr id="22" name="Image 3" descr="/home/claude/deck/icons/heart.png">    </p:cNvPr>
          <p:cNvPicPr>
            <a:picLocks noChangeAspect="1"/>
          </p:cNvPicPr>
          <p:nvPr/>
        </p:nvPicPr>
        <p:blipFill>
          <a:blip r:embed="rId4"/>
          <a:stretch>
            <a:fillRect/>
          </a:stretch>
        </p:blipFill>
        <p:spPr>
          <a:xfrm>
            <a:off x="6540703" y="3285439"/>
            <a:ext cx="241402" cy="241402"/>
          </a:xfrm>
          <a:prstGeom prst="rect">
            <a:avLst/>
          </a:prstGeom>
        </p:spPr>
      </p:pic>
      <p:sp>
        <p:nvSpPr>
          <p:cNvPr id="23" name="Text 17"/>
          <p:cNvSpPr txBox="1"/>
          <p:nvPr/>
        </p:nvSpPr>
        <p:spPr>
          <a:xfrm>
            <a:off x="7068312" y="3163824"/>
            <a:ext cx="4160520" cy="365760"/>
          </a:xfrm>
          <a:prstGeom prst="rect">
            <a:avLst/>
          </a:prstGeom>
          <a:noFill/>
          <a:ln/>
        </p:spPr>
        <p:txBody>
          <a:bodyPr wrap="square" lIns="0" tIns="0" rIns="0" bIns="0" rtlCol="0" anchor="ctr"/>
          <a:lstStyle/>
          <a:p>
            <a:pPr indent="0" marL="0">
              <a:buNone/>
            </a:pPr>
            <a:r>
              <a:rPr lang="en-US" sz="1450" b="1" dirty="0">
                <a:solidFill>
                  <a:srgbClr val="1B2420"/>
                </a:solidFill>
                <a:latin typeface="Cambria" pitchFamily="34" charset="0"/>
                <a:ea typeface="Cambria" pitchFamily="34" charset="-122"/>
                <a:cs typeface="Cambria" pitchFamily="34" charset="-120"/>
              </a:rPr>
              <a:t>For players, parents &amp; fans</a:t>
            </a:r>
            <a:endParaRPr lang="en-US" sz="1450" dirty="0"/>
          </a:p>
        </p:txBody>
      </p:sp>
      <p:sp>
        <p:nvSpPr>
          <p:cNvPr id="24" name="Text 18"/>
          <p:cNvSpPr txBox="1"/>
          <p:nvPr/>
        </p:nvSpPr>
        <p:spPr>
          <a:xfrm>
            <a:off x="6409944" y="3730752"/>
            <a:ext cx="4837176" cy="548640"/>
          </a:xfrm>
          <a:prstGeom prst="rect">
            <a:avLst/>
          </a:prstGeom>
          <a:noFill/>
          <a:ln/>
        </p:spPr>
        <p:txBody>
          <a:bodyPr wrap="square" lIns="0" tIns="0" rIns="0" bIns="0" rtlCol="0" anchor="ctr"/>
          <a:lstStyle/>
          <a:p>
            <a:pPr indent="0" marL="0">
              <a:lnSpc>
                <a:spcPct val="115000"/>
              </a:lnSpc>
              <a:buNone/>
            </a:pPr>
            <a:r>
              <a:rPr lang="en-US" sz="1130" dirty="0">
                <a:solidFill>
                  <a:srgbClr val="5B6660"/>
                </a:solidFill>
                <a:latin typeface="Calibri" pitchFamily="34" charset="0"/>
                <a:ea typeface="Calibri" pitchFamily="34" charset="-122"/>
                <a:cs typeface="Calibri" pitchFamily="34" charset="-120"/>
              </a:rPr>
              <a:t>An automatic highlight reel and a shareable match story card — something to actually post and relive.</a:t>
            </a:r>
            <a:endParaRPr lang="en-US" sz="1130" dirty="0"/>
          </a:p>
        </p:txBody>
      </p:sp>
      <p:sp>
        <p:nvSpPr>
          <p:cNvPr id="25" name="Shape 19"/>
          <p:cNvSpPr/>
          <p:nvPr/>
        </p:nvSpPr>
        <p:spPr>
          <a:xfrm>
            <a:off x="548640" y="4553712"/>
            <a:ext cx="11091672" cy="658368"/>
          </a:xfrm>
          <a:prstGeom prst="roundRect">
            <a:avLst>
              <a:gd name="adj" fmla="val 13889"/>
            </a:avLst>
          </a:prstGeom>
          <a:solidFill>
            <a:srgbClr val="14532D"/>
          </a:solidFill>
          <a:ln/>
        </p:spPr>
      </p:sp>
      <p:sp>
        <p:nvSpPr>
          <p:cNvPr id="26" name="Text 20"/>
          <p:cNvSpPr txBox="1"/>
          <p:nvPr/>
        </p:nvSpPr>
        <p:spPr>
          <a:xfrm>
            <a:off x="841248" y="4553712"/>
            <a:ext cx="10515600" cy="658368"/>
          </a:xfrm>
          <a:prstGeom prst="rect">
            <a:avLst/>
          </a:prstGeom>
          <a:noFill/>
          <a:ln/>
        </p:spPr>
        <p:txBody>
          <a:bodyPr wrap="square" lIns="0" tIns="0" rIns="0" bIns="0" rtlCol="0" anchor="ctr"/>
          <a:lstStyle/>
          <a:p>
            <a:pPr indent="0" marL="0">
              <a:lnSpc>
                <a:spcPct val="115000"/>
              </a:lnSpc>
              <a:buNone/>
            </a:pPr>
            <a:r>
              <a:rPr lang="en-US" sz="1180" b="1" dirty="0">
                <a:solidFill>
                  <a:srgbClr val="F0A83C"/>
                </a:solidFill>
                <a:latin typeface="Calibri" pitchFamily="34" charset="0"/>
                <a:ea typeface="Calibri" pitchFamily="34" charset="-122"/>
                <a:cs typeface="Calibri" pitchFamily="34" charset="-120"/>
              </a:rPr>
              <a:t>Why we’re adding fans:  </a:t>
            </a:r>
            <a:pPr indent="0" marL="0">
              <a:lnSpc>
                <a:spcPct val="115000"/>
              </a:lnSpc>
              <a:buNone/>
            </a:pPr>
            <a:r>
              <a:rPr lang="en-US" sz="1180" dirty="0">
                <a:solidFill>
                  <a:srgbClr val="FFFFFF"/>
                </a:solidFill>
                <a:latin typeface="Calibri" pitchFamily="34" charset="0"/>
                <a:ea typeface="Calibri" pitchFamily="34" charset="-122"/>
                <a:cs typeface="Calibri" pitchFamily="34" charset="-120"/>
              </a:rPr>
              <a:t>coaches and scouts already have tools, even expensive ones — fans and parents have nothing. They’re a far bigger audience, and every clip they share is free marketing for the next club.</a:t>
            </a:r>
            <a:endParaRPr lang="en-US" sz="1180" dirty="0"/>
          </a:p>
        </p:txBody>
      </p:sp>
      <p:sp>
        <p:nvSpPr>
          <p:cNvPr id="27" name="Text 21"/>
          <p:cNvSpPr txBox="1"/>
          <p:nvPr/>
        </p:nvSpPr>
        <p:spPr>
          <a:xfrm>
            <a:off x="548640" y="5394960"/>
            <a:ext cx="2743200" cy="292608"/>
          </a:xfrm>
          <a:prstGeom prst="rect">
            <a:avLst/>
          </a:prstGeom>
          <a:noFill/>
          <a:ln/>
        </p:spPr>
        <p:txBody>
          <a:bodyPr wrap="square" lIns="0" tIns="0" rIns="0" bIns="0" rtlCol="0" anchor="ctr"/>
          <a:lstStyle/>
          <a:p>
            <a:pPr indent="0" marL="0">
              <a:buNone/>
            </a:pPr>
            <a:r>
              <a:rPr lang="en-US" sz="1400" b="1" dirty="0">
                <a:solidFill>
                  <a:srgbClr val="1B2420"/>
                </a:solidFill>
                <a:latin typeface="Cambria" pitchFamily="34" charset="0"/>
                <a:ea typeface="Cambria" pitchFamily="34" charset="-122"/>
                <a:cs typeface="Cambria" pitchFamily="34" charset="-120"/>
              </a:rPr>
              <a:t>Next steps</a:t>
            </a:r>
            <a:endParaRPr lang="en-US" sz="1400" dirty="0"/>
          </a:p>
        </p:txBody>
      </p:sp>
      <p:sp>
        <p:nvSpPr>
          <p:cNvPr id="28" name="Shape 22"/>
          <p:cNvSpPr/>
          <p:nvPr/>
        </p:nvSpPr>
        <p:spPr>
          <a:xfrm>
            <a:off x="548640" y="5742432"/>
            <a:ext cx="329184" cy="329184"/>
          </a:xfrm>
          <a:prstGeom prst="ellipse">
            <a:avLst/>
          </a:prstGeom>
          <a:solidFill>
            <a:srgbClr val="14532D"/>
          </a:solidFill>
          <a:ln/>
        </p:spPr>
      </p:sp>
      <p:sp>
        <p:nvSpPr>
          <p:cNvPr id="29" name="Text 23"/>
          <p:cNvSpPr txBox="1"/>
          <p:nvPr/>
        </p:nvSpPr>
        <p:spPr>
          <a:xfrm>
            <a:off x="548640" y="5742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30" name="Text 24"/>
          <p:cNvSpPr txBox="1"/>
          <p:nvPr/>
        </p:nvSpPr>
        <p:spPr>
          <a:xfrm>
            <a:off x="1005840" y="5705856"/>
            <a:ext cx="3154680" cy="640080"/>
          </a:xfrm>
          <a:prstGeom prst="rect">
            <a:avLst/>
          </a:prstGeom>
          <a:noFill/>
          <a:ln/>
        </p:spPr>
        <p:txBody>
          <a:bodyPr wrap="square" lIns="0" tIns="0" rIns="0" bIns="0" rtlCol="0" anchor="t"/>
          <a:lstStyle/>
          <a:p>
            <a:pPr indent="0" marL="0">
              <a:lnSpc>
                <a:spcPct val="110000"/>
              </a:lnSpc>
              <a:buNone/>
            </a:pPr>
            <a:r>
              <a:rPr lang="en-US" sz="1030" dirty="0">
                <a:solidFill>
                  <a:srgbClr val="5B6660"/>
                </a:solidFill>
                <a:latin typeface="Calibri" pitchFamily="34" charset="0"/>
                <a:ea typeface="Calibri" pitchFamily="34" charset="-122"/>
                <a:cs typeface="Calibri" pitchFamily="34" charset="-120"/>
              </a:rPr>
              <a:t>Scale training to all 4 matches + evaluate on 2 fully unseen test matches</a:t>
            </a:r>
            <a:endParaRPr lang="en-US" sz="1030" dirty="0"/>
          </a:p>
        </p:txBody>
      </p:sp>
      <p:sp>
        <p:nvSpPr>
          <p:cNvPr id="31" name="Shape 25"/>
          <p:cNvSpPr/>
          <p:nvPr/>
        </p:nvSpPr>
        <p:spPr>
          <a:xfrm>
            <a:off x="4251960" y="5742432"/>
            <a:ext cx="329184" cy="329184"/>
          </a:xfrm>
          <a:prstGeom prst="ellipse">
            <a:avLst/>
          </a:prstGeom>
          <a:solidFill>
            <a:srgbClr val="14532D"/>
          </a:solidFill>
          <a:ln/>
        </p:spPr>
      </p:sp>
      <p:sp>
        <p:nvSpPr>
          <p:cNvPr id="32" name="Text 26"/>
          <p:cNvSpPr txBox="1"/>
          <p:nvPr/>
        </p:nvSpPr>
        <p:spPr>
          <a:xfrm>
            <a:off x="4251960" y="5742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33" name="Text 27"/>
          <p:cNvSpPr txBox="1"/>
          <p:nvPr/>
        </p:nvSpPr>
        <p:spPr>
          <a:xfrm>
            <a:off x="4709160" y="5705856"/>
            <a:ext cx="3154680" cy="640080"/>
          </a:xfrm>
          <a:prstGeom prst="rect">
            <a:avLst/>
          </a:prstGeom>
          <a:noFill/>
          <a:ln/>
        </p:spPr>
        <p:txBody>
          <a:bodyPr wrap="square" lIns="0" tIns="0" rIns="0" bIns="0" rtlCol="0" anchor="t"/>
          <a:lstStyle/>
          <a:p>
            <a:pPr indent="0" marL="0">
              <a:lnSpc>
                <a:spcPct val="110000"/>
              </a:lnSpc>
              <a:buNone/>
            </a:pPr>
            <a:r>
              <a:rPr lang="en-US" sz="1030" dirty="0">
                <a:solidFill>
                  <a:srgbClr val="5B6660"/>
                </a:solidFill>
                <a:latin typeface="Calibri" pitchFamily="34" charset="0"/>
                <a:ea typeface="Calibri" pitchFamily="34" charset="-122"/>
                <a:cs typeface="Calibri" pitchFamily="34" charset="-120"/>
              </a:rPr>
              <a:t>Ship the coach dashboard and the fan highlight-reel experience</a:t>
            </a:r>
            <a:endParaRPr lang="en-US" sz="1030" dirty="0"/>
          </a:p>
        </p:txBody>
      </p:sp>
      <p:sp>
        <p:nvSpPr>
          <p:cNvPr id="34" name="Shape 28"/>
          <p:cNvSpPr/>
          <p:nvPr/>
        </p:nvSpPr>
        <p:spPr>
          <a:xfrm>
            <a:off x="7955280" y="5742432"/>
            <a:ext cx="329184" cy="329184"/>
          </a:xfrm>
          <a:prstGeom prst="ellipse">
            <a:avLst/>
          </a:prstGeom>
          <a:solidFill>
            <a:srgbClr val="14532D"/>
          </a:solidFill>
          <a:ln/>
        </p:spPr>
      </p:sp>
      <p:sp>
        <p:nvSpPr>
          <p:cNvPr id="35" name="Text 29"/>
          <p:cNvSpPr txBox="1"/>
          <p:nvPr/>
        </p:nvSpPr>
        <p:spPr>
          <a:xfrm>
            <a:off x="7955280" y="574243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36" name="Text 30"/>
          <p:cNvSpPr txBox="1"/>
          <p:nvPr/>
        </p:nvSpPr>
        <p:spPr>
          <a:xfrm>
            <a:off x="8412480" y="5705856"/>
            <a:ext cx="3154680" cy="640080"/>
          </a:xfrm>
          <a:prstGeom prst="rect">
            <a:avLst/>
          </a:prstGeom>
          <a:noFill/>
          <a:ln/>
        </p:spPr>
        <p:txBody>
          <a:bodyPr wrap="square" lIns="0" tIns="0" rIns="0" bIns="0" rtlCol="0" anchor="t"/>
          <a:lstStyle/>
          <a:p>
            <a:pPr indent="0" marL="0">
              <a:lnSpc>
                <a:spcPct val="110000"/>
              </a:lnSpc>
              <a:buNone/>
            </a:pPr>
            <a:r>
              <a:rPr lang="en-US" sz="1030" dirty="0">
                <a:solidFill>
                  <a:srgbClr val="5B6660"/>
                </a:solidFill>
                <a:latin typeface="Calibri" pitchFamily="34" charset="0"/>
                <a:ea typeface="Calibri" pitchFamily="34" charset="-122"/>
                <a:cs typeface="Calibri" pitchFamily="34" charset="-120"/>
              </a:rPr>
              <a:t>Pilot with one real grassroots club on their own single-camera footage</a:t>
            </a:r>
            <a:endParaRPr lang="en-US" sz="1030" dirty="0"/>
          </a:p>
        </p:txBody>
      </p:sp>
      <p:sp>
        <p:nvSpPr>
          <p:cNvPr id="37" name="Text 31"/>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5B6660"/>
                </a:solidFill>
                <a:latin typeface="Calibri" pitchFamily="34" charset="0"/>
                <a:ea typeface="Calibri" pitchFamily="34" charset="-122"/>
                <a:cs typeface="Calibri" pitchFamily="34" charset="-120"/>
              </a:rPr>
              <a:t>PitchVision  ·  PARC 2026 AI League</a:t>
            </a:r>
            <a:endParaRPr lang="en-US" sz="900" dirty="0"/>
          </a:p>
        </p:txBody>
      </p:sp>
      <p:sp>
        <p:nvSpPr>
          <p:cNvPr id="38" name="Text 32"/>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5B666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182B"/>
        </a:solidFill>
      </p:bgPr>
    </p:bg>
    <p:spTree>
      <p:nvGrpSpPr>
        <p:cNvPr id="1" name=""/>
        <p:cNvGrpSpPr/>
        <p:nvPr/>
      </p:nvGrpSpPr>
      <p:grpSpPr>
        <a:xfrm>
          <a:off x="0" y="0"/>
          <a:ext cx="0" cy="0"/>
          <a:chOff x="0" y="0"/>
          <a:chExt cx="0" cy="0"/>
        </a:xfrm>
      </p:grpSpPr>
      <p:sp>
        <p:nvSpPr>
          <p:cNvPr id="2" name="Shape 0"/>
          <p:cNvSpPr/>
          <p:nvPr/>
        </p:nvSpPr>
        <p:spPr>
          <a:xfrm>
            <a:off x="-1463040" y="3017520"/>
            <a:ext cx="4937760" cy="4937760"/>
          </a:xfrm>
          <a:prstGeom prst="ellipse">
            <a:avLst/>
          </a:prstGeom>
          <a:ln w="15875">
            <a:solidFill>
              <a:srgbClr val="FFFFFF">
                <a:alpha val="12000"/>
              </a:srgbClr>
            </a:solidFill>
            <a:prstDash val="solid"/>
          </a:ln>
        </p:spPr>
      </p:sp>
      <p:sp>
        <p:nvSpPr>
          <p:cNvPr id="3" name="Shape 1"/>
          <p:cNvSpPr/>
          <p:nvPr/>
        </p:nvSpPr>
        <p:spPr>
          <a:xfrm>
            <a:off x="548640" y="594360"/>
            <a:ext cx="548640" cy="548640"/>
          </a:xfrm>
          <a:prstGeom prst="ellipse">
            <a:avLst/>
          </a:prstGeom>
          <a:solidFill>
            <a:srgbClr val="1E7A45"/>
          </a:solidFill>
          <a:ln/>
        </p:spPr>
      </p:sp>
      <p:pic>
        <p:nvPicPr>
          <p:cNvPr id="4" name="Image 0" descr="/home/claude/deck/icons/ball.png">    </p:cNvPr>
          <p:cNvPicPr>
            <a:picLocks noChangeAspect="1"/>
          </p:cNvPicPr>
          <p:nvPr/>
        </p:nvPicPr>
        <p:blipFill>
          <a:blip r:embed="rId1"/>
          <a:stretch>
            <a:fillRect/>
          </a:stretch>
        </p:blipFill>
        <p:spPr>
          <a:xfrm>
            <a:off x="691286" y="737006"/>
            <a:ext cx="263347" cy="263347"/>
          </a:xfrm>
          <a:prstGeom prst="rect">
            <a:avLst/>
          </a:prstGeom>
        </p:spPr>
      </p:pic>
      <p:sp>
        <p:nvSpPr>
          <p:cNvPr id="5" name="Text 2"/>
          <p:cNvSpPr txBox="1"/>
          <p:nvPr/>
        </p:nvSpPr>
        <p:spPr>
          <a:xfrm>
            <a:off x="1234440" y="640080"/>
            <a:ext cx="7315200" cy="457200"/>
          </a:xfrm>
          <a:prstGeom prst="rect">
            <a:avLst/>
          </a:prstGeom>
          <a:noFill/>
          <a:ln/>
        </p:spPr>
        <p:txBody>
          <a:bodyPr wrap="square" lIns="0" tIns="0" rIns="0" bIns="0" rtlCol="0" anchor="ctr"/>
          <a:lstStyle/>
          <a:p>
            <a:pPr indent="0" marL="0">
              <a:buNone/>
            </a:pPr>
            <a:r>
              <a:rPr lang="en-US" sz="1300" b="1" spc="200" kern="0" dirty="0">
                <a:solidFill>
                  <a:srgbClr val="F0A83C"/>
                </a:solidFill>
                <a:latin typeface="Calibri" pitchFamily="34" charset="0"/>
                <a:ea typeface="Calibri" pitchFamily="34" charset="-122"/>
                <a:cs typeface="Calibri" pitchFamily="34" charset="-120"/>
              </a:rPr>
              <a:t>PARC 2026 AI LEAGUE  ·  PROPOSAL DEFENSE</a:t>
            </a:r>
            <a:endParaRPr lang="en-US" sz="1300" dirty="0"/>
          </a:p>
        </p:txBody>
      </p:sp>
      <p:sp>
        <p:nvSpPr>
          <p:cNvPr id="6" name="Text 3"/>
          <p:cNvSpPr txBox="1"/>
          <p:nvPr/>
        </p:nvSpPr>
        <p:spPr>
          <a:xfrm>
            <a:off x="548640" y="1965960"/>
            <a:ext cx="822960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7" name="Text 4"/>
          <p:cNvSpPr txBox="1"/>
          <p:nvPr/>
        </p:nvSpPr>
        <p:spPr>
          <a:xfrm>
            <a:off x="566928" y="2971800"/>
            <a:ext cx="8686800" cy="502920"/>
          </a:xfrm>
          <a:prstGeom prst="rect">
            <a:avLst/>
          </a:prstGeom>
          <a:noFill/>
          <a:ln/>
        </p:spPr>
        <p:txBody>
          <a:bodyPr wrap="square" lIns="0" tIns="0" rIns="0" bIns="0" rtlCol="0" anchor="ctr"/>
          <a:lstStyle/>
          <a:p>
            <a:pPr indent="0" marL="0">
              <a:buNone/>
            </a:pPr>
            <a:r>
              <a:rPr lang="en-US" sz="1600" dirty="0">
                <a:solidFill>
                  <a:srgbClr val="D8E6DC"/>
                </a:solidFill>
                <a:latin typeface="Calibri" pitchFamily="34" charset="0"/>
                <a:ea typeface="Calibri" pitchFamily="34" charset="-122"/>
                <a:cs typeface="Calibri" pitchFamily="34" charset="-120"/>
              </a:rPr>
              <a:t>We’d love your questions — on the model, the evaluation, or where PitchVision goes from here.</a:t>
            </a:r>
            <a:endParaRPr lang="en-US" sz="1600" dirty="0"/>
          </a:p>
        </p:txBody>
      </p:sp>
      <p:sp>
        <p:nvSpPr>
          <p:cNvPr id="8" name="Shape 5"/>
          <p:cNvSpPr/>
          <p:nvPr/>
        </p:nvSpPr>
        <p:spPr>
          <a:xfrm>
            <a:off x="566928" y="4434840"/>
            <a:ext cx="2377440" cy="0"/>
          </a:xfrm>
          <a:prstGeom prst="line">
            <a:avLst/>
          </a:prstGeom>
          <a:noFill/>
          <a:ln w="25400">
            <a:solidFill>
              <a:srgbClr val="F0A83C"/>
            </a:solidFill>
            <a:prstDash val="solid"/>
          </a:ln>
        </p:spPr>
      </p:sp>
      <p:sp>
        <p:nvSpPr>
          <p:cNvPr id="9" name="Text 6"/>
          <p:cNvSpPr txBox="1"/>
          <p:nvPr/>
        </p:nvSpPr>
        <p:spPr>
          <a:xfrm>
            <a:off x="566928" y="4572000"/>
            <a:ext cx="260604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Brian Ouma</a:t>
            </a:r>
            <a:endParaRPr lang="en-US" sz="1350" dirty="0"/>
          </a:p>
        </p:txBody>
      </p:sp>
      <p:sp>
        <p:nvSpPr>
          <p:cNvPr id="10" name="Text 7"/>
          <p:cNvSpPr txBox="1"/>
          <p:nvPr/>
        </p:nvSpPr>
        <p:spPr>
          <a:xfrm>
            <a:off x="566928" y="4882896"/>
            <a:ext cx="2606040" cy="457200"/>
          </a:xfrm>
          <a:prstGeom prst="rect">
            <a:avLst/>
          </a:prstGeom>
          <a:noFill/>
          <a:ln/>
        </p:spPr>
        <p:txBody>
          <a:bodyPr wrap="square" lIns="0" tIns="0" rIns="0" bIns="0" rtlCol="0" anchor="ctr"/>
          <a:lstStyle/>
          <a:p>
            <a:pPr indent="0" marL="0">
              <a:buNone/>
            </a:pPr>
            <a:r>
              <a:rPr lang="en-US" sz="1050" dirty="0">
                <a:solidFill>
                  <a:srgbClr val="9AAA9E"/>
                </a:solidFill>
                <a:latin typeface="Calibri" pitchFamily="34" charset="0"/>
                <a:ea typeface="Calibri" pitchFamily="34" charset="-122"/>
                <a:cs typeface="Calibri" pitchFamily="34" charset="-120"/>
              </a:rPr>
              <a:t>Team Lead · AI Lead</a:t>
            </a:r>
            <a:endParaRPr lang="en-US" sz="1050" dirty="0"/>
          </a:p>
        </p:txBody>
      </p:sp>
      <p:sp>
        <p:nvSpPr>
          <p:cNvPr id="11" name="Shape 8"/>
          <p:cNvSpPr/>
          <p:nvPr/>
        </p:nvSpPr>
        <p:spPr>
          <a:xfrm>
            <a:off x="3310128" y="4434840"/>
            <a:ext cx="2377440" cy="0"/>
          </a:xfrm>
          <a:prstGeom prst="line">
            <a:avLst/>
          </a:prstGeom>
          <a:noFill/>
          <a:ln w="25400">
            <a:solidFill>
              <a:srgbClr val="F0A83C"/>
            </a:solidFill>
            <a:prstDash val="solid"/>
          </a:ln>
        </p:spPr>
      </p:sp>
      <p:sp>
        <p:nvSpPr>
          <p:cNvPr id="12" name="Text 9"/>
          <p:cNvSpPr txBox="1"/>
          <p:nvPr/>
        </p:nvSpPr>
        <p:spPr>
          <a:xfrm>
            <a:off x="3310128" y="4572000"/>
            <a:ext cx="260604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Phanice Amani</a:t>
            </a:r>
            <a:endParaRPr lang="en-US" sz="1350" dirty="0"/>
          </a:p>
        </p:txBody>
      </p:sp>
      <p:sp>
        <p:nvSpPr>
          <p:cNvPr id="13" name="Text 10"/>
          <p:cNvSpPr txBox="1"/>
          <p:nvPr/>
        </p:nvSpPr>
        <p:spPr>
          <a:xfrm>
            <a:off x="3310128" y="4882896"/>
            <a:ext cx="2606040" cy="457200"/>
          </a:xfrm>
          <a:prstGeom prst="rect">
            <a:avLst/>
          </a:prstGeom>
          <a:noFill/>
          <a:ln/>
        </p:spPr>
        <p:txBody>
          <a:bodyPr wrap="square" lIns="0" tIns="0" rIns="0" bIns="0" rtlCol="0" anchor="ctr"/>
          <a:lstStyle/>
          <a:p>
            <a:pPr indent="0" marL="0">
              <a:buNone/>
            </a:pPr>
            <a:r>
              <a:rPr lang="en-US" sz="1050" dirty="0">
                <a:solidFill>
                  <a:srgbClr val="9AAA9E"/>
                </a:solidFill>
                <a:latin typeface="Calibri" pitchFamily="34" charset="0"/>
                <a:ea typeface="Calibri" pitchFamily="34" charset="-122"/>
                <a:cs typeface="Calibri" pitchFamily="34" charset="-120"/>
              </a:rPr>
              <a:t>Data &amp; Evaluation Lead</a:t>
            </a:r>
            <a:endParaRPr lang="en-US" sz="1050" dirty="0"/>
          </a:p>
        </p:txBody>
      </p:sp>
      <p:sp>
        <p:nvSpPr>
          <p:cNvPr id="14" name="Shape 11"/>
          <p:cNvSpPr/>
          <p:nvPr/>
        </p:nvSpPr>
        <p:spPr>
          <a:xfrm>
            <a:off x="6053328" y="4434840"/>
            <a:ext cx="2377440" cy="0"/>
          </a:xfrm>
          <a:prstGeom prst="line">
            <a:avLst/>
          </a:prstGeom>
          <a:noFill/>
          <a:ln w="25400">
            <a:solidFill>
              <a:srgbClr val="F0A83C"/>
            </a:solidFill>
            <a:prstDash val="solid"/>
          </a:ln>
        </p:spPr>
      </p:sp>
      <p:sp>
        <p:nvSpPr>
          <p:cNvPr id="15" name="Text 12"/>
          <p:cNvSpPr txBox="1"/>
          <p:nvPr/>
        </p:nvSpPr>
        <p:spPr>
          <a:xfrm>
            <a:off x="6053328" y="4572000"/>
            <a:ext cx="260604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Clifford Onyango</a:t>
            </a:r>
            <a:endParaRPr lang="en-US" sz="1350" dirty="0"/>
          </a:p>
        </p:txBody>
      </p:sp>
      <p:sp>
        <p:nvSpPr>
          <p:cNvPr id="16" name="Text 13"/>
          <p:cNvSpPr txBox="1"/>
          <p:nvPr/>
        </p:nvSpPr>
        <p:spPr>
          <a:xfrm>
            <a:off x="6053328" y="4882896"/>
            <a:ext cx="2606040" cy="457200"/>
          </a:xfrm>
          <a:prstGeom prst="rect">
            <a:avLst/>
          </a:prstGeom>
          <a:noFill/>
          <a:ln/>
        </p:spPr>
        <p:txBody>
          <a:bodyPr wrap="square" lIns="0" tIns="0" rIns="0" bIns="0" rtlCol="0" anchor="ctr"/>
          <a:lstStyle/>
          <a:p>
            <a:pPr indent="0" marL="0">
              <a:buNone/>
            </a:pPr>
            <a:r>
              <a:rPr lang="en-US" sz="1050" dirty="0">
                <a:solidFill>
                  <a:srgbClr val="9AAA9E"/>
                </a:solidFill>
                <a:latin typeface="Calibri" pitchFamily="34" charset="0"/>
                <a:ea typeface="Calibri" pitchFamily="34" charset="-122"/>
                <a:cs typeface="Calibri" pitchFamily="34" charset="-120"/>
              </a:rPr>
              <a:t>Product &amp; Frontend Lead</a:t>
            </a:r>
            <a:endParaRPr lang="en-US" sz="1050" dirty="0"/>
          </a:p>
        </p:txBody>
      </p:sp>
      <p:sp>
        <p:nvSpPr>
          <p:cNvPr id="17" name="Shape 14"/>
          <p:cNvSpPr/>
          <p:nvPr/>
        </p:nvSpPr>
        <p:spPr>
          <a:xfrm>
            <a:off x="8796528" y="4434840"/>
            <a:ext cx="2377440" cy="0"/>
          </a:xfrm>
          <a:prstGeom prst="line">
            <a:avLst/>
          </a:prstGeom>
          <a:noFill/>
          <a:ln w="25400">
            <a:solidFill>
              <a:srgbClr val="F0A83C"/>
            </a:solidFill>
            <a:prstDash val="solid"/>
          </a:ln>
        </p:spPr>
      </p:sp>
      <p:sp>
        <p:nvSpPr>
          <p:cNvPr id="18" name="Text 15"/>
          <p:cNvSpPr txBox="1"/>
          <p:nvPr/>
        </p:nvSpPr>
        <p:spPr>
          <a:xfrm>
            <a:off x="8796528" y="4572000"/>
            <a:ext cx="260604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Kevin Chege</a:t>
            </a:r>
            <a:endParaRPr lang="en-US" sz="1350" dirty="0"/>
          </a:p>
        </p:txBody>
      </p:sp>
      <p:sp>
        <p:nvSpPr>
          <p:cNvPr id="19" name="Text 16"/>
          <p:cNvSpPr txBox="1"/>
          <p:nvPr/>
        </p:nvSpPr>
        <p:spPr>
          <a:xfrm>
            <a:off x="8796528" y="4882896"/>
            <a:ext cx="2606040" cy="457200"/>
          </a:xfrm>
          <a:prstGeom prst="rect">
            <a:avLst/>
          </a:prstGeom>
          <a:noFill/>
          <a:ln/>
        </p:spPr>
        <p:txBody>
          <a:bodyPr wrap="square" lIns="0" tIns="0" rIns="0" bIns="0" rtlCol="0" anchor="ctr"/>
          <a:lstStyle/>
          <a:p>
            <a:pPr indent="0" marL="0">
              <a:buNone/>
            </a:pPr>
            <a:r>
              <a:rPr lang="en-US" sz="1050" dirty="0">
                <a:solidFill>
                  <a:srgbClr val="9AAA9E"/>
                </a:solidFill>
                <a:latin typeface="Calibri" pitchFamily="34" charset="0"/>
                <a:ea typeface="Calibri" pitchFamily="34" charset="-122"/>
                <a:cs typeface="Calibri" pitchFamily="34" charset="-120"/>
              </a:rPr>
              <a:t>Backend &amp; Infrastructure Lead</a:t>
            </a:r>
            <a:endParaRPr lang="en-US" sz="1050" dirty="0"/>
          </a:p>
        </p:txBody>
      </p:sp>
      <p:sp>
        <p:nvSpPr>
          <p:cNvPr id="20" name="Text 17"/>
          <p:cNvSpPr txBox="1"/>
          <p:nvPr/>
        </p:nvSpPr>
        <p:spPr>
          <a:xfrm>
            <a:off x="457200" y="6473952"/>
            <a:ext cx="5486400" cy="274320"/>
          </a:xfrm>
          <a:prstGeom prst="rect">
            <a:avLst/>
          </a:prstGeom>
          <a:noFill/>
          <a:ln/>
        </p:spPr>
        <p:txBody>
          <a:bodyPr wrap="square" lIns="0" tIns="0" rIns="0" bIns="0" rtlCol="0" anchor="ctr"/>
          <a:lstStyle/>
          <a:p>
            <a:pPr indent="0" marL="0">
              <a:buNone/>
            </a:pPr>
            <a:r>
              <a:rPr lang="en-US" sz="900" dirty="0">
                <a:solidFill>
                  <a:srgbClr val="FFFFFF">
                    <a:alpha val="65000"/>
                  </a:srgbClr>
                </a:solidFill>
                <a:latin typeface="Calibri" pitchFamily="34" charset="0"/>
                <a:ea typeface="Calibri" pitchFamily="34" charset="-122"/>
                <a:cs typeface="Calibri" pitchFamily="34" charset="-120"/>
              </a:rPr>
              <a:t>PitchVision  ·  PARC 2026 AI League</a:t>
            </a:r>
            <a:endParaRPr lang="en-US" sz="900" dirty="0"/>
          </a:p>
        </p:txBody>
      </p:sp>
      <p:sp>
        <p:nvSpPr>
          <p:cNvPr id="21" name="Text 18"/>
          <p:cNvSpPr txBox="1"/>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FFFFFF">
                    <a:alpha val="65000"/>
                  </a:srgbClr>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2026-09-24T01:21:01Z</dcterms:created>
  <dcterms:modified xsi:type="dcterms:W3CDTF">2026-09-24T01:21:01Z</dcterms:modified>
</cp:coreProperties>
</file>